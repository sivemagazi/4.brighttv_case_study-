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drawings/drawing1.xml" ContentType="application/vnd.openxmlformats-officedocument.drawingml.chartshapes+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drawings/drawing2.xml" ContentType="application/vnd.openxmlformats-officedocument.drawingml.chartshapes+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87" r:id="rId3"/>
    <p:sldId id="265" r:id="rId4"/>
    <p:sldId id="262" r:id="rId5"/>
    <p:sldId id="283" r:id="rId6"/>
    <p:sldId id="257" r:id="rId7"/>
    <p:sldId id="290" r:id="rId8"/>
    <p:sldId id="294" r:id="rId9"/>
    <p:sldId id="291" r:id="rId10"/>
    <p:sldId id="292" r:id="rId11"/>
    <p:sldId id="260" r:id="rId12"/>
    <p:sldId id="293" r:id="rId13"/>
    <p:sldId id="288"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7536" userDrawn="1">
          <p15:clr>
            <a:srgbClr val="A4A3A4"/>
          </p15:clr>
        </p15:guide>
        <p15:guide id="4" pos="144" userDrawn="1">
          <p15:clr>
            <a:srgbClr val="A4A3A4"/>
          </p15:clr>
        </p15:guide>
        <p15:guide id="5" orient="horz" pos="192" userDrawn="1">
          <p15:clr>
            <a:srgbClr val="A4A3A4"/>
          </p15:clr>
        </p15:guide>
        <p15:guide id="6" orient="horz" pos="41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showGuides="1">
      <p:cViewPr varScale="1">
        <p:scale>
          <a:sx n="74" d="100"/>
          <a:sy n="74" d="100"/>
        </p:scale>
        <p:origin x="376" y="56"/>
      </p:cViewPr>
      <p:guideLst>
        <p:guide orient="horz" pos="2160"/>
        <p:guide pos="3840"/>
        <p:guide pos="7536"/>
        <p:guide pos="144"/>
        <p:guide orient="horz" pos="192"/>
        <p:guide orient="horz" pos="412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semahle\Desktop\Bright%20Learn%20Institution\Bright_TV_Case%20study\BIG_BIG_CODE%20(1).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semahle\Desktop\Bright%20Learn%20Institution\Bright_TV_Case%20study\BIG_BIG_CODE%20(1).xlsx" TargetMode="External"/><Relationship Id="rId2" Type="http://schemas.microsoft.com/office/2011/relationships/chartColorStyle" Target="colors6.xml"/><Relationship Id="rId1" Type="http://schemas.microsoft.com/office/2011/relationships/chartStyle" Target="style6.xml"/><Relationship Id="rId4" Type="http://schemas.openxmlformats.org/officeDocument/2006/relationships/chartUserShapes" Target="../drawings/drawing1.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semahle\Desktop\Bright%20Learn%20Institution\Bright_TV_Case%20study\BIG_BIG_CODE%20(1).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semahle\Desktop\Bright%20Learn%20Institution\Bright_TV_Case%20study\BIG_BIG_CODE%20(1)(AutoRecovered).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semahle\Desktop\Bright%20Learn%20Institution\Bright_TV_Case%20study\BIG_BIG_CODE%20(1)(AutoRecovered).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Asemahle\Desktop\Bright%20Learn%20Institution\Bright_TV_Case%20study\BIG_BIG_CODE%20(1)(AutoRecovered).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Asemahle\Desktop\Bright%20Learn%20Institution\Bright_TV_Case%20study\BIG_BIG_CODE%20(1)(AutoRecovered).xlsx" TargetMode="External"/><Relationship Id="rId2" Type="http://schemas.microsoft.com/office/2011/relationships/chartColorStyle" Target="colors13.xml"/><Relationship Id="rId1" Type="http://schemas.microsoft.com/office/2011/relationships/chartStyle" Target="style13.xml"/><Relationship Id="rId4" Type="http://schemas.openxmlformats.org/officeDocument/2006/relationships/chartUserShapes" Target="../drawings/drawing2.xml"/></Relationships>
</file>

<file path=ppt/charts/_rels/chart14.xml.rels><?xml version="1.0" encoding="UTF-8" standalone="yes"?>
<Relationships xmlns="http://schemas.openxmlformats.org/package/2006/relationships"><Relationship Id="rId3" Type="http://schemas.openxmlformats.org/officeDocument/2006/relationships/oleObject" Target="file:///C:\Users\Asemahle\Desktop\Bright%20Learn%20Institution\Bright_TV_Case%20study\BIG_BIG_CODE%20(1)(AutoRecovered).xlsx" TargetMode="External"/><Relationship Id="rId2" Type="http://schemas.microsoft.com/office/2011/relationships/chartColorStyle" Target="colors14.xml"/><Relationship Id="rId1" Type="http://schemas.microsoft.com/office/2011/relationships/chartStyle" Target="style14.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382319830104063"/>
          <c:y val="3.3501966020309422E-2"/>
          <c:w val="0.5029601350550158"/>
          <c:h val="0.91156772633471328"/>
        </c:manualLayout>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455-456B-8546-C00144A1B9AA}"/>
              </c:ext>
            </c:extLst>
          </c:dPt>
          <c:dPt>
            <c:idx val="1"/>
            <c:bubble3D val="0"/>
            <c:spPr>
              <a:solidFill>
                <a:schemeClr val="accent2"/>
              </a:solidFill>
              <a:ln w="19050">
                <a:noFill/>
              </a:ln>
              <a:effectLst/>
            </c:spPr>
            <c:extLst>
              <c:ext xmlns:c16="http://schemas.microsoft.com/office/drawing/2014/chart" uri="{C3380CC4-5D6E-409C-BE32-E72D297353CC}">
                <c16:uniqueId val="{00000003-7455-456B-8546-C00144A1B9AA}"/>
              </c:ext>
            </c:extLst>
          </c:dPt>
          <c:dPt>
            <c:idx val="2"/>
            <c:bubble3D val="0"/>
            <c:spPr>
              <a:solidFill>
                <a:schemeClr val="accent3"/>
              </a:solidFill>
              <a:ln w="19050">
                <a:noFill/>
              </a:ln>
              <a:effectLst/>
            </c:spPr>
            <c:extLst>
              <c:ext xmlns:c16="http://schemas.microsoft.com/office/drawing/2014/chart" uri="{C3380CC4-5D6E-409C-BE32-E72D297353CC}">
                <c16:uniqueId val="{00000005-7455-456B-8546-C00144A1B9AA}"/>
              </c:ext>
            </c:extLst>
          </c:dPt>
          <c:cat>
            <c:strRef>
              <c:f>Sheet1!$A$2:$A$4</c:f>
              <c:strCache>
                <c:ptCount val="3"/>
                <c:pt idx="0">
                  <c:v>1st Qtr</c:v>
                </c:pt>
                <c:pt idx="1">
                  <c:v>2nd Qtr</c:v>
                </c:pt>
                <c:pt idx="2">
                  <c:v>3rd Qtr</c:v>
                </c:pt>
              </c:strCache>
            </c:strRef>
          </c:cat>
          <c:val>
            <c:numRef>
              <c:f>Sheet1!$B$2:$B$4</c:f>
              <c:numCache>
                <c:formatCode>General</c:formatCode>
                <c:ptCount val="3"/>
                <c:pt idx="0">
                  <c:v>65</c:v>
                </c:pt>
                <c:pt idx="1">
                  <c:v>23</c:v>
                </c:pt>
                <c:pt idx="2">
                  <c:v>12</c:v>
                </c:pt>
              </c:numCache>
            </c:numRef>
          </c:val>
          <c:extLst>
            <c:ext xmlns:c16="http://schemas.microsoft.com/office/drawing/2014/chart" uri="{C3380CC4-5D6E-409C-BE32-E72D297353CC}">
              <c16:uniqueId val="{00000006-7455-456B-8546-C00144A1B9AA}"/>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chart>
  <c:spPr>
    <a:noFill/>
    <a:ln>
      <a:noFill/>
    </a:ln>
    <a:effectLst/>
  </c:spPr>
  <c:txPr>
    <a:bodyPr/>
    <a:lstStyle/>
    <a:p>
      <a:pPr>
        <a:defRPr/>
      </a:pPr>
      <a:endParaRPr lang="id-ID"/>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5719463614901104"/>
          <c:y val="2.8137541620773039E-2"/>
          <c:w val="0.5029601350550158"/>
          <c:h val="0.91156772633471328"/>
        </c:manualLayout>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504-4015-8A5B-A1C97CBFC517}"/>
              </c:ext>
            </c:extLst>
          </c:dPt>
          <c:dPt>
            <c:idx val="1"/>
            <c:bubble3D val="0"/>
            <c:spPr>
              <a:solidFill>
                <a:schemeClr val="accent2"/>
              </a:solidFill>
              <a:ln w="19050">
                <a:noFill/>
              </a:ln>
              <a:effectLst/>
            </c:spPr>
            <c:extLst>
              <c:ext xmlns:c16="http://schemas.microsoft.com/office/drawing/2014/chart" uri="{C3380CC4-5D6E-409C-BE32-E72D297353CC}">
                <c16:uniqueId val="{00000003-7504-4015-8A5B-A1C97CBFC517}"/>
              </c:ext>
            </c:extLst>
          </c:dPt>
          <c:dPt>
            <c:idx val="2"/>
            <c:bubble3D val="0"/>
            <c:spPr>
              <a:solidFill>
                <a:schemeClr val="accent3"/>
              </a:solidFill>
              <a:ln w="19050">
                <a:noFill/>
              </a:ln>
              <a:effectLst/>
            </c:spPr>
            <c:extLst>
              <c:ext xmlns:c16="http://schemas.microsoft.com/office/drawing/2014/chart" uri="{C3380CC4-5D6E-409C-BE32-E72D297353CC}">
                <c16:uniqueId val="{00000005-7504-4015-8A5B-A1C97CBFC517}"/>
              </c:ext>
            </c:extLst>
          </c:dPt>
          <c:cat>
            <c:strRef>
              <c:f>Sheet1!$A$2:$A$4</c:f>
              <c:strCache>
                <c:ptCount val="3"/>
                <c:pt idx="0">
                  <c:v>1st Qtr</c:v>
                </c:pt>
                <c:pt idx="1">
                  <c:v>2nd Qtr</c:v>
                </c:pt>
                <c:pt idx="2">
                  <c:v>3rd Qtr</c:v>
                </c:pt>
              </c:strCache>
            </c:strRef>
          </c:cat>
          <c:val>
            <c:numRef>
              <c:f>Sheet1!$B$2:$B$4</c:f>
              <c:numCache>
                <c:formatCode>General</c:formatCode>
                <c:ptCount val="3"/>
                <c:pt idx="0">
                  <c:v>65</c:v>
                </c:pt>
                <c:pt idx="1">
                  <c:v>23</c:v>
                </c:pt>
                <c:pt idx="2">
                  <c:v>12</c:v>
                </c:pt>
              </c:numCache>
            </c:numRef>
          </c:val>
          <c:extLst>
            <c:ext xmlns:c16="http://schemas.microsoft.com/office/drawing/2014/chart" uri="{C3380CC4-5D6E-409C-BE32-E72D297353CC}">
              <c16:uniqueId val="{00000006-7504-4015-8A5B-A1C97CBFC517}"/>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chart>
  <c:spPr>
    <a:noFill/>
    <a:ln>
      <a:noFill/>
    </a:ln>
    <a:effectLst/>
  </c:spPr>
  <c:txPr>
    <a:bodyPr/>
    <a:lstStyle/>
    <a:p>
      <a:pPr>
        <a:defRPr/>
      </a:pPr>
      <a:endParaRPr lang="id-ID"/>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6459084963122029"/>
          <c:y val="4.9595074579520011E-2"/>
          <c:w val="0.5029601350550158"/>
          <c:h val="0.91156772633471328"/>
        </c:manualLayout>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E257-4B04-BA7A-DE55A2CA3F3C}"/>
              </c:ext>
            </c:extLst>
          </c:dPt>
          <c:dPt>
            <c:idx val="1"/>
            <c:bubble3D val="0"/>
            <c:spPr>
              <a:solidFill>
                <a:schemeClr val="accent2"/>
              </a:solidFill>
              <a:ln w="19050">
                <a:noFill/>
              </a:ln>
              <a:effectLst/>
            </c:spPr>
            <c:extLst>
              <c:ext xmlns:c16="http://schemas.microsoft.com/office/drawing/2014/chart" uri="{C3380CC4-5D6E-409C-BE32-E72D297353CC}">
                <c16:uniqueId val="{00000003-E257-4B04-BA7A-DE55A2CA3F3C}"/>
              </c:ext>
            </c:extLst>
          </c:dPt>
          <c:dPt>
            <c:idx val="2"/>
            <c:bubble3D val="0"/>
            <c:spPr>
              <a:solidFill>
                <a:schemeClr val="accent3"/>
              </a:solidFill>
              <a:ln w="19050">
                <a:noFill/>
              </a:ln>
              <a:effectLst/>
            </c:spPr>
            <c:extLst>
              <c:ext xmlns:c16="http://schemas.microsoft.com/office/drawing/2014/chart" uri="{C3380CC4-5D6E-409C-BE32-E72D297353CC}">
                <c16:uniqueId val="{00000005-E257-4B04-BA7A-DE55A2CA3F3C}"/>
              </c:ext>
            </c:extLst>
          </c:dPt>
          <c:cat>
            <c:strRef>
              <c:f>Sheet1!$A$2:$A$4</c:f>
              <c:strCache>
                <c:ptCount val="3"/>
                <c:pt idx="0">
                  <c:v>1st Qtr</c:v>
                </c:pt>
                <c:pt idx="1">
                  <c:v>2nd Qtr</c:v>
                </c:pt>
                <c:pt idx="2">
                  <c:v>3rd Qtr</c:v>
                </c:pt>
              </c:strCache>
            </c:strRef>
          </c:cat>
          <c:val>
            <c:numRef>
              <c:f>Sheet1!$B$2:$B$4</c:f>
              <c:numCache>
                <c:formatCode>General</c:formatCode>
                <c:ptCount val="3"/>
                <c:pt idx="0">
                  <c:v>65</c:v>
                </c:pt>
                <c:pt idx="1">
                  <c:v>23</c:v>
                </c:pt>
                <c:pt idx="2">
                  <c:v>12</c:v>
                </c:pt>
              </c:numCache>
            </c:numRef>
          </c:val>
          <c:extLst>
            <c:ext xmlns:c16="http://schemas.microsoft.com/office/drawing/2014/chart" uri="{C3380CC4-5D6E-409C-BE32-E72D297353CC}">
              <c16:uniqueId val="{00000006-E257-4B04-BA7A-DE55A2CA3F3C}"/>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chart>
  <c:spPr>
    <a:noFill/>
    <a:ln>
      <a:noFill/>
    </a:ln>
    <a:effectLst/>
  </c:spPr>
  <c:txPr>
    <a:bodyPr/>
    <a:lstStyle/>
    <a:p>
      <a:pPr>
        <a:defRPr/>
      </a:pPr>
      <a:endParaRPr lang="id-ID"/>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35719463614901104"/>
          <c:y val="2.8137541620773039E-2"/>
          <c:w val="0.5029601350550158"/>
          <c:h val="0.91156772633471328"/>
        </c:manualLayout>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3BAA-477C-917A-9073979BDDE5}"/>
              </c:ext>
            </c:extLst>
          </c:dPt>
          <c:dPt>
            <c:idx val="1"/>
            <c:bubble3D val="0"/>
            <c:spPr>
              <a:solidFill>
                <a:schemeClr val="accent2"/>
              </a:solidFill>
              <a:ln w="19050">
                <a:noFill/>
              </a:ln>
              <a:effectLst/>
            </c:spPr>
            <c:extLst>
              <c:ext xmlns:c16="http://schemas.microsoft.com/office/drawing/2014/chart" uri="{C3380CC4-5D6E-409C-BE32-E72D297353CC}">
                <c16:uniqueId val="{00000003-3BAA-477C-917A-9073979BDDE5}"/>
              </c:ext>
            </c:extLst>
          </c:dPt>
          <c:dPt>
            <c:idx val="2"/>
            <c:bubble3D val="0"/>
            <c:spPr>
              <a:solidFill>
                <a:schemeClr val="accent3"/>
              </a:solidFill>
              <a:ln w="19050">
                <a:noFill/>
              </a:ln>
              <a:effectLst/>
            </c:spPr>
            <c:extLst>
              <c:ext xmlns:c16="http://schemas.microsoft.com/office/drawing/2014/chart" uri="{C3380CC4-5D6E-409C-BE32-E72D297353CC}">
                <c16:uniqueId val="{00000005-3BAA-477C-917A-9073979BDDE5}"/>
              </c:ext>
            </c:extLst>
          </c:dPt>
          <c:cat>
            <c:strRef>
              <c:f>Sheet1!$A$2:$A$4</c:f>
              <c:strCache>
                <c:ptCount val="3"/>
                <c:pt idx="0">
                  <c:v>1st Qtr</c:v>
                </c:pt>
                <c:pt idx="1">
                  <c:v>2nd Qtr</c:v>
                </c:pt>
                <c:pt idx="2">
                  <c:v>3rd Qtr</c:v>
                </c:pt>
              </c:strCache>
            </c:strRef>
          </c:cat>
          <c:val>
            <c:numRef>
              <c:f>Sheet1!$B$2:$B$4</c:f>
              <c:numCache>
                <c:formatCode>General</c:formatCode>
                <c:ptCount val="3"/>
                <c:pt idx="0">
                  <c:v>65</c:v>
                </c:pt>
                <c:pt idx="1">
                  <c:v>23</c:v>
                </c:pt>
                <c:pt idx="2">
                  <c:v>12</c:v>
                </c:pt>
              </c:numCache>
            </c:numRef>
          </c:val>
          <c:extLst>
            <c:ext xmlns:c16="http://schemas.microsoft.com/office/drawing/2014/chart" uri="{C3380CC4-5D6E-409C-BE32-E72D297353CC}">
              <c16:uniqueId val="{00000006-3BAA-477C-917A-9073979BDDE5}"/>
            </c:ext>
          </c:extLst>
        </c:ser>
        <c:dLbls>
          <c:showLegendKey val="0"/>
          <c:showVal val="0"/>
          <c:showCatName val="0"/>
          <c:showSerName val="0"/>
          <c:showPercent val="0"/>
          <c:showBubbleSize val="0"/>
          <c:showLeaderLines val="1"/>
        </c:dLbls>
        <c:firstSliceAng val="0"/>
        <c:holeSize val="60"/>
      </c:doughnutChart>
      <c:spPr>
        <a:noFill/>
        <a:ln>
          <a:noFill/>
        </a:ln>
        <a:effectLst/>
      </c:spPr>
    </c:plotArea>
    <c:plotVisOnly val="1"/>
    <c:dispBlanksAs val="gap"/>
    <c:showDLblsOverMax val="0"/>
  </c:chart>
  <c:spPr>
    <a:noFill/>
    <a:ln>
      <a:noFill/>
    </a:ln>
    <a:effectLst/>
  </c:spPr>
  <c:txPr>
    <a:bodyPr/>
    <a:lstStyle/>
    <a:p>
      <a:pPr>
        <a:defRPr/>
      </a:pPr>
      <a:endParaRPr lang="id-ID"/>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[BIG_BIG_CODE (1).xlsx]Pivot Table!PivotTable7</c:name>
    <c:fmtId val="29"/>
  </c:pivotSource>
  <c:chart>
    <c:autoTitleDeleted val="1"/>
    <c:pivotFmts>
      <c:pivotFmt>
        <c:idx val="0"/>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1"/>
        <c:dLbl>
          <c:idx val="0"/>
          <c:dLblPos val="outEnd"/>
          <c:showLegendKey val="0"/>
          <c:showVal val="0"/>
          <c:showCatName val="1"/>
          <c:showSerName val="0"/>
          <c:showPercent val="1"/>
          <c:showBubbleSize val="0"/>
          <c:extLst>
            <c:ext xmlns:c15="http://schemas.microsoft.com/office/drawing/2012/chart" uri="{CE6537A1-D6FC-4f65-9D91-7224C49458BB}"/>
          </c:extLst>
        </c:dLbl>
      </c:pivotFmt>
      <c:pivotFmt>
        <c:idx val="2"/>
      </c:pivotFmt>
      <c:pivotFmt>
        <c:idx val="3"/>
      </c:pivotFmt>
      <c:pivotFmt>
        <c:idx val="4"/>
      </c:pivotFmt>
      <c:pivotFmt>
        <c:idx val="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7"/>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dLbl>
          <c:idx val="0"/>
          <c:layout>
            <c:manualLayout>
              <c:x val="-1.7796611357040696E-2"/>
              <c:y val="-2.9622614761132066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6728814675618223"/>
                  <c:h val="0.16447421789615627"/>
                </c:manualLayout>
              </c15:layout>
            </c:ext>
          </c:extLst>
        </c:dLbl>
      </c:pivotFmt>
      <c:pivotFmt>
        <c:idx val="8"/>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dLbl>
          <c:idx val="0"/>
          <c:layout>
            <c:manualLayout>
              <c:x val="6.0508478613938252E-2"/>
              <c:y val="4.2789099620030836E-2"/>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2348984542171663"/>
                  <c:h val="0.17862749260004801"/>
                </c:manualLayout>
              </c15:layout>
            </c:ext>
          </c:extLst>
        </c:dLbl>
      </c:pivotFmt>
      <c:pivotFmt>
        <c:idx val="9"/>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1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dLbl>
          <c:idx val="0"/>
          <c:layout>
            <c:manualLayout>
              <c:x val="-1.7796611357040696E-2"/>
              <c:y val="-2.9622614761132066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6728814675618223"/>
                  <c:h val="0.16447421789615627"/>
                </c:manualLayout>
              </c15:layout>
            </c:ext>
          </c:extLst>
        </c:dLbl>
      </c:pivotFmt>
      <c:pivotFmt>
        <c:idx val="1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dLbl>
          <c:idx val="0"/>
          <c:layout>
            <c:manualLayout>
              <c:x val="6.0508478613938252E-2"/>
              <c:y val="4.2789099620030836E-2"/>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2348984542171663"/>
                  <c:h val="0.17862749260004801"/>
                </c:manualLayout>
              </c15:layout>
            </c:ext>
          </c:extLst>
        </c:dLbl>
      </c:pivotFmt>
      <c:pivotFmt>
        <c:idx val="13"/>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extLst>
        </c:dLbl>
      </c:pivotFmt>
      <c:pivotFmt>
        <c:idx val="14"/>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pivotFmt>
      <c:pivotFmt>
        <c:idx val="15"/>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dLbl>
          <c:idx val="0"/>
          <c:layout>
            <c:manualLayout>
              <c:x val="-1.7796611357040696E-2"/>
              <c:y val="-2.9622614761132066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6728814675618223"/>
                  <c:h val="0.16447421789615627"/>
                </c:manualLayout>
              </c15:layout>
            </c:ext>
          </c:extLst>
        </c:dLbl>
      </c:pivotFmt>
      <c:pivotFmt>
        <c:idx val="16"/>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dLbl>
          <c:idx val="0"/>
          <c:layout>
            <c:manualLayout>
              <c:x val="6.0508478613938252E-2"/>
              <c:y val="4.2789099620030836E-2"/>
            </c:manualLayout>
          </c:layout>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22348984542171663"/>
                  <c:h val="0.17862749260004801"/>
                </c:manualLayout>
              </c15:layout>
            </c:ext>
          </c:extLst>
        </c:dLbl>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manualLayout>
          <c:layoutTarget val="inner"/>
          <c:xMode val="edge"/>
          <c:yMode val="edge"/>
          <c:x val="1.4631565174241534E-2"/>
          <c:y val="0.10587182758039838"/>
          <c:w val="0.88888302414324916"/>
          <c:h val="0.87226655841737921"/>
        </c:manualLayout>
      </c:layout>
      <c:pie3DChart>
        <c:varyColors val="1"/>
        <c:ser>
          <c:idx val="0"/>
          <c:order val="0"/>
          <c:tx>
            <c:strRef>
              <c:f>'Pivot Table'!$B$38</c:f>
              <c:strCache>
                <c:ptCount val="1"/>
                <c:pt idx="0">
                  <c:v>Total</c:v>
                </c:pt>
              </c:strCache>
            </c:strRef>
          </c:tx>
          <c:explosion val="30"/>
          <c:dPt>
            <c:idx val="0"/>
            <c:bubble3D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sp3d/>
            </c:spPr>
            <c:extLst>
              <c:ext xmlns:c16="http://schemas.microsoft.com/office/drawing/2014/chart" uri="{C3380CC4-5D6E-409C-BE32-E72D297353CC}">
                <c16:uniqueId val="{00000001-5243-443A-9427-073434F75C38}"/>
              </c:ext>
            </c:extLst>
          </c:dPt>
          <c:dPt>
            <c:idx val="1"/>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sp3d/>
            </c:spPr>
            <c:extLst>
              <c:ext xmlns:c16="http://schemas.microsoft.com/office/drawing/2014/chart" uri="{C3380CC4-5D6E-409C-BE32-E72D297353CC}">
                <c16:uniqueId val="{00000003-5243-443A-9427-073434F75C38}"/>
              </c:ext>
            </c:extLst>
          </c:dPt>
          <c:dPt>
            <c:idx val="2"/>
            <c:bubble3D val="0"/>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sp3d/>
            </c:spPr>
            <c:extLst>
              <c:ext xmlns:c16="http://schemas.microsoft.com/office/drawing/2014/chart" uri="{C3380CC4-5D6E-409C-BE32-E72D297353CC}">
                <c16:uniqueId val="{00000005-5243-443A-9427-073434F75C38}"/>
              </c:ext>
            </c:extLst>
          </c:dPt>
          <c:dLbls>
            <c:dLbl>
              <c:idx val="1"/>
              <c:layout>
                <c:manualLayout>
                  <c:x val="-1.7796611357040696E-2"/>
                  <c:y val="-2.9622614761132066E-2"/>
                </c:manualLayout>
              </c:layout>
              <c:spPr>
                <a:noFill/>
                <a:ln>
                  <a:noFill/>
                </a:ln>
                <a:effectLst/>
              </c:spPr>
              <c:txPr>
                <a:bodyPr rot="0" spcFirstLastPara="1" vertOverflow="ellipsis" vert="horz" wrap="square" lIns="38100" tIns="19050" rIns="38100" bIns="19050" anchor="ctr" anchorCtr="1">
                  <a:noAutofit/>
                </a:bodyPr>
                <a:lstStyle/>
                <a:p>
                  <a:pPr>
                    <a:defRPr sz="1400" b="0" i="0" u="none" strike="noStrike" kern="1200" baseline="0">
                      <a:solidFill>
                        <a:schemeClr val="tx2"/>
                      </a:solidFill>
                      <a:latin typeface="+mn-lt"/>
                      <a:ea typeface="+mn-ea"/>
                      <a:cs typeface="+mn-cs"/>
                    </a:defRPr>
                  </a:pPr>
                  <a:endParaRPr lang="en-US"/>
                </a:p>
              </c:txPr>
              <c:dLblPos val="bestFit"/>
              <c:showLegendKey val="0"/>
              <c:showVal val="0"/>
              <c:showCatName val="1"/>
              <c:showSerName val="0"/>
              <c:showPercent val="1"/>
              <c:showBubbleSize val="0"/>
              <c:extLst>
                <c:ext xmlns:c15="http://schemas.microsoft.com/office/drawing/2012/chart" uri="{CE6537A1-D6FC-4f65-9D91-7224C49458BB}">
                  <c15:layout>
                    <c:manualLayout>
                      <c:w val="0.16728814675618223"/>
                      <c:h val="0.16447421789615627"/>
                    </c:manualLayout>
                  </c15:layout>
                </c:ext>
                <c:ext xmlns:c16="http://schemas.microsoft.com/office/drawing/2014/chart" uri="{C3380CC4-5D6E-409C-BE32-E72D297353CC}">
                  <c16:uniqueId val="{00000003-5243-443A-9427-073434F75C38}"/>
                </c:ext>
              </c:extLst>
            </c:dLbl>
            <c:dLbl>
              <c:idx val="2"/>
              <c:layout>
                <c:manualLayout>
                  <c:x val="6.0508478613938252E-2"/>
                  <c:y val="4.2789099620030836E-2"/>
                </c:manualLayout>
              </c:layout>
              <c:dLblPos val="bestFit"/>
              <c:showLegendKey val="0"/>
              <c:showVal val="0"/>
              <c:showCatName val="1"/>
              <c:showSerName val="0"/>
              <c:showPercent val="1"/>
              <c:showBubbleSize val="0"/>
              <c:extLst>
                <c:ext xmlns:c15="http://schemas.microsoft.com/office/drawing/2012/chart" uri="{CE6537A1-D6FC-4f65-9D91-7224C49458BB}">
                  <c15:layout>
                    <c:manualLayout>
                      <c:w val="0.22348984542171663"/>
                      <c:h val="0.17862749260004801"/>
                    </c:manualLayout>
                  </c15:layout>
                </c:ext>
                <c:ext xmlns:c16="http://schemas.microsoft.com/office/drawing/2014/chart" uri="{C3380CC4-5D6E-409C-BE32-E72D297353CC}">
                  <c16:uniqueId val="{00000005-5243-443A-9427-073434F75C38}"/>
                </c:ext>
              </c:extLst>
            </c:dLbl>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tx2"/>
                    </a:solidFill>
                    <a:latin typeface="+mn-lt"/>
                    <a:ea typeface="+mn-ea"/>
                    <a:cs typeface="+mn-cs"/>
                  </a:defRPr>
                </a:pPr>
                <a:endParaRPr lang="en-US"/>
              </a:p>
            </c:txPr>
            <c:dLblPos val="outEnd"/>
            <c:showLegendKey val="0"/>
            <c:showVal val="0"/>
            <c:showCatName val="1"/>
            <c:showSerName val="0"/>
            <c:showPercent val="1"/>
            <c:showBubbleSize val="0"/>
            <c:showLeaderLines val="1"/>
            <c:leaderLines>
              <c:spPr>
                <a:ln w="9525">
                  <a:solidFill>
                    <a:schemeClr val="tx2">
                      <a:lumMod val="35000"/>
                      <a:lumOff val="65000"/>
                    </a:schemeClr>
                  </a:solidFill>
                </a:ln>
                <a:effectLst/>
              </c:spPr>
            </c:leaderLines>
            <c:extLst>
              <c:ext xmlns:c15="http://schemas.microsoft.com/office/drawing/2012/chart" uri="{CE6537A1-D6FC-4f65-9D91-7224C49458BB}"/>
            </c:extLst>
          </c:dLbls>
          <c:cat>
            <c:strRef>
              <c:f>'Pivot Table'!$A$39:$A$42</c:f>
              <c:strCache>
                <c:ptCount val="3"/>
                <c:pt idx="0">
                  <c:v>female</c:v>
                </c:pt>
                <c:pt idx="1">
                  <c:v>male</c:v>
                </c:pt>
                <c:pt idx="2">
                  <c:v>unknown</c:v>
                </c:pt>
              </c:strCache>
            </c:strRef>
          </c:cat>
          <c:val>
            <c:numRef>
              <c:f>'Pivot Table'!$B$39:$B$42</c:f>
              <c:numCache>
                <c:formatCode>General</c:formatCode>
                <c:ptCount val="3"/>
                <c:pt idx="0">
                  <c:v>488</c:v>
                </c:pt>
                <c:pt idx="1">
                  <c:v>3723</c:v>
                </c:pt>
                <c:pt idx="2">
                  <c:v>175</c:v>
                </c:pt>
              </c:numCache>
            </c:numRef>
          </c:val>
          <c:extLst>
            <c:ext xmlns:c16="http://schemas.microsoft.com/office/drawing/2014/chart" uri="{C3380CC4-5D6E-409C-BE32-E72D297353CC}">
              <c16:uniqueId val="{00000006-5243-443A-9427-073434F75C38}"/>
            </c:ext>
          </c:extLst>
        </c:ser>
        <c:dLbls>
          <c:dLblPos val="inEnd"/>
          <c:showLegendKey val="0"/>
          <c:showVal val="0"/>
          <c:showCatName val="1"/>
          <c:showSerName val="0"/>
          <c:showPercent val="0"/>
          <c:showBubbleSize val="0"/>
          <c:showLeaderLines val="1"/>
        </c:dLbls>
      </c:pie3DChart>
      <c:spPr>
        <a:solidFill>
          <a:schemeClr val="bg1">
            <a:lumMod val="8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[BIG_BIG_CODE (1).xlsx]Pivot Table!PivotTable1</c:name>
    <c:fmtId val="32"/>
  </c:pivotSource>
  <c:chart>
    <c:autoTitleDeleted val="1"/>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18208465179404601"/>
          <c:y val="0.12654438605640017"/>
          <c:w val="0.77104104023019615"/>
          <c:h val="0.79807784407913107"/>
        </c:manualLayout>
      </c:layout>
      <c:barChart>
        <c:barDir val="bar"/>
        <c:grouping val="clustered"/>
        <c:varyColors val="0"/>
        <c:ser>
          <c:idx val="0"/>
          <c:order val="0"/>
          <c:tx>
            <c:strRef>
              <c:f>'Pivot Table'!$B$3</c:f>
              <c:strCache>
                <c:ptCount val="1"/>
                <c:pt idx="0">
                  <c:v>Total</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'Pivot Table'!$A$4:$A$14</c:f>
              <c:strCache>
                <c:ptCount val="10"/>
                <c:pt idx="0">
                  <c:v>Northern Cape</c:v>
                </c:pt>
                <c:pt idx="1">
                  <c:v>Free State</c:v>
                </c:pt>
                <c:pt idx="2">
                  <c:v>North West</c:v>
                </c:pt>
                <c:pt idx="3">
                  <c:v>Unclassified</c:v>
                </c:pt>
                <c:pt idx="4">
                  <c:v>Eastern Cape</c:v>
                </c:pt>
                <c:pt idx="5">
                  <c:v>Limpopo</c:v>
                </c:pt>
                <c:pt idx="6">
                  <c:v>Mpumalanga</c:v>
                </c:pt>
                <c:pt idx="7">
                  <c:v>Kwazulu Natal</c:v>
                </c:pt>
                <c:pt idx="8">
                  <c:v>Western Cape</c:v>
                </c:pt>
                <c:pt idx="9">
                  <c:v>Gauteng</c:v>
                </c:pt>
              </c:strCache>
            </c:strRef>
          </c:cat>
          <c:val>
            <c:numRef>
              <c:f>'Pivot Table'!$B$4:$B$14</c:f>
              <c:numCache>
                <c:formatCode>General</c:formatCode>
                <c:ptCount val="10"/>
                <c:pt idx="0">
                  <c:v>82</c:v>
                </c:pt>
                <c:pt idx="1">
                  <c:v>147</c:v>
                </c:pt>
                <c:pt idx="2">
                  <c:v>152</c:v>
                </c:pt>
                <c:pt idx="3">
                  <c:v>176</c:v>
                </c:pt>
                <c:pt idx="4">
                  <c:v>271</c:v>
                </c:pt>
                <c:pt idx="5">
                  <c:v>342</c:v>
                </c:pt>
                <c:pt idx="6">
                  <c:v>391</c:v>
                </c:pt>
                <c:pt idx="7">
                  <c:v>448</c:v>
                </c:pt>
                <c:pt idx="8">
                  <c:v>770</c:v>
                </c:pt>
                <c:pt idx="9">
                  <c:v>1607</c:v>
                </c:pt>
              </c:numCache>
            </c:numRef>
          </c:val>
          <c:extLst>
            <c:ext xmlns:c16="http://schemas.microsoft.com/office/drawing/2014/chart" uri="{C3380CC4-5D6E-409C-BE32-E72D297353CC}">
              <c16:uniqueId val="{00000000-3A85-4F80-99EB-659893379D68}"/>
            </c:ext>
          </c:extLst>
        </c:ser>
        <c:dLbls>
          <c:showLegendKey val="0"/>
          <c:showVal val="0"/>
          <c:showCatName val="0"/>
          <c:showSerName val="0"/>
          <c:showPercent val="0"/>
          <c:showBubbleSize val="0"/>
        </c:dLbls>
        <c:gapWidth val="115"/>
        <c:overlap val="-20"/>
        <c:axId val="164995616"/>
        <c:axId val="2125885552"/>
      </c:barChart>
      <c:catAx>
        <c:axId val="164995616"/>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2125885552"/>
        <c:crosses val="autoZero"/>
        <c:auto val="1"/>
        <c:lblAlgn val="ctr"/>
        <c:lblOffset val="100"/>
        <c:noMultiLvlLbl val="0"/>
      </c:catAx>
      <c:valAx>
        <c:axId val="2125885552"/>
        <c:scaling>
          <c:orientation val="minMax"/>
        </c:scaling>
        <c:delete val="0"/>
        <c:axPos val="b"/>
        <c:minorGridlines>
          <c:spPr>
            <a:ln w="9525" cap="flat" cmpd="sng" algn="ctr">
              <a:solidFill>
                <a:schemeClr val="tx1">
                  <a:lumMod val="5000"/>
                  <a:lumOff val="95000"/>
                </a:schemeClr>
              </a:solidFill>
              <a:round/>
            </a:ln>
            <a:effectLst/>
          </c:spPr>
        </c:min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dk1"/>
                </a:solidFill>
                <a:latin typeface="+mn-lt"/>
                <a:ea typeface="+mn-ea"/>
                <a:cs typeface="+mn-cs"/>
              </a:defRPr>
            </a:pPr>
            <a:endParaRPr lang="en-US"/>
          </a:p>
        </c:txPr>
        <c:crossAx val="164995616"/>
        <c:crosses val="autoZero"/>
        <c:crossBetween val="between"/>
      </c:valAx>
      <c:spPr>
        <a:solidFill>
          <a:schemeClr val="bg1">
            <a:lumMod val="8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schemeClr>
    </a:solidFill>
    <a:ln w="12700" cap="flat" cmpd="sng" algn="ctr">
      <a:noFill/>
      <a:prstDash val="solid"/>
      <a:miter lim="800000"/>
    </a:ln>
    <a:effectLst/>
  </c:spPr>
  <c:txPr>
    <a:bodyPr/>
    <a:lstStyle/>
    <a:p>
      <a:pPr>
        <a:defRPr>
          <a:solidFill>
            <a:schemeClr val="dk1"/>
          </a:solidFill>
          <a:latin typeface="+mn-lt"/>
          <a:ea typeface="+mn-ea"/>
          <a:cs typeface="+mn-cs"/>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[Chart in Microsoft PowerPoint]Pivot Table!PivotTable6</c:name>
    <c:fmtId val="33"/>
  </c:pivotSource>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US"/>
              <a:t>Subscriers per Age Group</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ivotFmts>
      <c:pivotFmt>
        <c:idx val="0"/>
        <c:dLbl>
          <c:idx val="0"/>
          <c:showLegendKey val="0"/>
          <c:showVal val="0"/>
          <c:showCatName val="0"/>
          <c:showSerName val="0"/>
          <c:showPercent val="0"/>
          <c:showBubbleSize val="0"/>
          <c:extLst>
            <c:ext xmlns:c15="http://schemas.microsoft.com/office/drawing/2012/chart" uri="{CE6537A1-D6FC-4f65-9D91-7224C49458BB}"/>
          </c:extLst>
        </c:dLbl>
      </c:pivotFmt>
      <c:pivotFmt>
        <c:idx val="1"/>
        <c:dLbl>
          <c:idx val="0"/>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36688969822291828"/>
          <c:y val="0.10778889881544738"/>
          <c:w val="0.58786529889896377"/>
          <c:h val="0.82895494809597947"/>
        </c:manualLayout>
      </c:layout>
      <c:barChart>
        <c:barDir val="bar"/>
        <c:grouping val="clustered"/>
        <c:varyColors val="0"/>
        <c:ser>
          <c:idx val="0"/>
          <c:order val="0"/>
          <c:tx>
            <c:strRef>
              <c:f>'Pivot Table'!$B$27</c:f>
              <c:strCache>
                <c:ptCount val="1"/>
                <c:pt idx="0">
                  <c:v>Total</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c:spPr>
          <c:invertIfNegative val="0"/>
          <c:cat>
            <c:strRef>
              <c:f>'Pivot Table'!$A$28:$A$35</c:f>
              <c:strCache>
                <c:ptCount val="7"/>
                <c:pt idx="0">
                  <c:v>02.Kids: 1 - 12</c:v>
                </c:pt>
                <c:pt idx="1">
                  <c:v>07.Pensioner: &gt;60</c:v>
                </c:pt>
                <c:pt idx="2">
                  <c:v>03.youth: 13 - 17</c:v>
                </c:pt>
                <c:pt idx="3">
                  <c:v>01.infant: 0</c:v>
                </c:pt>
                <c:pt idx="4">
                  <c:v>06.Elder: 51 -60</c:v>
                </c:pt>
                <c:pt idx="5">
                  <c:v>05.Adults: 36 - 50</c:v>
                </c:pt>
                <c:pt idx="6">
                  <c:v>04.youth Adults: 18 - 35</c:v>
                </c:pt>
              </c:strCache>
            </c:strRef>
          </c:cat>
          <c:val>
            <c:numRef>
              <c:f>'Pivot Table'!$B$28:$B$35</c:f>
              <c:numCache>
                <c:formatCode>General</c:formatCode>
                <c:ptCount val="7"/>
                <c:pt idx="0">
                  <c:v>37</c:v>
                </c:pt>
                <c:pt idx="1">
                  <c:v>49</c:v>
                </c:pt>
                <c:pt idx="2">
                  <c:v>68</c:v>
                </c:pt>
                <c:pt idx="3">
                  <c:v>175</c:v>
                </c:pt>
                <c:pt idx="4">
                  <c:v>190</c:v>
                </c:pt>
                <c:pt idx="5">
                  <c:v>1346</c:v>
                </c:pt>
                <c:pt idx="6">
                  <c:v>2521</c:v>
                </c:pt>
              </c:numCache>
            </c:numRef>
          </c:val>
          <c:extLst>
            <c:ext xmlns:c16="http://schemas.microsoft.com/office/drawing/2014/chart" uri="{C3380CC4-5D6E-409C-BE32-E72D297353CC}">
              <c16:uniqueId val="{00000000-21EF-4DC6-B5D3-C03F59D1FEA5}"/>
            </c:ext>
          </c:extLst>
        </c:ser>
        <c:dLbls>
          <c:showLegendKey val="0"/>
          <c:showVal val="0"/>
          <c:showCatName val="0"/>
          <c:showSerName val="0"/>
          <c:showPercent val="0"/>
          <c:showBubbleSize val="0"/>
        </c:dLbls>
        <c:gapWidth val="115"/>
        <c:overlap val="-20"/>
        <c:axId val="1558993376"/>
        <c:axId val="321865520"/>
      </c:barChart>
      <c:catAx>
        <c:axId val="1558993376"/>
        <c:scaling>
          <c:orientation val="minMax"/>
        </c:scaling>
        <c:delete val="0"/>
        <c:axPos val="l"/>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mn-lt"/>
                <a:ea typeface="+mn-ea"/>
                <a:cs typeface="+mn-cs"/>
              </a:defRPr>
            </a:pPr>
            <a:endParaRPr lang="en-US"/>
          </a:p>
        </c:txPr>
        <c:crossAx val="321865520"/>
        <c:crosses val="autoZero"/>
        <c:auto val="1"/>
        <c:lblAlgn val="ctr"/>
        <c:lblOffset val="100"/>
        <c:noMultiLvlLbl val="0"/>
      </c:catAx>
      <c:valAx>
        <c:axId val="3218655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5589933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[BIG_BIG_CODE (1).xlsx]Pivot Table!PivotTable5</c:name>
    <c:fmtId val="72"/>
  </c:pivotSource>
  <c:chart>
    <c:autoTitleDeleted val="1"/>
    <c:pivotFmts>
      <c:pivotFmt>
        <c:idx val="0"/>
        <c:spPr>
          <a:solidFill>
            <a:schemeClr val="accent6"/>
          </a:solidFill>
          <a:ln w="25400">
            <a:solidFill>
              <a:schemeClr val="lt1"/>
            </a:solidFill>
          </a:ln>
          <a:effectLst/>
          <a:sp3d contourW="25400">
            <a:contourClr>
              <a:schemeClr val="lt1"/>
            </a:contourClr>
          </a:sp3d>
        </c:spPr>
        <c:marker>
          <c:symbol val="circle"/>
          <c:size val="5"/>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1"/>
        <c:spPr>
          <a:solidFill>
            <a:schemeClr val="accent6"/>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2"/>
        <c:spPr>
          <a:solidFill>
            <a:schemeClr val="accent6"/>
          </a:solidFill>
          <a:ln w="25400">
            <a:solidFill>
              <a:schemeClr val="lt1"/>
            </a:solidFill>
          </a:ln>
          <a:effectLst/>
          <a:sp3d contourW="25400">
            <a:contourClr>
              <a:schemeClr val="lt1"/>
            </a:contourClr>
          </a:sp3d>
        </c:spPr>
      </c:pivotFmt>
      <c:pivotFmt>
        <c:idx val="3"/>
        <c:spPr>
          <a:solidFill>
            <a:schemeClr val="accent6"/>
          </a:solidFill>
          <a:ln w="25400">
            <a:solidFill>
              <a:schemeClr val="lt1"/>
            </a:solidFill>
          </a:ln>
          <a:effectLst/>
          <a:sp3d contourW="25400">
            <a:contourClr>
              <a:schemeClr val="lt1"/>
            </a:contourClr>
          </a:sp3d>
        </c:spPr>
      </c:pivotFmt>
      <c:pivotFmt>
        <c:idx val="4"/>
        <c:spPr>
          <a:solidFill>
            <a:schemeClr val="accent6"/>
          </a:solidFill>
          <a:ln w="25400">
            <a:solidFill>
              <a:schemeClr val="lt1"/>
            </a:solidFill>
          </a:ln>
          <a:effectLst/>
          <a:sp3d contourW="25400">
            <a:contourClr>
              <a:schemeClr val="lt1"/>
            </a:contourClr>
          </a:sp3d>
        </c:spPr>
      </c:pivotFmt>
      <c:pivotFmt>
        <c:idx val="5"/>
        <c:spPr>
          <a:solidFill>
            <a:schemeClr val="accent6"/>
          </a:solidFill>
          <a:ln w="25400">
            <a:solidFill>
              <a:schemeClr val="lt1"/>
            </a:solidFill>
          </a:ln>
          <a:effectLst/>
          <a:sp3d contourW="25400">
            <a:contourClr>
              <a:schemeClr val="lt1"/>
            </a:contourClr>
          </a:sp3d>
        </c:spPr>
      </c:pivotFmt>
      <c:pivotFmt>
        <c:idx val="6"/>
        <c:spPr>
          <a:solidFill>
            <a:schemeClr val="accent6"/>
          </a:solidFill>
          <a:ln w="25400">
            <a:solidFill>
              <a:schemeClr val="lt1"/>
            </a:solidFill>
          </a:ln>
          <a:effectLst/>
          <a:sp3d contourW="25400">
            <a:contourClr>
              <a:schemeClr val="lt1"/>
            </a:contourClr>
          </a:sp3d>
        </c:spPr>
      </c:pivotFmt>
      <c:pivotFmt>
        <c:idx val="7"/>
        <c:spPr>
          <a:solidFill>
            <a:schemeClr val="accent6"/>
          </a:solidFill>
          <a:ln w="25400">
            <a:solidFill>
              <a:schemeClr val="lt1"/>
            </a:solidFill>
          </a:ln>
          <a:effectLst/>
          <a:sp3d contourW="25400">
            <a:contourClr>
              <a:schemeClr val="lt1"/>
            </a:contourClr>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spc="0" baseline="0">
                  <a:solidFill>
                    <a:schemeClr val="tx1">
                      <a:lumMod val="75000"/>
                      <a:lumOff val="25000"/>
                    </a:schemeClr>
                  </a:solidFill>
                  <a:latin typeface="+mn-lt"/>
                  <a:ea typeface="+mn-ea"/>
                  <a:cs typeface="+mn-cs"/>
                </a:defRPr>
              </a:pPr>
              <a:endParaRPr lang="en-US"/>
            </a:p>
          </c:txPr>
          <c:dLblPos val="ctr"/>
          <c:showLegendKey val="0"/>
          <c:showVal val="0"/>
          <c:showCatName val="0"/>
          <c:showSerName val="0"/>
          <c:showPercent val="1"/>
          <c:showBubbleSize val="0"/>
          <c:extLst>
            <c:ext xmlns:c15="http://schemas.microsoft.com/office/drawing/2012/chart" uri="{CE6537A1-D6FC-4f65-9D91-7224C49458BB}"/>
          </c:extLst>
        </c:dLbl>
      </c:pivotFmt>
      <c:pivotFmt>
        <c:idx val="8"/>
        <c:spPr>
          <a:solidFill>
            <a:schemeClr val="accent6"/>
          </a:solidFill>
          <a:ln w="25400">
            <a:solidFill>
              <a:schemeClr val="lt1"/>
            </a:solidFill>
          </a:ln>
          <a:effectLst/>
          <a:sp3d contourW="25400">
            <a:contourClr>
              <a:schemeClr val="lt1"/>
            </a:contourClr>
          </a:sp3d>
        </c:spPr>
      </c:pivotFmt>
      <c:pivotFmt>
        <c:idx val="9"/>
        <c:spPr>
          <a:solidFill>
            <a:schemeClr val="accent6"/>
          </a:solidFill>
          <a:ln w="25400">
            <a:solidFill>
              <a:schemeClr val="lt1"/>
            </a:solidFill>
          </a:ln>
          <a:effectLst/>
          <a:sp3d contourW="25400">
            <a:contourClr>
              <a:schemeClr val="lt1"/>
            </a:contourClr>
          </a:sp3d>
        </c:spPr>
      </c:pivotFmt>
      <c:pivotFmt>
        <c:idx val="10"/>
        <c:spPr>
          <a:solidFill>
            <a:schemeClr val="accent6"/>
          </a:solidFill>
          <a:ln w="25400">
            <a:solidFill>
              <a:schemeClr val="lt1"/>
            </a:solidFill>
          </a:ln>
          <a:effectLst/>
          <a:sp3d contourW="25400">
            <a:contourClr>
              <a:schemeClr val="lt1"/>
            </a:contourClr>
          </a:sp3d>
        </c:spPr>
      </c:pivotFmt>
      <c:pivotFmt>
        <c:idx val="11"/>
        <c:spPr>
          <a:solidFill>
            <a:schemeClr val="accent6"/>
          </a:solidFill>
          <a:ln w="25400">
            <a:solidFill>
              <a:schemeClr val="lt1"/>
            </a:solidFill>
          </a:ln>
          <a:effectLst/>
          <a:sp3d contourW="25400">
            <a:contourClr>
              <a:schemeClr val="lt1"/>
            </a:contourClr>
          </a:sp3d>
        </c:spPr>
      </c:pivotFmt>
      <c:pivotFmt>
        <c:idx val="12"/>
        <c:spPr>
          <a:solidFill>
            <a:schemeClr val="accent6"/>
          </a:solidFill>
          <a:ln w="25400">
            <a:solidFill>
              <a:schemeClr val="lt1"/>
            </a:solidFill>
          </a:ln>
          <a:effectLst/>
          <a:sp3d contourW="25400">
            <a:contourClr>
              <a:schemeClr val="lt1"/>
            </a:contourClr>
          </a:sp3d>
        </c:spPr>
      </c:pivotFmt>
    </c:pivotFmts>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tx>
            <c:strRef>
              <c:f>'Pivot Table'!$B$18</c:f>
              <c:strCache>
                <c:ptCount val="1"/>
                <c:pt idx="0">
                  <c:v>Total</c:v>
                </c:pt>
              </c:strCache>
            </c:strRef>
          </c:tx>
          <c:explosion val="4"/>
          <c:dPt>
            <c:idx val="0"/>
            <c:bubble3D val="0"/>
            <c:spPr>
              <a:solidFill>
                <a:schemeClr val="accent6"/>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1-A126-4AA3-AC37-F7E7BB96D033}"/>
              </c:ext>
            </c:extLst>
          </c:dPt>
          <c:dPt>
            <c:idx val="1"/>
            <c:bubble3D val="0"/>
            <c:spPr>
              <a:solidFill>
                <a:schemeClr val="accent5"/>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3-A126-4AA3-AC37-F7E7BB96D033}"/>
              </c:ext>
            </c:extLst>
          </c:dPt>
          <c:dPt>
            <c:idx val="2"/>
            <c:bubble3D val="0"/>
            <c:spPr>
              <a:solidFill>
                <a:schemeClr val="accent4"/>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5-A126-4AA3-AC37-F7E7BB96D033}"/>
              </c:ext>
            </c:extLst>
          </c:dPt>
          <c:dPt>
            <c:idx val="3"/>
            <c:bubble3D val="0"/>
            <c:spPr>
              <a:solidFill>
                <a:schemeClr val="accent6">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7-A126-4AA3-AC37-F7E7BB96D033}"/>
              </c:ext>
            </c:extLst>
          </c:dPt>
          <c:dPt>
            <c:idx val="4"/>
            <c:bubble3D val="0"/>
            <c:spPr>
              <a:solidFill>
                <a:schemeClr val="accent5">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c:ext xmlns:c16="http://schemas.microsoft.com/office/drawing/2014/chart" uri="{C3380CC4-5D6E-409C-BE32-E72D297353CC}">
                <c16:uniqueId val="{00000009-A126-4AA3-AC37-F7E7BB96D033}"/>
              </c:ext>
            </c:extLst>
          </c:dPt>
          <c:dLbls>
            <c:dLbl>
              <c:idx val="0"/>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6"/>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1-A126-4AA3-AC37-F7E7BB96D033}"/>
                </c:ext>
              </c:extLst>
            </c:dLbl>
            <c:dLbl>
              <c:idx val="1"/>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5"/>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3-A126-4AA3-AC37-F7E7BB96D033}"/>
                </c:ext>
              </c:extLst>
            </c:dLbl>
            <c:dLbl>
              <c:idx val="2"/>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4"/>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5-A126-4AA3-AC37-F7E7BB96D033}"/>
                </c:ext>
              </c:extLst>
            </c:dLbl>
            <c:dLbl>
              <c:idx val="3"/>
              <c:tx>
                <c:rich>
                  <a:bodyPr rot="0" spcFirstLastPara="1" vertOverflow="ellipsis" vert="horz" wrap="square" lIns="38100" tIns="19050" rIns="38100" bIns="19050" anchor="ctr" anchorCtr="1">
                    <a:spAutoFit/>
                  </a:bodyPr>
                  <a:lstStyle/>
                  <a:p>
                    <a:pPr>
                      <a:defRPr sz="1330" b="1" i="0" u="none" strike="noStrike" kern="1200" spc="0" baseline="0">
                        <a:solidFill>
                          <a:schemeClr val="accent6"/>
                        </a:solidFill>
                        <a:latin typeface="+mn-lt"/>
                        <a:ea typeface="+mn-ea"/>
                        <a:cs typeface="+mn-cs"/>
                      </a:defRPr>
                    </a:pPr>
                    <a:r>
                      <a:rPr lang="en-US" baseline="0" dirty="0"/>
                      <a:t>unclassified
</a:t>
                    </a:r>
                    <a:fld id="{BDA1C6F5-FD0D-46F9-806C-391613B3212C}" type="PERCENTAGE">
                      <a:rPr lang="en-US" baseline="0"/>
                      <a:pPr>
                        <a:defRPr>
                          <a:solidFill>
                            <a:schemeClr val="accent6"/>
                          </a:solidFill>
                        </a:defRPr>
                      </a:pPr>
                      <a:t>[PERCENTAGE]</a:t>
                    </a:fld>
                    <a:endParaRPr lang="en-US" baseline="0" dirty="0"/>
                  </a:p>
                </c:rich>
              </c:tx>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6"/>
                      </a:solidFill>
                      <a:latin typeface="+mn-lt"/>
                      <a:ea typeface="+mn-ea"/>
                      <a:cs typeface="+mn-cs"/>
                    </a:defRPr>
                  </a:pPr>
                  <a:endParaRPr lang="en-US"/>
                </a:p>
              </c:txPr>
              <c:dLblPos val="outEnd"/>
              <c:showLegendKey val="0"/>
              <c:showVal val="0"/>
              <c:showCatName val="1"/>
              <c:showSerName val="0"/>
              <c:showPercent val="1"/>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A126-4AA3-AC37-F7E7BB96D033}"/>
                </c:ext>
              </c:extLst>
            </c:dLbl>
            <c:dLbl>
              <c:idx val="4"/>
              <c:spPr>
                <a:noFill/>
                <a:ln>
                  <a:noFill/>
                </a:ln>
                <a:effectLst/>
              </c:spPr>
              <c:txPr>
                <a:bodyPr rot="0" spcFirstLastPara="1" vertOverflow="ellipsis" vert="horz" wrap="square" lIns="38100" tIns="19050" rIns="38100" bIns="19050" anchor="ctr" anchorCtr="1">
                  <a:spAutoFit/>
                </a:bodyPr>
                <a:lstStyle/>
                <a:p>
                  <a:pPr>
                    <a:defRPr sz="1330" b="1" i="0" u="none" strike="noStrike" kern="1200" spc="0" baseline="0">
                      <a:solidFill>
                        <a:schemeClr val="accent5">
                          <a:lumMod val="60000"/>
                        </a:schemeClr>
                      </a:solidFill>
                      <a:latin typeface="+mn-lt"/>
                      <a:ea typeface="+mn-ea"/>
                      <a:cs typeface="+mn-cs"/>
                    </a:defRPr>
                  </a:pPr>
                  <a:endParaRPr lang="en-US"/>
                </a:p>
              </c:txPr>
              <c:dLblPos val="outEnd"/>
              <c:showLegendKey val="0"/>
              <c:showVal val="0"/>
              <c:showCatName val="1"/>
              <c:showSerName val="0"/>
              <c:showPercent val="1"/>
              <c:showBubbleSize val="0"/>
              <c:extLst>
                <c:ext xmlns:c16="http://schemas.microsoft.com/office/drawing/2014/chart" uri="{C3380CC4-5D6E-409C-BE32-E72D297353CC}">
                  <c16:uniqueId val="{00000009-A126-4AA3-AC37-F7E7BB96D033}"/>
                </c:ext>
              </c:extLst>
            </c:dLbl>
            <c:spPr>
              <a:noFill/>
              <a:ln>
                <a:noFill/>
              </a:ln>
              <a:effectLst/>
            </c:spPr>
            <c:dLblPos val="outEnd"/>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'Pivot Table'!$A$19:$A$24</c:f>
              <c:strCache>
                <c:ptCount val="5"/>
                <c:pt idx="0">
                  <c:v>black</c:v>
                </c:pt>
                <c:pt idx="1">
                  <c:v>coloured</c:v>
                </c:pt>
                <c:pt idx="2">
                  <c:v>indian_asian</c:v>
                </c:pt>
                <c:pt idx="3">
                  <c:v>unknown</c:v>
                </c:pt>
                <c:pt idx="4">
                  <c:v>white</c:v>
                </c:pt>
              </c:strCache>
            </c:strRef>
          </c:cat>
          <c:val>
            <c:numRef>
              <c:f>'Pivot Table'!$B$19:$B$24</c:f>
              <c:numCache>
                <c:formatCode>General</c:formatCode>
                <c:ptCount val="5"/>
                <c:pt idx="0">
                  <c:v>1662</c:v>
                </c:pt>
                <c:pt idx="1">
                  <c:v>653</c:v>
                </c:pt>
                <c:pt idx="2">
                  <c:v>755</c:v>
                </c:pt>
                <c:pt idx="3">
                  <c:v>590</c:v>
                </c:pt>
                <c:pt idx="4">
                  <c:v>726</c:v>
                </c:pt>
              </c:numCache>
            </c:numRef>
          </c:val>
          <c:extLst>
            <c:ext xmlns:c16="http://schemas.microsoft.com/office/drawing/2014/chart" uri="{C3380CC4-5D6E-409C-BE32-E72D297353CC}">
              <c16:uniqueId val="{0000000A-A126-4AA3-AC37-F7E7BB96D033}"/>
            </c:ext>
          </c:extLst>
        </c:ser>
        <c:dLbls>
          <c:dLblPos val="outEnd"/>
          <c:showLegendKey val="0"/>
          <c:showVal val="0"/>
          <c:showCatName val="0"/>
          <c:showSerName val="0"/>
          <c:showPercent val="1"/>
          <c:showBubbleSize val="0"/>
          <c:showLeaderLines val="1"/>
        </c:dLbls>
      </c:pie3D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[BIG_BIG_CODE (1)(AutoRecovered).xlsx]Pivot Table!PivotTable8</c:name>
    <c:fmtId val="23"/>
  </c:pivotSource>
  <c:chart>
    <c:autoTitleDeleted val="1"/>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Table'!$B$52</c:f>
              <c:strCache>
                <c:ptCount val="1"/>
                <c:pt idx="0">
                  <c:v>Total</c:v>
                </c:pt>
              </c:strCache>
            </c:strRef>
          </c:tx>
          <c:spPr>
            <a:ln w="38100" cap="rnd">
              <a:solidFill>
                <a:schemeClr val="accent4"/>
              </a:solidFill>
              <a:round/>
            </a:ln>
            <a:effectLst/>
          </c:spPr>
          <c:marker>
            <c:symbol val="circle"/>
            <c:size val="8"/>
            <c:spPr>
              <a:solidFill>
                <a:schemeClr val="accent4"/>
              </a:solidFill>
              <a:ln>
                <a:noFill/>
              </a:ln>
              <a:effectLst/>
            </c:spPr>
          </c:marker>
          <c:cat>
            <c:strRef>
              <c:f>'Pivot Table'!$A$53:$A$56</c:f>
              <c:strCache>
                <c:ptCount val="3"/>
                <c:pt idx="0">
                  <c:v>Jan</c:v>
                </c:pt>
                <c:pt idx="1">
                  <c:v>Feb</c:v>
                </c:pt>
                <c:pt idx="2">
                  <c:v>Mar</c:v>
                </c:pt>
              </c:strCache>
            </c:strRef>
          </c:cat>
          <c:val>
            <c:numRef>
              <c:f>'Pivot Table'!$B$53:$B$56</c:f>
              <c:numCache>
                <c:formatCode>General</c:formatCode>
                <c:ptCount val="3"/>
                <c:pt idx="0">
                  <c:v>1164</c:v>
                </c:pt>
                <c:pt idx="1">
                  <c:v>1502</c:v>
                </c:pt>
                <c:pt idx="2">
                  <c:v>2545</c:v>
                </c:pt>
              </c:numCache>
            </c:numRef>
          </c:val>
          <c:smooth val="0"/>
          <c:extLst>
            <c:ext xmlns:c16="http://schemas.microsoft.com/office/drawing/2014/chart" uri="{C3380CC4-5D6E-409C-BE32-E72D297353CC}">
              <c16:uniqueId val="{00000000-C6E1-4867-AE06-841141D991AB}"/>
            </c:ext>
          </c:extLst>
        </c:ser>
        <c:dLbls>
          <c:showLegendKey val="0"/>
          <c:showVal val="0"/>
          <c:showCatName val="0"/>
          <c:showSerName val="0"/>
          <c:showPercent val="0"/>
          <c:showBubbleSize val="0"/>
        </c:dLbls>
        <c:marker val="1"/>
        <c:smooth val="0"/>
        <c:axId val="665520575"/>
        <c:axId val="1963851919"/>
      </c:lineChart>
      <c:catAx>
        <c:axId val="66552057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cap="none" spc="0" normalizeH="0" baseline="0">
                <a:ln>
                  <a:solidFill>
                    <a:schemeClr val="accent1"/>
                  </a:solidFill>
                </a:ln>
                <a:solidFill>
                  <a:schemeClr val="tx1">
                    <a:lumMod val="65000"/>
                    <a:lumOff val="35000"/>
                  </a:schemeClr>
                </a:solidFill>
                <a:latin typeface="+mn-lt"/>
                <a:ea typeface="+mn-ea"/>
                <a:cs typeface="+mn-cs"/>
              </a:defRPr>
            </a:pPr>
            <a:endParaRPr lang="en-US"/>
          </a:p>
        </c:txPr>
        <c:crossAx val="1963851919"/>
        <c:crosses val="autoZero"/>
        <c:auto val="1"/>
        <c:lblAlgn val="ctr"/>
        <c:lblOffset val="100"/>
        <c:noMultiLvlLbl val="0"/>
      </c:catAx>
      <c:valAx>
        <c:axId val="1963851919"/>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crossAx val="66552057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n>
            <a:solidFill>
              <a:schemeClr val="accent1"/>
            </a:solidFill>
          </a:ln>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[BIG_BIG_CODE (1)(AutoRecovered).xlsx]Pivot Table!PivotTable2</c:name>
    <c:fmtId val="38"/>
  </c:pivotSource>
  <c:chart>
    <c:autoTitleDeleted val="1"/>
    <c:pivotFmts>
      <c:pivotFmt>
        <c:idx val="0"/>
        <c:dLbl>
          <c:idx val="0"/>
          <c:dLblPos val="ct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22225" cap="rnd" cmpd="sng" algn="ctr">
            <a:solidFill>
              <a:schemeClr val="accent4"/>
            </a:solidFill>
            <a:round/>
          </a:ln>
          <a:effectLst/>
        </c:spPr>
        <c:marker>
          <c:symbol val="circle"/>
          <c:size val="4"/>
          <c:spPr>
            <a:solidFill>
              <a:schemeClr val="accent4"/>
            </a:solidFill>
            <a:ln w="9525" cap="flat" cmpd="sng" algn="ctr">
              <a:solidFill>
                <a:schemeClr val="accent4"/>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22225" cap="rnd" cmpd="sng" algn="ctr">
            <a:solidFill>
              <a:schemeClr val="accent4"/>
            </a:solidFill>
            <a:round/>
          </a:ln>
          <a:effectLst/>
        </c:spPr>
        <c:marker>
          <c:symbol val="circle"/>
          <c:size val="4"/>
          <c:spPr>
            <a:solidFill>
              <a:schemeClr val="accent4"/>
            </a:solidFill>
            <a:ln w="9525" cap="flat" cmpd="sng" algn="ctr">
              <a:solidFill>
                <a:schemeClr val="accent4"/>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22225" cap="rnd" cmpd="sng" algn="ctr">
            <a:solidFill>
              <a:schemeClr val="accent4"/>
            </a:solidFill>
            <a:round/>
          </a:ln>
          <a:effectLst/>
        </c:spPr>
        <c:marker>
          <c:symbol val="circle"/>
          <c:size val="4"/>
          <c:spPr>
            <a:solidFill>
              <a:schemeClr val="accent4"/>
            </a:solidFill>
            <a:ln w="9525" cap="flat" cmpd="sng" algn="ctr">
              <a:solidFill>
                <a:schemeClr val="accent4"/>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22225" cap="rnd" cmpd="sng" algn="ctr">
            <a:solidFill>
              <a:schemeClr val="accent4"/>
            </a:solidFill>
            <a:round/>
          </a:ln>
          <a:effectLst/>
        </c:spPr>
        <c:marker>
          <c:symbol val="circle"/>
          <c:size val="4"/>
          <c:spPr>
            <a:solidFill>
              <a:schemeClr val="accent4"/>
            </a:solidFill>
            <a:ln w="9525" cap="flat" cmpd="sng" algn="ctr">
              <a:solidFill>
                <a:schemeClr val="accent4"/>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gradFill rotWithShape="1">
            <a:gsLst>
              <a:gs pos="0">
                <a:schemeClr val="accent4">
                  <a:lumMod val="110000"/>
                  <a:satMod val="105000"/>
                  <a:tint val="67000"/>
                </a:schemeClr>
              </a:gs>
              <a:gs pos="50000">
                <a:schemeClr val="accent4">
                  <a:lumMod val="105000"/>
                  <a:satMod val="103000"/>
                  <a:tint val="73000"/>
                </a:schemeClr>
              </a:gs>
              <a:gs pos="100000">
                <a:schemeClr val="accent4">
                  <a:lumMod val="105000"/>
                  <a:satMod val="109000"/>
                  <a:tint val="81000"/>
                </a:schemeClr>
              </a:gs>
            </a:gsLst>
            <a:lin ang="5400000" scaled="0"/>
          </a:gradFill>
          <a:ln w="22225" cap="rnd" cmpd="sng" algn="ctr">
            <a:solidFill>
              <a:schemeClr val="accent4"/>
            </a:solidFill>
            <a:round/>
          </a:ln>
          <a:effectLst/>
        </c:spPr>
        <c:marker>
          <c:symbol val="circle"/>
          <c:size val="4"/>
          <c:spPr>
            <a:solidFill>
              <a:schemeClr val="accent4"/>
            </a:solidFill>
            <a:ln w="9525" cap="flat" cmpd="sng" algn="ctr">
              <a:solidFill>
                <a:schemeClr val="accent4"/>
              </a:solidFill>
              <a:round/>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Table'!$B$66</c:f>
              <c:strCache>
                <c:ptCount val="1"/>
                <c:pt idx="0">
                  <c:v>Total</c:v>
                </c:pt>
              </c:strCache>
            </c:strRef>
          </c:tx>
          <c:spPr>
            <a:ln w="22225" cap="rnd" cmpd="sng" algn="ctr">
              <a:solidFill>
                <a:schemeClr val="accent4"/>
              </a:solidFill>
              <a:round/>
            </a:ln>
            <a:effectLst/>
          </c:spPr>
          <c:marker>
            <c:symbol val="circle"/>
            <c:size val="4"/>
            <c:spPr>
              <a:solidFill>
                <a:schemeClr val="accent4"/>
              </a:solidFill>
              <a:ln w="9525" cap="flat" cmpd="sng" algn="ctr">
                <a:solidFill>
                  <a:schemeClr val="accent4"/>
                </a:solidFill>
                <a:round/>
              </a:ln>
              <a:effectLst/>
            </c:spPr>
          </c:marker>
          <c:cat>
            <c:strRef>
              <c:f>'Pivot Table'!$A$67:$A$70</c:f>
              <c:strCache>
                <c:ptCount val="3"/>
                <c:pt idx="0">
                  <c:v>Jan</c:v>
                </c:pt>
                <c:pt idx="1">
                  <c:v>Feb</c:v>
                </c:pt>
                <c:pt idx="2">
                  <c:v>Mar</c:v>
                </c:pt>
              </c:strCache>
            </c:strRef>
          </c:cat>
          <c:val>
            <c:numRef>
              <c:f>'Pivot Table'!$B$67:$B$70</c:f>
              <c:numCache>
                <c:formatCode>General</c:formatCode>
                <c:ptCount val="3"/>
                <c:pt idx="0">
                  <c:v>1019</c:v>
                </c:pt>
                <c:pt idx="1">
                  <c:v>1098</c:v>
                </c:pt>
                <c:pt idx="2">
                  <c:v>1202</c:v>
                </c:pt>
              </c:numCache>
            </c:numRef>
          </c:val>
          <c:smooth val="0"/>
          <c:extLst>
            <c:ext xmlns:c16="http://schemas.microsoft.com/office/drawing/2014/chart" uri="{C3380CC4-5D6E-409C-BE32-E72D297353CC}">
              <c16:uniqueId val="{00000000-A5F1-414D-AC47-8976DE577E46}"/>
            </c:ext>
          </c:extLst>
        </c:ser>
        <c:dLbls>
          <c:showLegendKey val="0"/>
          <c:showVal val="0"/>
          <c:showCatName val="0"/>
          <c:showSerName val="0"/>
          <c:showPercent val="0"/>
          <c:showBubbleSize val="0"/>
        </c:dLbls>
        <c:dropLines>
          <c:spPr>
            <a:ln w="9525" cap="flat" cmpd="sng" algn="ctr">
              <a:solidFill>
                <a:schemeClr val="dk1">
                  <a:lumMod val="35000"/>
                  <a:lumOff val="65000"/>
                  <a:alpha val="33000"/>
                </a:schemeClr>
              </a:solidFill>
              <a:round/>
            </a:ln>
            <a:effectLst/>
          </c:spPr>
        </c:dropLines>
        <c:marker val="1"/>
        <c:smooth val="0"/>
        <c:axId val="1943494015"/>
        <c:axId val="973515151"/>
      </c:lineChart>
      <c:catAx>
        <c:axId val="1943494015"/>
        <c:scaling>
          <c:orientation val="minMax"/>
        </c:scaling>
        <c:delete val="0"/>
        <c:axPos val="b"/>
        <c:numFmt formatCode="General" sourceLinked="1"/>
        <c:majorTickMark val="none"/>
        <c:minorTickMark val="none"/>
        <c:tickLblPos val="nextTo"/>
        <c:spPr>
          <a:noFill/>
          <a:ln w="9525" cap="flat" cmpd="sng" algn="ctr">
            <a:solidFill>
              <a:schemeClr val="dk1">
                <a:lumMod val="15000"/>
                <a:lumOff val="85000"/>
              </a:schemeClr>
            </a:solidFill>
            <a:round/>
          </a:ln>
          <a:effectLst/>
        </c:spPr>
        <c:txPr>
          <a:bodyPr rot="-60000000" spcFirstLastPara="1" vertOverflow="ellipsis" vert="horz" wrap="square" anchor="ctr" anchorCtr="1"/>
          <a:lstStyle/>
          <a:p>
            <a:pPr>
              <a:defRPr sz="1400" b="0" i="0" u="none" strike="noStrike" kern="1200" spc="20" baseline="0">
                <a:solidFill>
                  <a:schemeClr val="dk1">
                    <a:lumMod val="65000"/>
                    <a:lumOff val="35000"/>
                  </a:schemeClr>
                </a:solidFill>
                <a:latin typeface="+mn-lt"/>
                <a:ea typeface="+mn-ea"/>
                <a:cs typeface="+mn-cs"/>
              </a:defRPr>
            </a:pPr>
            <a:endParaRPr lang="en-US"/>
          </a:p>
        </c:txPr>
        <c:crossAx val="973515151"/>
        <c:crosses val="autoZero"/>
        <c:auto val="1"/>
        <c:lblAlgn val="ctr"/>
        <c:lblOffset val="100"/>
        <c:noMultiLvlLbl val="0"/>
      </c:catAx>
      <c:valAx>
        <c:axId val="973515151"/>
        <c:scaling>
          <c:orientation val="minMax"/>
        </c:scaling>
        <c:delete val="0"/>
        <c:axPos val="l"/>
        <c:majorGridlines>
          <c:spPr>
            <a:ln>
              <a:solidFill>
                <a:schemeClr val="dk1">
                  <a:lumMod val="15000"/>
                  <a:lumOff val="85000"/>
                </a:schemeClr>
              </a:solidFill>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spc="20" baseline="0">
                <a:solidFill>
                  <a:schemeClr val="dk1">
                    <a:lumMod val="65000"/>
                    <a:lumOff val="35000"/>
                  </a:schemeClr>
                </a:solidFill>
                <a:latin typeface="+mn-lt"/>
                <a:ea typeface="+mn-ea"/>
                <a:cs typeface="+mn-cs"/>
              </a:defRPr>
            </a:pPr>
            <a:endParaRPr lang="en-US"/>
          </a:p>
        </c:txPr>
        <c:crossAx val="1943494015"/>
        <c:crosses val="autoZero"/>
        <c:crossBetween val="between"/>
      </c:valAx>
      <c:spPr>
        <a:solidFill>
          <a:schemeClr val="bg1">
            <a:lumMod val="85000"/>
          </a:schemeClr>
        </a:solid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[BIG_BIG_CODE (1)(AutoRecovered).xlsx]Pivot Table!PivotTable11</c:name>
    <c:fmtId val="60"/>
  </c:pivotSource>
  <c:chart>
    <c:autoTitleDeleted val="1"/>
    <c:pivotFmts>
      <c:pivotFmt>
        <c:idx val="0"/>
        <c:spPr>
          <a:solidFill>
            <a:schemeClr val="accent4"/>
          </a:solidFill>
          <a:ln w="28575" cap="rnd">
            <a:solidFill>
              <a:schemeClr val="accent4"/>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solidFill>
          <a:ln w="28575" cap="rnd">
            <a:solidFill>
              <a:schemeClr val="accent4"/>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solidFill>
          <a:ln w="28575" cap="rnd">
            <a:solidFill>
              <a:schemeClr val="accent4"/>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'Pivot Table'!$B$139</c:f>
              <c:strCache>
                <c:ptCount val="1"/>
                <c:pt idx="0">
                  <c:v>Total</c:v>
                </c:pt>
              </c:strCache>
            </c:strRef>
          </c:tx>
          <c:spPr>
            <a:ln w="28575" cap="rnd">
              <a:solidFill>
                <a:schemeClr val="accent4"/>
              </a:solidFill>
              <a:round/>
            </a:ln>
            <a:effectLst/>
          </c:spPr>
          <c:marker>
            <c:symbol val="none"/>
          </c:marker>
          <c:cat>
            <c:multiLvlStrRef>
              <c:f>'Pivot Table'!$A$140:$A$155</c:f>
              <c:multiLvlStrCache>
                <c:ptCount val="12"/>
                <c:lvl>
                  <c:pt idx="0">
                    <c:v>01. Midnight</c:v>
                  </c:pt>
                  <c:pt idx="1">
                    <c:v>02. Morning</c:v>
                  </c:pt>
                  <c:pt idx="2">
                    <c:v>03. Afternoon</c:v>
                  </c:pt>
                  <c:pt idx="3">
                    <c:v>04. Evening</c:v>
                  </c:pt>
                  <c:pt idx="4">
                    <c:v>01. Midnight</c:v>
                  </c:pt>
                  <c:pt idx="5">
                    <c:v>02. Morning</c:v>
                  </c:pt>
                  <c:pt idx="6">
                    <c:v>03. Afternoon</c:v>
                  </c:pt>
                  <c:pt idx="7">
                    <c:v>04. Evening</c:v>
                  </c:pt>
                  <c:pt idx="8">
                    <c:v>01. Midnight</c:v>
                  </c:pt>
                  <c:pt idx="9">
                    <c:v>02. Morning</c:v>
                  </c:pt>
                  <c:pt idx="10">
                    <c:v>03. Afternoon</c:v>
                  </c:pt>
                  <c:pt idx="11">
                    <c:v>04. Evening</c:v>
                  </c:pt>
                </c:lvl>
                <c:lvl>
                  <c:pt idx="0">
                    <c:v>Jan</c:v>
                  </c:pt>
                  <c:pt idx="4">
                    <c:v>Feb</c:v>
                  </c:pt>
                  <c:pt idx="8">
                    <c:v>Mar</c:v>
                  </c:pt>
                </c:lvl>
              </c:multiLvlStrCache>
            </c:multiLvlStrRef>
          </c:cat>
          <c:val>
            <c:numRef>
              <c:f>'Pivot Table'!$B$140:$B$155</c:f>
              <c:numCache>
                <c:formatCode>General</c:formatCode>
                <c:ptCount val="12"/>
                <c:pt idx="0">
                  <c:v>166</c:v>
                </c:pt>
                <c:pt idx="1">
                  <c:v>469</c:v>
                </c:pt>
                <c:pt idx="2">
                  <c:v>629</c:v>
                </c:pt>
                <c:pt idx="3">
                  <c:v>935</c:v>
                </c:pt>
                <c:pt idx="4">
                  <c:v>156</c:v>
                </c:pt>
                <c:pt idx="5">
                  <c:v>712</c:v>
                </c:pt>
                <c:pt idx="6">
                  <c:v>839</c:v>
                </c:pt>
                <c:pt idx="7">
                  <c:v>1273</c:v>
                </c:pt>
                <c:pt idx="8">
                  <c:v>234</c:v>
                </c:pt>
                <c:pt idx="9">
                  <c:v>1180</c:v>
                </c:pt>
                <c:pt idx="10">
                  <c:v>1618</c:v>
                </c:pt>
                <c:pt idx="11">
                  <c:v>1784</c:v>
                </c:pt>
              </c:numCache>
            </c:numRef>
          </c:val>
          <c:smooth val="0"/>
          <c:extLst>
            <c:ext xmlns:c16="http://schemas.microsoft.com/office/drawing/2014/chart" uri="{C3380CC4-5D6E-409C-BE32-E72D297353CC}">
              <c16:uniqueId val="{00000000-D5F5-47FA-A78F-BE8CC9FA5BD5}"/>
            </c:ext>
          </c:extLst>
        </c:ser>
        <c:dLbls>
          <c:showLegendKey val="0"/>
          <c:showVal val="0"/>
          <c:showCatName val="0"/>
          <c:showSerName val="0"/>
          <c:showPercent val="0"/>
          <c:showBubbleSize val="0"/>
        </c:dLbls>
        <c:smooth val="0"/>
        <c:axId val="882828783"/>
        <c:axId val="1804918703"/>
      </c:lineChart>
      <c:catAx>
        <c:axId val="882828783"/>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crossAx val="1804918703"/>
        <c:crosses val="autoZero"/>
        <c:auto val="1"/>
        <c:lblAlgn val="ctr"/>
        <c:lblOffset val="100"/>
        <c:noMultiLvlLbl val="0"/>
      </c:catAx>
      <c:valAx>
        <c:axId val="18049187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crossAx val="88282878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a:ln>
            <a:solidFill>
              <a:schemeClr val="accent1"/>
            </a:solidFill>
          </a:ln>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6"/>
    </mc:Choice>
    <mc:Fallback>
      <c:style val="6"/>
    </mc:Fallback>
  </mc:AlternateContent>
  <c:pivotSource>
    <c:name>[BIG_BIG_CODE (1)(AutoRecovered).xlsx]Pivot Table!PivotTable4</c:name>
    <c:fmtId val="-1"/>
  </c:pivotSource>
  <c:chart>
    <c:autoTitleDeleted val="1"/>
    <c:pivotFmts>
      <c:pivotFmt>
        <c:idx val="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4"/>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bar"/>
        <c:grouping val="stacked"/>
        <c:varyColors val="0"/>
        <c:ser>
          <c:idx val="0"/>
          <c:order val="0"/>
          <c:tx>
            <c:strRef>
              <c:f>'Pivot Table'!$B$81:$B$82</c:f>
              <c:strCache>
                <c:ptCount val="1"/>
                <c:pt idx="0">
                  <c:v>female</c:v>
                </c:pt>
              </c:strCache>
            </c:strRef>
          </c:tx>
          <c:spPr>
            <a:solidFill>
              <a:schemeClr val="accent4">
                <a:shade val="65000"/>
              </a:schemeClr>
            </a:solidFill>
            <a:ln>
              <a:noFill/>
            </a:ln>
            <a:effectLst/>
          </c:spPr>
          <c:invertIfNegative val="0"/>
          <c:cat>
            <c:strRef>
              <c:f>'Pivot Table'!$A$83:$A$100</c:f>
              <c:strCache>
                <c:ptCount val="17"/>
                <c:pt idx="0">
                  <c:v>Wimbledon</c:v>
                </c:pt>
                <c:pt idx="1">
                  <c:v>MK</c:v>
                </c:pt>
                <c:pt idx="2">
                  <c:v>kykNET</c:v>
                </c:pt>
                <c:pt idx="3">
                  <c:v>Break in transmission</c:v>
                </c:pt>
                <c:pt idx="4">
                  <c:v>Vuzu</c:v>
                </c:pt>
                <c:pt idx="5">
                  <c:v>M-Net</c:v>
                </c:pt>
                <c:pt idx="6">
                  <c:v>SawSee</c:v>
                </c:pt>
                <c:pt idx="7">
                  <c:v>E! Entertainment</c:v>
                </c:pt>
                <c:pt idx="8">
                  <c:v>CNN</c:v>
                </c:pt>
                <c:pt idx="9">
                  <c:v>Boomerang</c:v>
                </c:pt>
                <c:pt idx="10">
                  <c:v>Cartoon Network</c:v>
                </c:pt>
                <c:pt idx="11">
                  <c:v>Africa Magic</c:v>
                </c:pt>
                <c:pt idx="12">
                  <c:v>SuperSport Blitz</c:v>
                </c:pt>
                <c:pt idx="13">
                  <c:v>Trace TV</c:v>
                </c:pt>
                <c:pt idx="14">
                  <c:v>Channel O</c:v>
                </c:pt>
                <c:pt idx="15">
                  <c:v>ICC Cricket World Cup 2011</c:v>
                </c:pt>
                <c:pt idx="16">
                  <c:v>Live Events</c:v>
                </c:pt>
              </c:strCache>
            </c:strRef>
          </c:cat>
          <c:val>
            <c:numRef>
              <c:f>'Pivot Table'!$B$83:$B$100</c:f>
              <c:numCache>
                <c:formatCode>General</c:formatCode>
                <c:ptCount val="17"/>
                <c:pt idx="1">
                  <c:v>5</c:v>
                </c:pt>
                <c:pt idx="2">
                  <c:v>1</c:v>
                </c:pt>
                <c:pt idx="3">
                  <c:v>2</c:v>
                </c:pt>
                <c:pt idx="4">
                  <c:v>9</c:v>
                </c:pt>
                <c:pt idx="5">
                  <c:v>10</c:v>
                </c:pt>
                <c:pt idx="6">
                  <c:v>24</c:v>
                </c:pt>
                <c:pt idx="7">
                  <c:v>55</c:v>
                </c:pt>
                <c:pt idx="8">
                  <c:v>36</c:v>
                </c:pt>
                <c:pt idx="9">
                  <c:v>93</c:v>
                </c:pt>
                <c:pt idx="10">
                  <c:v>112</c:v>
                </c:pt>
                <c:pt idx="11">
                  <c:v>171</c:v>
                </c:pt>
                <c:pt idx="12">
                  <c:v>59</c:v>
                </c:pt>
                <c:pt idx="13">
                  <c:v>119</c:v>
                </c:pt>
                <c:pt idx="14">
                  <c:v>105</c:v>
                </c:pt>
                <c:pt idx="15">
                  <c:v>72</c:v>
                </c:pt>
                <c:pt idx="16">
                  <c:v>104</c:v>
                </c:pt>
              </c:numCache>
            </c:numRef>
          </c:val>
          <c:extLst>
            <c:ext xmlns:c16="http://schemas.microsoft.com/office/drawing/2014/chart" uri="{C3380CC4-5D6E-409C-BE32-E72D297353CC}">
              <c16:uniqueId val="{00000000-3DFA-4D3B-8E4F-3C5426ECF87B}"/>
            </c:ext>
          </c:extLst>
        </c:ser>
        <c:ser>
          <c:idx val="1"/>
          <c:order val="1"/>
          <c:tx>
            <c:strRef>
              <c:f>'Pivot Table'!$C$81:$C$82</c:f>
              <c:strCache>
                <c:ptCount val="1"/>
                <c:pt idx="0">
                  <c:v>male</c:v>
                </c:pt>
              </c:strCache>
            </c:strRef>
          </c:tx>
          <c:spPr>
            <a:solidFill>
              <a:schemeClr val="accent2"/>
            </a:solidFill>
            <a:ln>
              <a:noFill/>
            </a:ln>
            <a:effectLst/>
          </c:spPr>
          <c:invertIfNegative val="0"/>
          <c:cat>
            <c:strRef>
              <c:f>'Pivot Table'!$A$83:$A$100</c:f>
              <c:strCache>
                <c:ptCount val="17"/>
                <c:pt idx="0">
                  <c:v>Wimbledon</c:v>
                </c:pt>
                <c:pt idx="1">
                  <c:v>MK</c:v>
                </c:pt>
                <c:pt idx="2">
                  <c:v>kykNET</c:v>
                </c:pt>
                <c:pt idx="3">
                  <c:v>Break in transmission</c:v>
                </c:pt>
                <c:pt idx="4">
                  <c:v>Vuzu</c:v>
                </c:pt>
                <c:pt idx="5">
                  <c:v>M-Net</c:v>
                </c:pt>
                <c:pt idx="6">
                  <c:v>SawSee</c:v>
                </c:pt>
                <c:pt idx="7">
                  <c:v>E! Entertainment</c:v>
                </c:pt>
                <c:pt idx="8">
                  <c:v>CNN</c:v>
                </c:pt>
                <c:pt idx="9">
                  <c:v>Boomerang</c:v>
                </c:pt>
                <c:pt idx="10">
                  <c:v>Cartoon Network</c:v>
                </c:pt>
                <c:pt idx="11">
                  <c:v>Africa Magic</c:v>
                </c:pt>
                <c:pt idx="12">
                  <c:v>SuperSport Blitz</c:v>
                </c:pt>
                <c:pt idx="13">
                  <c:v>Trace TV</c:v>
                </c:pt>
                <c:pt idx="14">
                  <c:v>Channel O</c:v>
                </c:pt>
                <c:pt idx="15">
                  <c:v>ICC Cricket World Cup 2011</c:v>
                </c:pt>
                <c:pt idx="16">
                  <c:v>Live Events</c:v>
                </c:pt>
              </c:strCache>
            </c:strRef>
          </c:cat>
          <c:val>
            <c:numRef>
              <c:f>'Pivot Table'!$C$83:$C$100</c:f>
              <c:numCache>
                <c:formatCode>General</c:formatCode>
                <c:ptCount val="17"/>
                <c:pt idx="0">
                  <c:v>3</c:v>
                </c:pt>
                <c:pt idx="1">
                  <c:v>25</c:v>
                </c:pt>
                <c:pt idx="2">
                  <c:v>40</c:v>
                </c:pt>
                <c:pt idx="3">
                  <c:v>61</c:v>
                </c:pt>
                <c:pt idx="4">
                  <c:v>99</c:v>
                </c:pt>
                <c:pt idx="5">
                  <c:v>103</c:v>
                </c:pt>
                <c:pt idx="6">
                  <c:v>219</c:v>
                </c:pt>
                <c:pt idx="7">
                  <c:v>297</c:v>
                </c:pt>
                <c:pt idx="8">
                  <c:v>459</c:v>
                </c:pt>
                <c:pt idx="9">
                  <c:v>605</c:v>
                </c:pt>
                <c:pt idx="10">
                  <c:v>662</c:v>
                </c:pt>
                <c:pt idx="11">
                  <c:v>675</c:v>
                </c:pt>
                <c:pt idx="12">
                  <c:v>808</c:v>
                </c:pt>
                <c:pt idx="13">
                  <c:v>816</c:v>
                </c:pt>
                <c:pt idx="14">
                  <c:v>918</c:v>
                </c:pt>
                <c:pt idx="15">
                  <c:v>1343</c:v>
                </c:pt>
                <c:pt idx="16">
                  <c:v>1628</c:v>
                </c:pt>
              </c:numCache>
            </c:numRef>
          </c:val>
          <c:extLst>
            <c:ext xmlns:c16="http://schemas.microsoft.com/office/drawing/2014/chart" uri="{C3380CC4-5D6E-409C-BE32-E72D297353CC}">
              <c16:uniqueId val="{00000001-3DFA-4D3B-8E4F-3C5426ECF87B}"/>
            </c:ext>
          </c:extLst>
        </c:ser>
        <c:ser>
          <c:idx val="2"/>
          <c:order val="2"/>
          <c:tx>
            <c:strRef>
              <c:f>'Pivot Table'!$D$81:$D$82</c:f>
              <c:strCache>
                <c:ptCount val="1"/>
                <c:pt idx="0">
                  <c:v>unknown</c:v>
                </c:pt>
              </c:strCache>
            </c:strRef>
          </c:tx>
          <c:spPr>
            <a:solidFill>
              <a:schemeClr val="accent4">
                <a:tint val="65000"/>
              </a:schemeClr>
            </a:solidFill>
            <a:ln>
              <a:noFill/>
            </a:ln>
            <a:effectLst/>
          </c:spPr>
          <c:invertIfNegative val="0"/>
          <c:cat>
            <c:strRef>
              <c:f>'Pivot Table'!$A$83:$A$100</c:f>
              <c:strCache>
                <c:ptCount val="17"/>
                <c:pt idx="0">
                  <c:v>Wimbledon</c:v>
                </c:pt>
                <c:pt idx="1">
                  <c:v>MK</c:v>
                </c:pt>
                <c:pt idx="2">
                  <c:v>kykNET</c:v>
                </c:pt>
                <c:pt idx="3">
                  <c:v>Break in transmission</c:v>
                </c:pt>
                <c:pt idx="4">
                  <c:v>Vuzu</c:v>
                </c:pt>
                <c:pt idx="5">
                  <c:v>M-Net</c:v>
                </c:pt>
                <c:pt idx="6">
                  <c:v>SawSee</c:v>
                </c:pt>
                <c:pt idx="7">
                  <c:v>E! Entertainment</c:v>
                </c:pt>
                <c:pt idx="8">
                  <c:v>CNN</c:v>
                </c:pt>
                <c:pt idx="9">
                  <c:v>Boomerang</c:v>
                </c:pt>
                <c:pt idx="10">
                  <c:v>Cartoon Network</c:v>
                </c:pt>
                <c:pt idx="11">
                  <c:v>Africa Magic</c:v>
                </c:pt>
                <c:pt idx="12">
                  <c:v>SuperSport Blitz</c:v>
                </c:pt>
                <c:pt idx="13">
                  <c:v>Trace TV</c:v>
                </c:pt>
                <c:pt idx="14">
                  <c:v>Channel O</c:v>
                </c:pt>
                <c:pt idx="15">
                  <c:v>ICC Cricket World Cup 2011</c:v>
                </c:pt>
                <c:pt idx="16">
                  <c:v>Live Events</c:v>
                </c:pt>
              </c:strCache>
            </c:strRef>
          </c:cat>
          <c:val>
            <c:numRef>
              <c:f>'Pivot Table'!$D$83:$D$100</c:f>
              <c:numCache>
                <c:formatCode>General</c:formatCode>
                <c:ptCount val="17"/>
                <c:pt idx="1">
                  <c:v>2</c:v>
                </c:pt>
                <c:pt idx="2">
                  <c:v>4</c:v>
                </c:pt>
                <c:pt idx="3">
                  <c:v>3</c:v>
                </c:pt>
                <c:pt idx="4">
                  <c:v>3</c:v>
                </c:pt>
                <c:pt idx="5">
                  <c:v>3</c:v>
                </c:pt>
                <c:pt idx="6">
                  <c:v>12</c:v>
                </c:pt>
                <c:pt idx="7">
                  <c:v>15</c:v>
                </c:pt>
                <c:pt idx="8">
                  <c:v>10</c:v>
                </c:pt>
                <c:pt idx="9">
                  <c:v>16</c:v>
                </c:pt>
                <c:pt idx="10">
                  <c:v>19</c:v>
                </c:pt>
                <c:pt idx="11">
                  <c:v>13</c:v>
                </c:pt>
                <c:pt idx="12">
                  <c:v>29</c:v>
                </c:pt>
                <c:pt idx="13">
                  <c:v>17</c:v>
                </c:pt>
                <c:pt idx="14">
                  <c:v>27</c:v>
                </c:pt>
                <c:pt idx="15">
                  <c:v>50</c:v>
                </c:pt>
                <c:pt idx="16">
                  <c:v>39</c:v>
                </c:pt>
              </c:numCache>
            </c:numRef>
          </c:val>
          <c:extLst>
            <c:ext xmlns:c16="http://schemas.microsoft.com/office/drawing/2014/chart" uri="{C3380CC4-5D6E-409C-BE32-E72D297353CC}">
              <c16:uniqueId val="{00000002-3DFA-4D3B-8E4F-3C5426ECF87B}"/>
            </c:ext>
          </c:extLst>
        </c:ser>
        <c:dLbls>
          <c:showLegendKey val="0"/>
          <c:showVal val="0"/>
          <c:showCatName val="0"/>
          <c:showSerName val="0"/>
          <c:showPercent val="0"/>
          <c:showBubbleSize val="0"/>
        </c:dLbls>
        <c:gapWidth val="150"/>
        <c:overlap val="100"/>
        <c:axId val="1476098719"/>
        <c:axId val="718690031"/>
      </c:barChart>
      <c:catAx>
        <c:axId val="1476098719"/>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crossAx val="718690031"/>
        <c:crosses val="autoZero"/>
        <c:auto val="1"/>
        <c:lblAlgn val="ctr"/>
        <c:lblOffset val="100"/>
        <c:noMultiLvlLbl val="0"/>
      </c:catAx>
      <c:valAx>
        <c:axId val="718690031"/>
        <c:scaling>
          <c:orientation val="minMax"/>
        </c:scaling>
        <c:delete val="0"/>
        <c:axPos val="b"/>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crossAx val="1476098719"/>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1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n>
            <a:solidFill>
              <a:schemeClr val="accent1"/>
            </a:solidFill>
          </a:ln>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[BIG_BIG_CODE (1)(AutoRecovered).xlsx]Pivot Table!PivotTable3</c:name>
    <c:fmtId val="42"/>
  </c:pivotSource>
  <c:chart>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2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3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4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5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6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7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8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9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0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1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5"/>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6"/>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7"/>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8"/>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29"/>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0"/>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1"/>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2"/>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3"/>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4"/>
        <c:spPr>
          <a:solidFill>
            <a:schemeClr val="accent2"/>
          </a:solidFill>
          <a:ln>
            <a:noFill/>
          </a:ln>
          <a:effectLst/>
        </c:spPr>
        <c:marker>
          <c:symbol val="none"/>
        </c:marker>
        <c:dLbl>
          <c:idx val="0"/>
          <c:showLegendKey val="0"/>
          <c:showVal val="0"/>
          <c:showCatName val="0"/>
          <c:showSerName val="0"/>
          <c:showPercent val="0"/>
          <c:showBubbleSize val="0"/>
          <c:extLst>
            <c:ext xmlns:c15="http://schemas.microsoft.com/office/drawing/2012/chart" uri="{CE6537A1-D6FC-4f65-9D91-7224C49458BB}"/>
          </c:extLst>
        </c:dLbl>
      </c:pivotFmt>
      <c:pivotFmt>
        <c:idx val="13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ln>
                    <a:solidFill>
                      <a:schemeClr val="accent1"/>
                    </a:solidFill>
                  </a:ln>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5.4306164294806808E-2"/>
          <c:y val="0.14209477012304408"/>
          <c:w val="0.7058738785434977"/>
          <c:h val="0.81156694927200601"/>
        </c:manualLayout>
      </c:layout>
      <c:barChart>
        <c:barDir val="col"/>
        <c:grouping val="clustered"/>
        <c:varyColors val="0"/>
        <c:ser>
          <c:idx val="0"/>
          <c:order val="0"/>
          <c:tx>
            <c:strRef>
              <c:f>'Pivot Table'!$B$121:$B$122</c:f>
              <c:strCache>
                <c:ptCount val="1"/>
                <c:pt idx="0">
                  <c:v>Africa Magic</c:v>
                </c:pt>
              </c:strCache>
            </c:strRef>
          </c:tx>
          <c:spPr>
            <a:solidFill>
              <a:schemeClr val="accent2"/>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Table'!$B$123:$B$127</c:f>
              <c:numCache>
                <c:formatCode>General</c:formatCode>
                <c:ptCount val="4"/>
                <c:pt idx="0">
                  <c:v>64</c:v>
                </c:pt>
                <c:pt idx="1">
                  <c:v>162</c:v>
                </c:pt>
                <c:pt idx="2">
                  <c:v>204</c:v>
                </c:pt>
                <c:pt idx="3">
                  <c:v>331</c:v>
                </c:pt>
              </c:numCache>
            </c:numRef>
          </c:val>
          <c:extLst>
            <c:ext xmlns:c16="http://schemas.microsoft.com/office/drawing/2014/chart" uri="{C3380CC4-5D6E-409C-BE32-E72D297353CC}">
              <c16:uniqueId val="{00000000-8E4D-4129-98D8-8B9970D70ECC}"/>
            </c:ext>
          </c:extLst>
        </c:ser>
        <c:ser>
          <c:idx val="1"/>
          <c:order val="1"/>
          <c:tx>
            <c:strRef>
              <c:f>'Pivot Table'!$C$121:$C$122</c:f>
              <c:strCache>
                <c:ptCount val="1"/>
                <c:pt idx="0">
                  <c:v>Boomerang</c:v>
                </c:pt>
              </c:strCache>
            </c:strRef>
          </c:tx>
          <c:spPr>
            <a:solidFill>
              <a:schemeClr val="accent4"/>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Table'!$C$123:$C$127</c:f>
              <c:numCache>
                <c:formatCode>General</c:formatCode>
                <c:ptCount val="4"/>
                <c:pt idx="0">
                  <c:v>57</c:v>
                </c:pt>
                <c:pt idx="1">
                  <c:v>156</c:v>
                </c:pt>
                <c:pt idx="2">
                  <c:v>175</c:v>
                </c:pt>
                <c:pt idx="3">
                  <c:v>259</c:v>
                </c:pt>
              </c:numCache>
            </c:numRef>
          </c:val>
          <c:extLst>
            <c:ext xmlns:c16="http://schemas.microsoft.com/office/drawing/2014/chart" uri="{C3380CC4-5D6E-409C-BE32-E72D297353CC}">
              <c16:uniqueId val="{00000001-8E4D-4129-98D8-8B9970D70ECC}"/>
            </c:ext>
          </c:extLst>
        </c:ser>
        <c:ser>
          <c:idx val="2"/>
          <c:order val="2"/>
          <c:tx>
            <c:strRef>
              <c:f>'Pivot Table'!$D$121:$D$122</c:f>
              <c:strCache>
                <c:ptCount val="1"/>
                <c:pt idx="0">
                  <c:v>Break in transmission</c:v>
                </c:pt>
              </c:strCache>
            </c:strRef>
          </c:tx>
          <c:spPr>
            <a:solidFill>
              <a:schemeClr val="accent6"/>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Table'!$D$123:$D$127</c:f>
              <c:numCache>
                <c:formatCode>General</c:formatCode>
                <c:ptCount val="4"/>
                <c:pt idx="0">
                  <c:v>4</c:v>
                </c:pt>
                <c:pt idx="1">
                  <c:v>8</c:v>
                </c:pt>
                <c:pt idx="2">
                  <c:v>11</c:v>
                </c:pt>
                <c:pt idx="3">
                  <c:v>41</c:v>
                </c:pt>
              </c:numCache>
            </c:numRef>
          </c:val>
          <c:extLst>
            <c:ext xmlns:c16="http://schemas.microsoft.com/office/drawing/2014/chart" uri="{C3380CC4-5D6E-409C-BE32-E72D297353CC}">
              <c16:uniqueId val="{00000002-8E4D-4129-98D8-8B9970D70ECC}"/>
            </c:ext>
          </c:extLst>
        </c:ser>
        <c:ser>
          <c:idx val="3"/>
          <c:order val="3"/>
          <c:tx>
            <c:strRef>
              <c:f>'Pivot Table'!$E$121:$E$122</c:f>
              <c:strCache>
                <c:ptCount val="1"/>
                <c:pt idx="0">
                  <c:v>Cartoon Network</c:v>
                </c:pt>
              </c:strCache>
            </c:strRef>
          </c:tx>
          <c:spPr>
            <a:solidFill>
              <a:schemeClr val="accent2">
                <a:lumMod val="6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Table'!$E$123:$E$127</c:f>
              <c:numCache>
                <c:formatCode>General</c:formatCode>
                <c:ptCount val="4"/>
                <c:pt idx="0">
                  <c:v>53</c:v>
                </c:pt>
                <c:pt idx="1">
                  <c:v>182</c:v>
                </c:pt>
                <c:pt idx="2">
                  <c:v>195</c:v>
                </c:pt>
                <c:pt idx="3">
                  <c:v>313</c:v>
                </c:pt>
              </c:numCache>
            </c:numRef>
          </c:val>
          <c:extLst>
            <c:ext xmlns:c16="http://schemas.microsoft.com/office/drawing/2014/chart" uri="{C3380CC4-5D6E-409C-BE32-E72D297353CC}">
              <c16:uniqueId val="{00000003-8E4D-4129-98D8-8B9970D70ECC}"/>
            </c:ext>
          </c:extLst>
        </c:ser>
        <c:ser>
          <c:idx val="4"/>
          <c:order val="4"/>
          <c:tx>
            <c:strRef>
              <c:f>'Pivot Table'!$F$121:$F$122</c:f>
              <c:strCache>
                <c:ptCount val="1"/>
                <c:pt idx="0">
                  <c:v>Channel O</c:v>
                </c:pt>
              </c:strCache>
            </c:strRef>
          </c:tx>
          <c:spPr>
            <a:solidFill>
              <a:schemeClr val="accent4">
                <a:lumMod val="6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Table'!$F$123:$F$127</c:f>
              <c:numCache>
                <c:formatCode>General</c:formatCode>
                <c:ptCount val="4"/>
                <c:pt idx="0">
                  <c:v>65</c:v>
                </c:pt>
                <c:pt idx="1">
                  <c:v>230</c:v>
                </c:pt>
                <c:pt idx="2">
                  <c:v>253</c:v>
                </c:pt>
                <c:pt idx="3">
                  <c:v>359</c:v>
                </c:pt>
              </c:numCache>
            </c:numRef>
          </c:val>
          <c:extLst>
            <c:ext xmlns:c16="http://schemas.microsoft.com/office/drawing/2014/chart" uri="{C3380CC4-5D6E-409C-BE32-E72D297353CC}">
              <c16:uniqueId val="{00000004-8E4D-4129-98D8-8B9970D70ECC}"/>
            </c:ext>
          </c:extLst>
        </c:ser>
        <c:ser>
          <c:idx val="5"/>
          <c:order val="5"/>
          <c:tx>
            <c:strRef>
              <c:f>'Pivot Table'!$G$121:$G$122</c:f>
              <c:strCache>
                <c:ptCount val="1"/>
                <c:pt idx="0">
                  <c:v>CNN</c:v>
                </c:pt>
              </c:strCache>
            </c:strRef>
          </c:tx>
          <c:spPr>
            <a:solidFill>
              <a:schemeClr val="accent6">
                <a:lumMod val="6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Table'!$G$123:$G$127</c:f>
              <c:numCache>
                <c:formatCode>General</c:formatCode>
                <c:ptCount val="4"/>
                <c:pt idx="0">
                  <c:v>38</c:v>
                </c:pt>
                <c:pt idx="1">
                  <c:v>129</c:v>
                </c:pt>
                <c:pt idx="2">
                  <c:v>100</c:v>
                </c:pt>
                <c:pt idx="3">
                  <c:v>168</c:v>
                </c:pt>
              </c:numCache>
            </c:numRef>
          </c:val>
          <c:extLst>
            <c:ext xmlns:c16="http://schemas.microsoft.com/office/drawing/2014/chart" uri="{C3380CC4-5D6E-409C-BE32-E72D297353CC}">
              <c16:uniqueId val="{00000005-8E4D-4129-98D8-8B9970D70ECC}"/>
            </c:ext>
          </c:extLst>
        </c:ser>
        <c:ser>
          <c:idx val="6"/>
          <c:order val="6"/>
          <c:tx>
            <c:strRef>
              <c:f>'Pivot Table'!$H$121:$H$122</c:f>
              <c:strCache>
                <c:ptCount val="1"/>
                <c:pt idx="0">
                  <c:v>E! Entertainment</c:v>
                </c:pt>
              </c:strCache>
            </c:strRef>
          </c:tx>
          <c:spPr>
            <a:solidFill>
              <a:schemeClr val="accent2">
                <a:lumMod val="80000"/>
                <a:lumOff val="2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Table'!$H$123:$H$127</c:f>
              <c:numCache>
                <c:formatCode>General</c:formatCode>
                <c:ptCount val="4"/>
                <c:pt idx="0">
                  <c:v>31</c:v>
                </c:pt>
                <c:pt idx="1">
                  <c:v>64</c:v>
                </c:pt>
                <c:pt idx="2">
                  <c:v>88</c:v>
                </c:pt>
                <c:pt idx="3">
                  <c:v>168</c:v>
                </c:pt>
              </c:numCache>
            </c:numRef>
          </c:val>
          <c:extLst>
            <c:ext xmlns:c16="http://schemas.microsoft.com/office/drawing/2014/chart" uri="{C3380CC4-5D6E-409C-BE32-E72D297353CC}">
              <c16:uniqueId val="{00000006-8E4D-4129-98D8-8B9970D70ECC}"/>
            </c:ext>
          </c:extLst>
        </c:ser>
        <c:ser>
          <c:idx val="7"/>
          <c:order val="7"/>
          <c:tx>
            <c:strRef>
              <c:f>'Pivot Table'!$I$121:$I$122</c:f>
              <c:strCache>
                <c:ptCount val="1"/>
                <c:pt idx="0">
                  <c:v>ICC Cricket World Cup 2011</c:v>
                </c:pt>
              </c:strCache>
            </c:strRef>
          </c:tx>
          <c:spPr>
            <a:solidFill>
              <a:schemeClr val="accent4">
                <a:lumMod val="80000"/>
                <a:lumOff val="2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Table'!$I$123:$I$127</c:f>
              <c:numCache>
                <c:formatCode>General</c:formatCode>
                <c:ptCount val="4"/>
                <c:pt idx="0">
                  <c:v>7</c:v>
                </c:pt>
                <c:pt idx="1">
                  <c:v>340</c:v>
                </c:pt>
                <c:pt idx="2">
                  <c:v>631</c:v>
                </c:pt>
                <c:pt idx="3">
                  <c:v>258</c:v>
                </c:pt>
              </c:numCache>
            </c:numRef>
          </c:val>
          <c:extLst>
            <c:ext xmlns:c16="http://schemas.microsoft.com/office/drawing/2014/chart" uri="{C3380CC4-5D6E-409C-BE32-E72D297353CC}">
              <c16:uniqueId val="{00000007-8E4D-4129-98D8-8B9970D70ECC}"/>
            </c:ext>
          </c:extLst>
        </c:ser>
        <c:ser>
          <c:idx val="8"/>
          <c:order val="8"/>
          <c:tx>
            <c:strRef>
              <c:f>'Pivot Table'!$J$121:$J$122</c:f>
              <c:strCache>
                <c:ptCount val="1"/>
                <c:pt idx="0">
                  <c:v>kykNET</c:v>
                </c:pt>
              </c:strCache>
            </c:strRef>
          </c:tx>
          <c:spPr>
            <a:solidFill>
              <a:schemeClr val="accent6">
                <a:lumMod val="80000"/>
                <a:lumOff val="2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Table'!$J$123:$J$127</c:f>
              <c:numCache>
                <c:formatCode>General</c:formatCode>
                <c:ptCount val="4"/>
                <c:pt idx="0">
                  <c:v>4</c:v>
                </c:pt>
                <c:pt idx="1">
                  <c:v>6</c:v>
                </c:pt>
                <c:pt idx="2">
                  <c:v>8</c:v>
                </c:pt>
                <c:pt idx="3">
                  <c:v>27</c:v>
                </c:pt>
              </c:numCache>
            </c:numRef>
          </c:val>
          <c:extLst>
            <c:ext xmlns:c16="http://schemas.microsoft.com/office/drawing/2014/chart" uri="{C3380CC4-5D6E-409C-BE32-E72D297353CC}">
              <c16:uniqueId val="{00000008-8E4D-4129-98D8-8B9970D70ECC}"/>
            </c:ext>
          </c:extLst>
        </c:ser>
        <c:ser>
          <c:idx val="9"/>
          <c:order val="9"/>
          <c:tx>
            <c:strRef>
              <c:f>'Pivot Table'!$K$121:$K$122</c:f>
              <c:strCache>
                <c:ptCount val="1"/>
                <c:pt idx="0">
                  <c:v>Live Events</c:v>
                </c:pt>
              </c:strCache>
            </c:strRef>
          </c:tx>
          <c:spPr>
            <a:solidFill>
              <a:schemeClr val="accent2">
                <a:lumMod val="8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Table'!$K$123:$K$127</c:f>
              <c:numCache>
                <c:formatCode>General</c:formatCode>
                <c:ptCount val="4"/>
                <c:pt idx="0">
                  <c:v>44</c:v>
                </c:pt>
                <c:pt idx="1">
                  <c:v>332</c:v>
                </c:pt>
                <c:pt idx="2">
                  <c:v>468</c:v>
                </c:pt>
                <c:pt idx="3">
                  <c:v>640</c:v>
                </c:pt>
              </c:numCache>
            </c:numRef>
          </c:val>
          <c:extLst>
            <c:ext xmlns:c16="http://schemas.microsoft.com/office/drawing/2014/chart" uri="{C3380CC4-5D6E-409C-BE32-E72D297353CC}">
              <c16:uniqueId val="{00000009-8E4D-4129-98D8-8B9970D70ECC}"/>
            </c:ext>
          </c:extLst>
        </c:ser>
        <c:ser>
          <c:idx val="10"/>
          <c:order val="10"/>
          <c:tx>
            <c:strRef>
              <c:f>'Pivot Table'!$L$121:$L$122</c:f>
              <c:strCache>
                <c:ptCount val="1"/>
                <c:pt idx="0">
                  <c:v>MK</c:v>
                </c:pt>
              </c:strCache>
            </c:strRef>
          </c:tx>
          <c:spPr>
            <a:solidFill>
              <a:schemeClr val="accent4">
                <a:lumMod val="8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Table'!$L$123:$L$127</c:f>
              <c:numCache>
                <c:formatCode>General</c:formatCode>
                <c:ptCount val="4"/>
                <c:pt idx="0">
                  <c:v>4</c:v>
                </c:pt>
                <c:pt idx="1">
                  <c:v>7</c:v>
                </c:pt>
                <c:pt idx="2">
                  <c:v>7</c:v>
                </c:pt>
                <c:pt idx="3">
                  <c:v>14</c:v>
                </c:pt>
              </c:numCache>
            </c:numRef>
          </c:val>
          <c:extLst>
            <c:ext xmlns:c16="http://schemas.microsoft.com/office/drawing/2014/chart" uri="{C3380CC4-5D6E-409C-BE32-E72D297353CC}">
              <c16:uniqueId val="{0000000A-8E4D-4129-98D8-8B9970D70ECC}"/>
            </c:ext>
          </c:extLst>
        </c:ser>
        <c:ser>
          <c:idx val="11"/>
          <c:order val="11"/>
          <c:tx>
            <c:strRef>
              <c:f>'Pivot Table'!$M$121:$M$122</c:f>
              <c:strCache>
                <c:ptCount val="1"/>
                <c:pt idx="0">
                  <c:v>M-Net</c:v>
                </c:pt>
              </c:strCache>
            </c:strRef>
          </c:tx>
          <c:spPr>
            <a:solidFill>
              <a:schemeClr val="accent6">
                <a:lumMod val="8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Table'!$M$123:$M$127</c:f>
              <c:numCache>
                <c:formatCode>General</c:formatCode>
                <c:ptCount val="4"/>
                <c:pt idx="0">
                  <c:v>10</c:v>
                </c:pt>
                <c:pt idx="1">
                  <c:v>19</c:v>
                </c:pt>
                <c:pt idx="2">
                  <c:v>29</c:v>
                </c:pt>
                <c:pt idx="3">
                  <c:v>52</c:v>
                </c:pt>
              </c:numCache>
            </c:numRef>
          </c:val>
          <c:extLst>
            <c:ext xmlns:c16="http://schemas.microsoft.com/office/drawing/2014/chart" uri="{C3380CC4-5D6E-409C-BE32-E72D297353CC}">
              <c16:uniqueId val="{0000000B-8E4D-4129-98D8-8B9970D70ECC}"/>
            </c:ext>
          </c:extLst>
        </c:ser>
        <c:ser>
          <c:idx val="12"/>
          <c:order val="12"/>
          <c:tx>
            <c:strRef>
              <c:f>'Pivot Table'!$N$121:$N$122</c:f>
              <c:strCache>
                <c:ptCount val="1"/>
                <c:pt idx="0">
                  <c:v>SawSee</c:v>
                </c:pt>
              </c:strCache>
            </c:strRef>
          </c:tx>
          <c:spPr>
            <a:solidFill>
              <a:schemeClr val="accent2">
                <a:lumMod val="60000"/>
                <a:lumOff val="4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Table'!$N$123:$N$127</c:f>
              <c:numCache>
                <c:formatCode>General</c:formatCode>
                <c:ptCount val="4"/>
                <c:pt idx="0">
                  <c:v>24</c:v>
                </c:pt>
                <c:pt idx="1">
                  <c:v>52</c:v>
                </c:pt>
                <c:pt idx="2">
                  <c:v>59</c:v>
                </c:pt>
                <c:pt idx="3">
                  <c:v>111</c:v>
                </c:pt>
              </c:numCache>
            </c:numRef>
          </c:val>
          <c:extLst>
            <c:ext xmlns:c16="http://schemas.microsoft.com/office/drawing/2014/chart" uri="{C3380CC4-5D6E-409C-BE32-E72D297353CC}">
              <c16:uniqueId val="{0000000C-8E4D-4129-98D8-8B9970D70ECC}"/>
            </c:ext>
          </c:extLst>
        </c:ser>
        <c:ser>
          <c:idx val="13"/>
          <c:order val="13"/>
          <c:tx>
            <c:strRef>
              <c:f>'Pivot Table'!$O$121:$O$122</c:f>
              <c:strCache>
                <c:ptCount val="1"/>
                <c:pt idx="0">
                  <c:v>SuperSport Blitz</c:v>
                </c:pt>
              </c:strCache>
            </c:strRef>
          </c:tx>
          <c:spPr>
            <a:solidFill>
              <a:schemeClr val="accent4">
                <a:lumMod val="60000"/>
                <a:lumOff val="4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Table'!$O$123:$O$127</c:f>
              <c:numCache>
                <c:formatCode>General</c:formatCode>
                <c:ptCount val="4"/>
                <c:pt idx="0">
                  <c:v>48</c:v>
                </c:pt>
                <c:pt idx="1">
                  <c:v>216</c:v>
                </c:pt>
                <c:pt idx="2">
                  <c:v>227</c:v>
                </c:pt>
                <c:pt idx="3">
                  <c:v>339</c:v>
                </c:pt>
              </c:numCache>
            </c:numRef>
          </c:val>
          <c:extLst>
            <c:ext xmlns:c16="http://schemas.microsoft.com/office/drawing/2014/chart" uri="{C3380CC4-5D6E-409C-BE32-E72D297353CC}">
              <c16:uniqueId val="{0000000D-8E4D-4129-98D8-8B9970D70ECC}"/>
            </c:ext>
          </c:extLst>
        </c:ser>
        <c:ser>
          <c:idx val="14"/>
          <c:order val="14"/>
          <c:tx>
            <c:strRef>
              <c:f>'Pivot Table'!$P$121:$P$122</c:f>
              <c:strCache>
                <c:ptCount val="1"/>
                <c:pt idx="0">
                  <c:v>Trace TV</c:v>
                </c:pt>
              </c:strCache>
            </c:strRef>
          </c:tx>
          <c:spPr>
            <a:solidFill>
              <a:schemeClr val="accent6">
                <a:lumMod val="60000"/>
                <a:lumOff val="4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Table'!$P$123:$P$127</c:f>
              <c:numCache>
                <c:formatCode>General</c:formatCode>
                <c:ptCount val="4"/>
                <c:pt idx="0">
                  <c:v>68</c:v>
                </c:pt>
                <c:pt idx="1">
                  <c:v>187</c:v>
                </c:pt>
                <c:pt idx="2">
                  <c:v>235</c:v>
                </c:pt>
                <c:pt idx="3">
                  <c:v>360</c:v>
                </c:pt>
              </c:numCache>
            </c:numRef>
          </c:val>
          <c:extLst>
            <c:ext xmlns:c16="http://schemas.microsoft.com/office/drawing/2014/chart" uri="{C3380CC4-5D6E-409C-BE32-E72D297353CC}">
              <c16:uniqueId val="{0000000E-8E4D-4129-98D8-8B9970D70ECC}"/>
            </c:ext>
          </c:extLst>
        </c:ser>
        <c:ser>
          <c:idx val="15"/>
          <c:order val="15"/>
          <c:tx>
            <c:strRef>
              <c:f>'Pivot Table'!$Q$121:$Q$122</c:f>
              <c:strCache>
                <c:ptCount val="1"/>
                <c:pt idx="0">
                  <c:v>Vuzu</c:v>
                </c:pt>
              </c:strCache>
            </c:strRef>
          </c:tx>
          <c:spPr>
            <a:solidFill>
              <a:schemeClr val="accent2">
                <a:lumMod val="5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Table'!$Q$123:$Q$127</c:f>
              <c:numCache>
                <c:formatCode>General</c:formatCode>
                <c:ptCount val="4"/>
                <c:pt idx="0">
                  <c:v>14</c:v>
                </c:pt>
                <c:pt idx="1">
                  <c:v>19</c:v>
                </c:pt>
                <c:pt idx="2">
                  <c:v>28</c:v>
                </c:pt>
                <c:pt idx="3">
                  <c:v>43</c:v>
                </c:pt>
              </c:numCache>
            </c:numRef>
          </c:val>
          <c:extLst>
            <c:ext xmlns:c16="http://schemas.microsoft.com/office/drawing/2014/chart" uri="{C3380CC4-5D6E-409C-BE32-E72D297353CC}">
              <c16:uniqueId val="{0000000F-8E4D-4129-98D8-8B9970D70ECC}"/>
            </c:ext>
          </c:extLst>
        </c:ser>
        <c:ser>
          <c:idx val="16"/>
          <c:order val="16"/>
          <c:tx>
            <c:strRef>
              <c:f>'Pivot Table'!$R$121:$R$122</c:f>
              <c:strCache>
                <c:ptCount val="1"/>
                <c:pt idx="0">
                  <c:v>Wimbledon</c:v>
                </c:pt>
              </c:strCache>
            </c:strRef>
          </c:tx>
          <c:spPr>
            <a:solidFill>
              <a:schemeClr val="accent4">
                <a:lumMod val="50000"/>
              </a:schemeClr>
            </a:solidFill>
            <a:ln>
              <a:noFill/>
            </a:ln>
            <a:effectLst/>
          </c:spPr>
          <c:invertIfNegative val="0"/>
          <c:cat>
            <c:strRef>
              <c:f>'Pivot Table'!$A$123:$A$127</c:f>
              <c:strCache>
                <c:ptCount val="4"/>
                <c:pt idx="0">
                  <c:v>01. Midnight</c:v>
                </c:pt>
                <c:pt idx="1">
                  <c:v>02. Morning</c:v>
                </c:pt>
                <c:pt idx="2">
                  <c:v>03. Afternoon</c:v>
                </c:pt>
                <c:pt idx="3">
                  <c:v>04. Evening</c:v>
                </c:pt>
              </c:strCache>
            </c:strRef>
          </c:cat>
          <c:val>
            <c:numRef>
              <c:f>'Pivot Table'!$R$123:$R$127</c:f>
              <c:numCache>
                <c:formatCode>General</c:formatCode>
                <c:ptCount val="4"/>
                <c:pt idx="1">
                  <c:v>1</c:v>
                </c:pt>
                <c:pt idx="2">
                  <c:v>2</c:v>
                </c:pt>
              </c:numCache>
            </c:numRef>
          </c:val>
          <c:extLst>
            <c:ext xmlns:c16="http://schemas.microsoft.com/office/drawing/2014/chart" uri="{C3380CC4-5D6E-409C-BE32-E72D297353CC}">
              <c16:uniqueId val="{00000010-8E4D-4129-98D8-8B9970D70ECC}"/>
            </c:ext>
          </c:extLst>
        </c:ser>
        <c:dLbls>
          <c:showLegendKey val="0"/>
          <c:showVal val="0"/>
          <c:showCatName val="0"/>
          <c:showSerName val="0"/>
          <c:showPercent val="0"/>
          <c:showBubbleSize val="0"/>
        </c:dLbls>
        <c:gapWidth val="219"/>
        <c:overlap val="-27"/>
        <c:axId val="1801886895"/>
        <c:axId val="1804911503"/>
      </c:barChart>
      <c:catAx>
        <c:axId val="180188689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crossAx val="1804911503"/>
        <c:crosses val="autoZero"/>
        <c:auto val="1"/>
        <c:lblAlgn val="ctr"/>
        <c:lblOffset val="100"/>
        <c:noMultiLvlLbl val="0"/>
      </c:catAx>
      <c:valAx>
        <c:axId val="180491150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crossAx val="18018868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ln>
                <a:solidFill>
                  <a:schemeClr val="accent1"/>
                </a:solidFill>
              </a:ln>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n>
            <a:solidFill>
              <a:schemeClr val="accent1"/>
            </a:solidFill>
          </a:ln>
        </a:defRPr>
      </a:pPr>
      <a:endParaRPr lang="en-US"/>
    </a:p>
  </c:txPr>
  <c:externalData r:id="rId3">
    <c:autoUpdate val="0"/>
  </c:externalData>
  <c:userShapes r:id="rId4"/>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[BIG_BIG_CODE (1)(AutoRecovered).xlsx]Pivot Table!PivotTable10</c:name>
    <c:fmtId val="30"/>
  </c:pivotSource>
  <c:chart>
    <c:autoTitleDeleted val="1"/>
    <c:pivotFmts>
      <c:pivotFmt>
        <c:idx val="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6"/>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7"/>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8"/>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9"/>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0"/>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1"/>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2"/>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3"/>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4"/>
        <c:spPr>
          <a:solidFill>
            <a:schemeClr val="accent6"/>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stacked"/>
        <c:varyColors val="0"/>
        <c:ser>
          <c:idx val="0"/>
          <c:order val="0"/>
          <c:tx>
            <c:strRef>
              <c:f>'Pivot Table'!$B$109:$B$110</c:f>
              <c:strCache>
                <c:ptCount val="1"/>
                <c:pt idx="0">
                  <c:v>black</c:v>
                </c:pt>
              </c:strCache>
            </c:strRef>
          </c:tx>
          <c:spPr>
            <a:solidFill>
              <a:schemeClr val="accent6"/>
            </a:solidFill>
            <a:ln>
              <a:noFill/>
            </a:ln>
            <a:effectLst/>
          </c:spPr>
          <c:invertIfNegative val="0"/>
          <c:cat>
            <c:strRef>
              <c:f>'Pivot Table'!$A$111:$A$115</c:f>
              <c:strCache>
                <c:ptCount val="4"/>
                <c:pt idx="0">
                  <c:v>01. Low Usage (&lt;30 min)</c:v>
                </c:pt>
                <c:pt idx="1">
                  <c:v>02. Medium Usage (&lt;60 min)</c:v>
                </c:pt>
                <c:pt idx="2">
                  <c:v>03. High Usage (&gt;60 min)</c:v>
                </c:pt>
                <c:pt idx="3">
                  <c:v>04. No Usage</c:v>
                </c:pt>
              </c:strCache>
            </c:strRef>
          </c:cat>
          <c:val>
            <c:numRef>
              <c:f>'Pivot Table'!$B$111:$B$115</c:f>
              <c:numCache>
                <c:formatCode>General</c:formatCode>
                <c:ptCount val="4"/>
                <c:pt idx="0">
                  <c:v>670</c:v>
                </c:pt>
                <c:pt idx="1">
                  <c:v>153</c:v>
                </c:pt>
                <c:pt idx="2">
                  <c:v>92</c:v>
                </c:pt>
                <c:pt idx="3">
                  <c:v>1411</c:v>
                </c:pt>
              </c:numCache>
            </c:numRef>
          </c:val>
          <c:extLst>
            <c:ext xmlns:c16="http://schemas.microsoft.com/office/drawing/2014/chart" uri="{C3380CC4-5D6E-409C-BE32-E72D297353CC}">
              <c16:uniqueId val="{00000000-731E-4DB7-8DB8-38A02E1E64FF}"/>
            </c:ext>
          </c:extLst>
        </c:ser>
        <c:ser>
          <c:idx val="1"/>
          <c:order val="1"/>
          <c:tx>
            <c:strRef>
              <c:f>'Pivot Table'!$C$109:$C$110</c:f>
              <c:strCache>
                <c:ptCount val="1"/>
                <c:pt idx="0">
                  <c:v>coloured</c:v>
                </c:pt>
              </c:strCache>
            </c:strRef>
          </c:tx>
          <c:spPr>
            <a:solidFill>
              <a:schemeClr val="accent5"/>
            </a:solidFill>
            <a:ln>
              <a:noFill/>
            </a:ln>
            <a:effectLst/>
          </c:spPr>
          <c:invertIfNegative val="0"/>
          <c:cat>
            <c:strRef>
              <c:f>'Pivot Table'!$A$111:$A$115</c:f>
              <c:strCache>
                <c:ptCount val="4"/>
                <c:pt idx="0">
                  <c:v>01. Low Usage (&lt;30 min)</c:v>
                </c:pt>
                <c:pt idx="1">
                  <c:v>02. Medium Usage (&lt;60 min)</c:v>
                </c:pt>
                <c:pt idx="2">
                  <c:v>03. High Usage (&gt;60 min)</c:v>
                </c:pt>
                <c:pt idx="3">
                  <c:v>04. No Usage</c:v>
                </c:pt>
              </c:strCache>
            </c:strRef>
          </c:cat>
          <c:val>
            <c:numRef>
              <c:f>'Pivot Table'!$C$111:$C$115</c:f>
              <c:numCache>
                <c:formatCode>General</c:formatCode>
                <c:ptCount val="4"/>
                <c:pt idx="0">
                  <c:v>288</c:v>
                </c:pt>
                <c:pt idx="1">
                  <c:v>70</c:v>
                </c:pt>
                <c:pt idx="2">
                  <c:v>41</c:v>
                </c:pt>
                <c:pt idx="3">
                  <c:v>540</c:v>
                </c:pt>
              </c:numCache>
            </c:numRef>
          </c:val>
          <c:extLst>
            <c:ext xmlns:c16="http://schemas.microsoft.com/office/drawing/2014/chart" uri="{C3380CC4-5D6E-409C-BE32-E72D297353CC}">
              <c16:uniqueId val="{00000001-731E-4DB7-8DB8-38A02E1E64FF}"/>
            </c:ext>
          </c:extLst>
        </c:ser>
        <c:ser>
          <c:idx val="2"/>
          <c:order val="2"/>
          <c:tx>
            <c:strRef>
              <c:f>'Pivot Table'!$D$109:$D$110</c:f>
              <c:strCache>
                <c:ptCount val="1"/>
                <c:pt idx="0">
                  <c:v>indian_asian</c:v>
                </c:pt>
              </c:strCache>
            </c:strRef>
          </c:tx>
          <c:spPr>
            <a:solidFill>
              <a:schemeClr val="accent4"/>
            </a:solidFill>
            <a:ln>
              <a:noFill/>
            </a:ln>
            <a:effectLst/>
          </c:spPr>
          <c:invertIfNegative val="0"/>
          <c:cat>
            <c:strRef>
              <c:f>'Pivot Table'!$A$111:$A$115</c:f>
              <c:strCache>
                <c:ptCount val="4"/>
                <c:pt idx="0">
                  <c:v>01. Low Usage (&lt;30 min)</c:v>
                </c:pt>
                <c:pt idx="1">
                  <c:v>02. Medium Usage (&lt;60 min)</c:v>
                </c:pt>
                <c:pt idx="2">
                  <c:v>03. High Usage (&gt;60 min)</c:v>
                </c:pt>
                <c:pt idx="3">
                  <c:v>04. No Usage</c:v>
                </c:pt>
              </c:strCache>
            </c:strRef>
          </c:cat>
          <c:val>
            <c:numRef>
              <c:f>'Pivot Table'!$D$111:$D$115</c:f>
              <c:numCache>
                <c:formatCode>General</c:formatCode>
                <c:ptCount val="4"/>
                <c:pt idx="0">
                  <c:v>288</c:v>
                </c:pt>
                <c:pt idx="1">
                  <c:v>83</c:v>
                </c:pt>
                <c:pt idx="2">
                  <c:v>86</c:v>
                </c:pt>
                <c:pt idx="3">
                  <c:v>576</c:v>
                </c:pt>
              </c:numCache>
            </c:numRef>
          </c:val>
          <c:extLst>
            <c:ext xmlns:c16="http://schemas.microsoft.com/office/drawing/2014/chart" uri="{C3380CC4-5D6E-409C-BE32-E72D297353CC}">
              <c16:uniqueId val="{00000002-731E-4DB7-8DB8-38A02E1E64FF}"/>
            </c:ext>
          </c:extLst>
        </c:ser>
        <c:ser>
          <c:idx val="3"/>
          <c:order val="3"/>
          <c:tx>
            <c:strRef>
              <c:f>'Pivot Table'!$E$109:$E$110</c:f>
              <c:strCache>
                <c:ptCount val="1"/>
                <c:pt idx="0">
                  <c:v>unknown</c:v>
                </c:pt>
              </c:strCache>
            </c:strRef>
          </c:tx>
          <c:spPr>
            <a:solidFill>
              <a:schemeClr val="accent6">
                <a:lumMod val="60000"/>
              </a:schemeClr>
            </a:solidFill>
            <a:ln>
              <a:noFill/>
            </a:ln>
            <a:effectLst/>
          </c:spPr>
          <c:invertIfNegative val="0"/>
          <c:cat>
            <c:strRef>
              <c:f>'Pivot Table'!$A$111:$A$115</c:f>
              <c:strCache>
                <c:ptCount val="4"/>
                <c:pt idx="0">
                  <c:v>01. Low Usage (&lt;30 min)</c:v>
                </c:pt>
                <c:pt idx="1">
                  <c:v>02. Medium Usage (&lt;60 min)</c:v>
                </c:pt>
                <c:pt idx="2">
                  <c:v>03. High Usage (&gt;60 min)</c:v>
                </c:pt>
                <c:pt idx="3">
                  <c:v>04. No Usage</c:v>
                </c:pt>
              </c:strCache>
            </c:strRef>
          </c:cat>
          <c:val>
            <c:numRef>
              <c:f>'Pivot Table'!$E$111:$E$115</c:f>
              <c:numCache>
                <c:formatCode>General</c:formatCode>
                <c:ptCount val="4"/>
                <c:pt idx="0">
                  <c:v>196</c:v>
                </c:pt>
                <c:pt idx="1">
                  <c:v>39</c:v>
                </c:pt>
                <c:pt idx="2">
                  <c:v>33</c:v>
                </c:pt>
                <c:pt idx="3">
                  <c:v>469</c:v>
                </c:pt>
              </c:numCache>
            </c:numRef>
          </c:val>
          <c:extLst>
            <c:ext xmlns:c16="http://schemas.microsoft.com/office/drawing/2014/chart" uri="{C3380CC4-5D6E-409C-BE32-E72D297353CC}">
              <c16:uniqueId val="{00000003-731E-4DB7-8DB8-38A02E1E64FF}"/>
            </c:ext>
          </c:extLst>
        </c:ser>
        <c:ser>
          <c:idx val="4"/>
          <c:order val="4"/>
          <c:tx>
            <c:strRef>
              <c:f>'Pivot Table'!$F$109:$F$110</c:f>
              <c:strCache>
                <c:ptCount val="1"/>
                <c:pt idx="0">
                  <c:v>white</c:v>
                </c:pt>
              </c:strCache>
            </c:strRef>
          </c:tx>
          <c:spPr>
            <a:solidFill>
              <a:schemeClr val="accent5">
                <a:lumMod val="60000"/>
              </a:schemeClr>
            </a:solidFill>
            <a:ln>
              <a:noFill/>
            </a:ln>
            <a:effectLst/>
          </c:spPr>
          <c:invertIfNegative val="0"/>
          <c:cat>
            <c:strRef>
              <c:f>'Pivot Table'!$A$111:$A$115</c:f>
              <c:strCache>
                <c:ptCount val="4"/>
                <c:pt idx="0">
                  <c:v>01. Low Usage (&lt;30 min)</c:v>
                </c:pt>
                <c:pt idx="1">
                  <c:v>02. Medium Usage (&lt;60 min)</c:v>
                </c:pt>
                <c:pt idx="2">
                  <c:v>03. High Usage (&gt;60 min)</c:v>
                </c:pt>
                <c:pt idx="3">
                  <c:v>04. No Usage</c:v>
                </c:pt>
              </c:strCache>
            </c:strRef>
          </c:cat>
          <c:val>
            <c:numRef>
              <c:f>'Pivot Table'!$F$111:$F$115</c:f>
              <c:numCache>
                <c:formatCode>General</c:formatCode>
                <c:ptCount val="4"/>
                <c:pt idx="0">
                  <c:v>210</c:v>
                </c:pt>
                <c:pt idx="1">
                  <c:v>47</c:v>
                </c:pt>
                <c:pt idx="2">
                  <c:v>33</c:v>
                </c:pt>
                <c:pt idx="3">
                  <c:v>596</c:v>
                </c:pt>
              </c:numCache>
            </c:numRef>
          </c:val>
          <c:extLst>
            <c:ext xmlns:c16="http://schemas.microsoft.com/office/drawing/2014/chart" uri="{C3380CC4-5D6E-409C-BE32-E72D297353CC}">
              <c16:uniqueId val="{00000004-731E-4DB7-8DB8-38A02E1E64FF}"/>
            </c:ext>
          </c:extLst>
        </c:ser>
        <c:dLbls>
          <c:showLegendKey val="0"/>
          <c:showVal val="0"/>
          <c:showCatName val="0"/>
          <c:showSerName val="0"/>
          <c:showPercent val="0"/>
          <c:showBubbleSize val="0"/>
        </c:dLbls>
        <c:gapWidth val="150"/>
        <c:overlap val="100"/>
        <c:axId val="1816670703"/>
        <c:axId val="1811814511"/>
      </c:barChart>
      <c:catAx>
        <c:axId val="181667070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811814511"/>
        <c:crosses val="autoZero"/>
        <c:auto val="1"/>
        <c:lblAlgn val="ctr"/>
        <c:lblOffset val="100"/>
        <c:noMultiLvlLbl val="0"/>
      </c:catAx>
      <c:valAx>
        <c:axId val="181181451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816670703"/>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1">
  <a:schemeClr val="accent1"/>
  <a:schemeClr val="accent3"/>
  <a:schemeClr val="accent5"/>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withinLinear" id="17">
  <a:schemeClr val="accent4"/>
</cs:colorStyle>
</file>

<file path=ppt/charts/colors7.xml><?xml version="1.0" encoding="utf-8"?>
<cs:colorStyle xmlns:cs="http://schemas.microsoft.com/office/drawing/2012/chartStyle" xmlns:a="http://schemas.openxmlformats.org/drawingml/2006/main" meth="withinLinear" id="17">
  <a:schemeClr val="accent4"/>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withinLinear" id="17">
  <a:schemeClr val="accent4"/>
</cs:colorStyle>
</file>

<file path=ppt/charts/colors10.xml><?xml version="1.0" encoding="utf-8"?>
<cs:colorStyle xmlns:cs="http://schemas.microsoft.com/office/drawing/2012/chartStyle" xmlns:a="http://schemas.openxmlformats.org/drawingml/2006/main" meth="withinLinear" id="17">
  <a:schemeClr val="accent4"/>
</cs:colorStyle>
</file>

<file path=ppt/charts/colors11.xml><?xml version="1.0" encoding="utf-8"?>
<cs:colorStyle xmlns:cs="http://schemas.microsoft.com/office/drawing/2012/chartStyle" xmlns:a="http://schemas.openxmlformats.org/drawingml/2006/main" meth="withinLinear" id="17">
  <a:schemeClr val="accent4"/>
</cs:colorStyle>
</file>

<file path=ppt/charts/colors12.xml><?xml version="1.0" encoding="utf-8"?>
<cs:colorStyle xmlns:cs="http://schemas.microsoft.com/office/drawing/2012/chartStyle" xmlns:a="http://schemas.openxmlformats.org/drawingml/2006/main" meth="withinLinear" id="17">
  <a:schemeClr val="accent4"/>
</cs:colorStyle>
</file>

<file path=ppt/charts/colors1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66">
  <cs:axisTitle>
    <cs:lnRef idx="0"/>
    <cs:fillRef idx="0"/>
    <cs:effectRef idx="0"/>
    <cs:fontRef idx="minor">
      <a:schemeClr val="tx2"/>
    </cs:fontRef>
    <cs:defRPr sz="900" b="1" kern="1200"/>
  </cs:axisTitle>
  <cs:categoryAxis>
    <cs:lnRef idx="0"/>
    <cs:fillRef idx="0"/>
    <cs:effectRef idx="0"/>
    <cs:fontRef idx="minor">
      <a:schemeClr val="tx2"/>
    </cs:fontRef>
    <cs:spPr>
      <a:ln w="9525" cap="flat" cmpd="sng" algn="ctr">
        <a:solidFill>
          <a:schemeClr val="tx2">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2">
            <a:lumMod val="15000"/>
            <a:lumOff val="85000"/>
          </a:schemeClr>
        </a:solidFill>
        <a:round/>
      </a:ln>
    </cs:spPr>
    <cs:defRPr sz="900" kern="1200"/>
  </cs:chartArea>
  <cs:dataLabel>
    <cs:lnRef idx="0"/>
    <cs:fillRef idx="0"/>
    <cs:effectRef idx="0"/>
    <cs:fontRef idx="minor">
      <a:schemeClr val="tx2"/>
    </cs:fontRef>
    <cs:defRPr sz="900" kern="1200"/>
  </cs:dataLabel>
  <cs:dataLabelCallout>
    <cs:lnRef idx="0"/>
    <cs:fillRef idx="0"/>
    <cs:effectRef idx="0"/>
    <cs:fontRef idx="minor">
      <a:schemeClr val="dk2">
        <a:lumMod val="7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2"/>
    <cs:fontRef idx="minor">
      <a:schemeClr val="tx2"/>
    </cs:fontRef>
  </cs:dataPoint>
  <cs:dataPoint3D>
    <cs:lnRef idx="0"/>
    <cs:fillRef idx="3">
      <cs:styleClr val="auto"/>
    </cs:fillRef>
    <cs:effectRef idx="2"/>
    <cs:fontRef idx="minor">
      <a:schemeClr val="tx2"/>
    </cs:fontRef>
  </cs:dataPoint3D>
  <cs:dataPointLine>
    <cs:lnRef idx="0">
      <cs:styleClr val="auto"/>
    </cs:lnRef>
    <cs:fillRef idx="3"/>
    <cs:effectRef idx="2"/>
    <cs:fontRef idx="minor">
      <a:schemeClr val="tx2"/>
    </cs:fontRef>
    <cs:spPr>
      <a:ln w="31750" cap="rnd">
        <a:solidFill>
          <a:schemeClr val="phClr"/>
        </a:solidFill>
        <a:round/>
      </a:ln>
    </cs:spPr>
  </cs:dataPointLine>
  <cs:dataPointMarker>
    <cs:lnRef idx="0"/>
    <cs:fillRef idx="3">
      <cs:styleClr val="auto"/>
    </cs:fillRef>
    <cs:effectRef idx="2"/>
    <cs:fontRef idx="minor">
      <a:schemeClr val="tx2"/>
    </cs:fontRef>
    <cs:spPr>
      <a:ln w="12700">
        <a:solidFill>
          <a:schemeClr val="lt2"/>
        </a:solidFill>
        <a:round/>
      </a:ln>
    </cs:spPr>
  </cs:dataPointMarker>
  <cs:dataPointMarkerLayout symbol="circle" size="6"/>
  <cs:dataPointWireframe>
    <cs:lnRef idx="0">
      <cs:styleClr val="auto"/>
    </cs:lnRef>
    <cs:fillRef idx="3"/>
    <cs:effectRef idx="2"/>
    <cs:fontRef idx="minor">
      <a:schemeClr val="tx2"/>
    </cs:fontRef>
    <cs:spPr>
      <a:ln w="9525" cap="rnd">
        <a:solidFill>
          <a:schemeClr val="phClr"/>
        </a:solidFill>
        <a:round/>
      </a:ln>
    </cs:spPr>
  </cs:dataPointWireframe>
  <cs:dataTable>
    <cs:lnRef idx="0"/>
    <cs:fillRef idx="0"/>
    <cs:effectRef idx="0"/>
    <cs:fontRef idx="minor">
      <a:schemeClr val="tx2"/>
    </cs:fontRef>
    <cs:spPr>
      <a:ln w="9525">
        <a:solidFill>
          <a:schemeClr val="tx2">
            <a:lumMod val="15000"/>
            <a:lumOff val="85000"/>
          </a:schemeClr>
        </a:solidFill>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2"/>
    </cs:fontRef>
    <cs:spPr>
      <a:ln w="9525">
        <a:solidFill>
          <a:schemeClr val="tx2">
            <a:lumMod val="60000"/>
            <a:lumOff val="40000"/>
          </a:schemeClr>
        </a:solidFill>
        <a:prstDash val="dash"/>
      </a:ln>
    </cs:spPr>
  </cs:dropLine>
  <cs:errorBar>
    <cs:lnRef idx="0"/>
    <cs:fillRef idx="0"/>
    <cs:effectRef idx="0"/>
    <cs:fontRef idx="minor">
      <a:schemeClr val="tx2"/>
    </cs:fontRef>
    <cs:spPr>
      <a:ln w="9525">
        <a:solidFill>
          <a:schemeClr val="tx2">
            <a:lumMod val="75000"/>
          </a:schemeClr>
        </a:solidFill>
        <a:round/>
      </a:ln>
    </cs:spPr>
  </cs:errorBar>
  <cs:floor>
    <cs:lnRef idx="0"/>
    <cs:fillRef idx="0"/>
    <cs:effectRef idx="0"/>
    <cs:fontRef idx="minor">
      <a:schemeClr val="tx2"/>
    </cs:fontRef>
  </cs:floor>
  <cs:gridlineMajor>
    <cs:lnRef idx="0"/>
    <cs:fillRef idx="0"/>
    <cs:effectRef idx="0"/>
    <cs:fontRef idx="minor">
      <a:schemeClr val="tx2"/>
    </cs:fontRef>
    <cs:spPr>
      <a:ln w="9525" cap="flat" cmpd="sng" algn="ctr">
        <a:solidFill>
          <a:schemeClr val="tx2">
            <a:lumMod val="15000"/>
            <a:lumOff val="85000"/>
          </a:schemeClr>
        </a:solidFill>
        <a:round/>
      </a:ln>
    </cs:spPr>
  </cs:gridlineMajor>
  <cs:gridlineMinor>
    <cs:lnRef idx="0"/>
    <cs:fillRef idx="0"/>
    <cs:effectRef idx="0"/>
    <cs:fontRef idx="minor">
      <a:schemeClr val="tx2"/>
    </cs:fontRef>
    <cs:spPr>
      <a:ln>
        <a:solidFill>
          <a:schemeClr val="tx2">
            <a:lumMod val="5000"/>
            <a:lumOff val="95000"/>
          </a:schemeClr>
        </a:solidFill>
      </a:ln>
    </cs:spPr>
  </cs:gridlineMinor>
  <cs:hiLoLine>
    <cs:lnRef idx="0"/>
    <cs:fillRef idx="0"/>
    <cs:effectRef idx="0"/>
    <cs:fontRef idx="minor">
      <a:schemeClr val="tx2"/>
    </cs:fontRef>
    <cs:spPr>
      <a:ln w="9525">
        <a:solidFill>
          <a:schemeClr val="tx2">
            <a:lumMod val="60000"/>
            <a:lumOff val="40000"/>
          </a:schemeClr>
        </a:solidFill>
        <a:prstDash val="dash"/>
      </a:ln>
    </cs:spPr>
  </cs:hiLoLine>
  <cs:leaderLine>
    <cs:lnRef idx="0"/>
    <cs:fillRef idx="0"/>
    <cs:effectRef idx="0"/>
    <cs:fontRef idx="minor">
      <a:schemeClr val="tx2"/>
    </cs:fontRef>
    <cs:spPr>
      <a:ln w="9525">
        <a:solidFill>
          <a:schemeClr val="tx2">
            <a:lumMod val="35000"/>
            <a:lumOff val="65000"/>
          </a:schemeClr>
        </a:solidFill>
      </a:ln>
    </cs:spPr>
  </cs:leaderLine>
  <cs:legend>
    <cs:lnRef idx="0"/>
    <cs:fillRef idx="0"/>
    <cs:effectRef idx="0"/>
    <cs:fontRef idx="minor">
      <a:schemeClr val="tx2"/>
    </cs:fontRef>
    <cs:defRPr sz="900" kern="1200"/>
  </cs:legend>
  <cs:plotArea>
    <cs:lnRef idx="0"/>
    <cs:fillRef idx="0"/>
    <cs:effectRef idx="0"/>
    <cs:fontRef idx="minor">
      <a:schemeClr val="tx2"/>
    </cs:fontRef>
  </cs:plotArea>
  <cs:plotArea3D>
    <cs:lnRef idx="0"/>
    <cs:fillRef idx="0"/>
    <cs:effectRef idx="0"/>
    <cs:fontRef idx="minor">
      <a:schemeClr val="tx2"/>
    </cs:fontRef>
  </cs:plotArea3D>
  <cs:seriesAxis>
    <cs:lnRef idx="0"/>
    <cs:fillRef idx="0"/>
    <cs:effectRef idx="0"/>
    <cs:fontRef idx="minor">
      <a:schemeClr val="tx2"/>
    </cs:fontRef>
    <cs:spPr>
      <a:ln w="9525" cap="flat" cmpd="sng" algn="ctr">
        <a:solidFill>
          <a:schemeClr val="tx2">
            <a:lumMod val="15000"/>
            <a:lumOff val="85000"/>
          </a:schemeClr>
        </a:solidFill>
        <a:round/>
      </a:ln>
    </cs:spPr>
    <cs:defRPr sz="900" kern="1200"/>
  </cs:seriesAxis>
  <cs:seriesLine>
    <cs:lnRef idx="0"/>
    <cs:fillRef idx="0"/>
    <cs:effectRef idx="0"/>
    <cs:fontRef idx="minor">
      <a:schemeClr val="tx2"/>
    </cs:fontRef>
    <cs:spPr>
      <a:ln w="9525">
        <a:solidFill>
          <a:schemeClr val="tx2">
            <a:lumMod val="60000"/>
            <a:lumOff val="40000"/>
          </a:schemeClr>
        </a:solidFill>
        <a:prstDash val="dash"/>
      </a:ln>
    </cs:spPr>
  </cs:seriesLine>
  <cs:title>
    <cs:lnRef idx="0"/>
    <cs:fillRef idx="0"/>
    <cs:effectRef idx="0"/>
    <cs:fontRef idx="minor">
      <a:schemeClr val="tx2"/>
    </cs:fontRef>
    <cs:defRPr sz="1600" b="1" kern="1200"/>
  </cs:title>
  <cs:trendline>
    <cs:lnRef idx="0">
      <cs:styleClr val="auto"/>
    </cs:lnRef>
    <cs:fillRef idx="0"/>
    <cs:effectRef idx="0"/>
    <cs:fontRef idx="minor">
      <a:schemeClr val="tx2"/>
    </cs:fontRef>
    <cs:spPr>
      <a:ln w="19050" cap="rnd">
        <a:solidFill>
          <a:schemeClr val="phClr"/>
        </a:solidFill>
        <a:prstDash val="sysDash"/>
      </a:ln>
    </cs:spPr>
  </cs:trendline>
  <cs:trendlineLabel>
    <cs:lnRef idx="0"/>
    <cs:fillRef idx="0"/>
    <cs:effectRef idx="0"/>
    <cs:fontRef idx="minor">
      <a:schemeClr val="tx2"/>
    </cs:fontRef>
    <cs:defRPr sz="900" kern="1200"/>
  </cs:trendlineLabel>
  <cs:upBar>
    <cs:lnRef idx="0"/>
    <cs:fillRef idx="0"/>
    <cs:effectRef idx="0"/>
    <cs:fontRef idx="minor">
      <a:schemeClr val="tx2"/>
    </cs:fontRef>
    <cs:spPr>
      <a:solidFill>
        <a:schemeClr val="lt1"/>
      </a:solidFill>
      <a:ln w="9525">
        <a:solidFill>
          <a:schemeClr val="tx1">
            <a:lumMod val="15000"/>
            <a:lumOff val="85000"/>
          </a:schemeClr>
        </a:solidFill>
      </a:ln>
    </cs:spPr>
  </cs:upBar>
  <cs:valueAxis>
    <cs:lnRef idx="0"/>
    <cs:fillRef idx="0"/>
    <cs:effectRef idx="0"/>
    <cs:fontRef idx="minor">
      <a:schemeClr val="tx2"/>
    </cs:fontRef>
    <cs:defRPr sz="900" kern="1200"/>
  </cs:valueAxis>
  <cs:wall>
    <cs:lnRef idx="0"/>
    <cs:fillRef idx="0"/>
    <cs:effectRef idx="0"/>
    <cs:fontRef idx="minor">
      <a:schemeClr val="tx2"/>
    </cs:fontRef>
  </cs:wall>
</cs:chartStyle>
</file>

<file path=ppt/charts/style6.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7.xml><?xml version="1.0" encoding="utf-8"?>
<cs:chartStyle xmlns:cs="http://schemas.microsoft.com/office/drawing/2012/chartStyle" xmlns:a="http://schemas.openxmlformats.org/drawingml/2006/main" id="341">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ize="5"/>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8.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12">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0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10.xml><?xml version="1.0" encoding="utf-8"?>
<cs:chartStyle xmlns:cs="http://schemas.microsoft.com/office/drawing/2012/chartStyle" xmlns:a="http://schemas.openxmlformats.org/drawingml/2006/main" id="230">
  <cs:axisTitle>
    <cs:lnRef idx="0"/>
    <cs:fillRef idx="0"/>
    <cs:effectRef idx="0"/>
    <cs:fontRef idx="minor">
      <a:schemeClr val="dk1">
        <a:lumMod val="65000"/>
        <a:lumOff val="35000"/>
      </a:schemeClr>
    </cs:fontRef>
    <cs:defRPr sz="900" kern="1200" cap="all"/>
  </cs:axisTitle>
  <cs:category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b="0" kern="1200" spc="20" baseline="0"/>
  </cs:categoryAxis>
  <cs:chartArea mods="allowNoLineOverride">
    <cs:lnRef idx="0"/>
    <cs:fillRef idx="0"/>
    <cs:effectRef idx="0"/>
    <cs:fontRef idx="minor">
      <a:schemeClr val="dk1"/>
    </cs:fontRef>
    <cs:spPr>
      <a:solidFill>
        <a:schemeClr val="lt1"/>
      </a:solidFill>
      <a:ln w="9525" cap="flat" cmpd="sng" algn="ctr">
        <a:solidFill>
          <a:schemeClr val="dk1">
            <a:lumMod val="15000"/>
            <a:lumOff val="85000"/>
          </a:schemeClr>
        </a:solidFill>
        <a:round/>
      </a:ln>
    </cs:spPr>
    <cs:defRPr sz="900" kern="1200"/>
  </cs:chartArea>
  <cs:dataLabel>
    <cs:lnRef idx="0"/>
    <cs:fillRef idx="0"/>
    <cs:effectRef idx="0"/>
    <cs:fontRef idx="minor">
      <a:schemeClr val="dk1">
        <a:lumMod val="65000"/>
        <a:lumOff val="3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0"/>
    <cs:effectRef idx="0"/>
    <cs:fontRef idx="minor">
      <a:schemeClr val="dk1"/>
    </cs:fontRef>
    <cs:spPr>
      <a:ln w="22225" cap="rnd" cmpd="sng" algn="ctr">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cap="flat" cmpd="sng" algn="ctr">
        <a:solidFill>
          <a:schemeClr val="phClr"/>
        </a:solidFill>
        <a:round/>
      </a:ln>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dk1">
            <a:lumMod val="65000"/>
            <a:lumOff val="35000"/>
          </a:schemeClr>
        </a:solidFill>
      </a:ln>
    </cs:spPr>
  </cs:downBar>
  <cs:dropLine>
    <cs:lnRef idx="0"/>
    <cs:fillRef idx="0"/>
    <cs:effectRef idx="0"/>
    <cs:fontRef idx="minor">
      <a:schemeClr val="dk1"/>
    </cs:fontRef>
    <cs:spPr>
      <a:ln w="9525" cap="flat" cmpd="sng" algn="ctr">
        <a:solidFill>
          <a:schemeClr val="dk1">
            <a:lumMod val="35000"/>
            <a:lumOff val="65000"/>
            <a:alpha val="33000"/>
          </a:schemeClr>
        </a:solidFill>
        <a:round/>
      </a:ln>
    </cs:spPr>
  </cs:dropLine>
  <cs:errorBar>
    <cs:lnRef idx="0"/>
    <cs:fillRef idx="0"/>
    <cs:effectRef idx="0"/>
    <cs:fontRef idx="minor">
      <a:schemeClr val="dk1"/>
    </cs:fontRef>
    <cs:spPr>
      <a:ln w="9525">
        <a:solidFill>
          <a:schemeClr val="dk1">
            <a:lumMod val="65000"/>
            <a:lumOff val="35000"/>
          </a:schemeClr>
        </a:solidFill>
      </a:ln>
    </cs:spPr>
  </cs:errorBar>
  <cs:floor>
    <cs:lnRef idx="0"/>
    <cs:fillRef idx="0"/>
    <cs:effectRef idx="0"/>
    <cs:fontRef idx="minor">
      <a:schemeClr val="dk1"/>
    </cs:fontRef>
  </cs:floor>
  <cs:gridlineMajor>
    <cs:lnRef idx="0"/>
    <cs:fillRef idx="0"/>
    <cs:effectRef idx="0"/>
    <cs:fontRef idx="minor">
      <a:schemeClr val="dk1"/>
    </cs:fontRef>
    <cs:spPr>
      <a:ln>
        <a:solidFill>
          <a:schemeClr val="dk1">
            <a:lumMod val="15000"/>
            <a:lumOff val="85000"/>
          </a:schemeClr>
        </a:solidFill>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35000"/>
            <a:lumOff val="65000"/>
          </a:schemeClr>
        </a:solidFill>
      </a:ln>
    </cs:spPr>
  </cs:hiLoLine>
  <cs:leaderLine>
    <cs:lnRef idx="0"/>
    <cs:fillRef idx="0"/>
    <cs:effectRef idx="0"/>
    <cs:fontRef idx="minor">
      <a:schemeClr val="dk1"/>
    </cs:fontRef>
    <cs:spPr>
      <a:ln w="9525">
        <a:solidFill>
          <a:schemeClr val="dk1">
            <a:lumMod val="35000"/>
            <a:lumOff val="65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spPr>
      <a:gradFill>
        <a:gsLst>
          <a:gs pos="100000">
            <a:schemeClr val="lt1">
              <a:lumMod val="95000"/>
            </a:schemeClr>
          </a:gs>
          <a:gs pos="0">
            <a:schemeClr val="lt1"/>
          </a:gs>
        </a:gsLst>
        <a:lin ang="5400000" scaled="0"/>
      </a:gradFill>
    </cs:spPr>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35000"/>
            <a:lumOff val="65000"/>
          </a:schemeClr>
        </a:solidFill>
        <a:prstDash val="dash"/>
      </a:ln>
    </cs:spPr>
  </cs:seriesLine>
  <cs:title>
    <cs:lnRef idx="0"/>
    <cs:fillRef idx="0"/>
    <cs:effectRef idx="0"/>
    <cs:fontRef idx="minor">
      <a:schemeClr val="dk1">
        <a:lumMod val="50000"/>
        <a:lumOff val="50000"/>
      </a:schemeClr>
    </cs:fontRef>
    <cs:defRPr sz="1400" kern="1200" cap="none" spc="20" baseline="0"/>
  </cs:title>
  <cs:trendline>
    <cs:lnRef idx="0">
      <cs:styleClr val="auto"/>
    </cs:lnRef>
    <cs:fillRef idx="0"/>
    <cs:effectRef idx="0"/>
    <cs:fontRef idx="minor">
      <a:schemeClr val="dk1"/>
    </cs:fontRef>
    <cs:spPr>
      <a:ln w="9525" cap="rnd">
        <a:solidFill>
          <a:schemeClr val="phClr"/>
        </a:solidFill>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65000"/>
        <a:lumOff val="35000"/>
      </a:schemeClr>
    </cs:fontRef>
    <cs:defRPr sz="900" kern="1200" spc="20" baseline="0"/>
  </cs:valueAxis>
  <cs:wall>
    <cs:lnRef idx="0"/>
    <cs:fillRef idx="0"/>
    <cs:effectRef idx="0"/>
    <cs:fontRef idx="minor">
      <a:schemeClr val="dk1"/>
    </cs:fontRef>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2.02024E-7</cdr:x>
      <cdr:y>0.00275</cdr:y>
    </cdr:from>
    <cdr:to>
      <cdr:x>0.95462</cdr:x>
      <cdr:y>0.11146</cdr:y>
    </cdr:to>
    <cdr:sp macro="" textlink="">
      <cdr:nvSpPr>
        <cdr:cNvPr id="2" name="Round Same Side Corner Rectangle 17">
          <a:extLst xmlns:a="http://schemas.openxmlformats.org/drawingml/2006/main">
            <a:ext uri="{FF2B5EF4-FFF2-40B4-BE49-F238E27FC236}">
              <a16:creationId xmlns:a16="http://schemas.microsoft.com/office/drawing/2014/main" id="{F82663ED-194B-9988-4ABB-AF312A0518DB}"/>
            </a:ext>
          </a:extLst>
        </cdr:cNvPr>
        <cdr:cNvSpPr/>
      </cdr:nvSpPr>
      <cdr:spPr>
        <a:xfrm xmlns:a="http://schemas.openxmlformats.org/drawingml/2006/main">
          <a:off x="1" y="13493"/>
          <a:ext cx="4725267" cy="532441"/>
        </a:xfrm>
        <a:prstGeom xmlns:a="http://schemas.openxmlformats.org/drawingml/2006/main" prst="round2SameRect">
          <a:avLst>
            <a:gd name="adj1" fmla="val 27778"/>
            <a:gd name="adj2" fmla="val 0"/>
          </a:avLst>
        </a:prstGeom>
        <a:solidFill xmlns:a="http://schemas.openxmlformats.org/drawingml/2006/main">
          <a:schemeClr val="accent1"/>
        </a:solidFill>
        <a:ln xmlns:a="http://schemas.openxmlformats.org/drawingml/2006/main">
          <a:noFill/>
        </a:ln>
        <a:effectLst xmlns:a="http://schemas.openxmlformats.org/drawingml/2006/main"/>
      </cdr:spPr>
      <cdr: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cdr:style>
      <cdr:txBody>
        <a:bodyPr xmlns:a="http://schemas.openxmlformats.org/drawingml/2006/main" anchor="ctr"/>
        <a:lstStyle xmlns:a="http://schemas.openxmlformats.org/drawingml/2006/main">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xmlns:a="http://schemas.openxmlformats.org/drawingml/2006/main">
          <a:pPr algn="ctr" fontAlgn="auto">
            <a:spcBef>
              <a:spcPts val="0"/>
            </a:spcBef>
            <a:spcAft>
              <a:spcPts val="0"/>
            </a:spcAft>
            <a:defRPr/>
          </a:pPr>
          <a:r>
            <a:rPr lang="en-US" dirty="0">
              <a:solidFill>
                <a:srgbClr val="FFFFFF"/>
              </a:solidFill>
              <a:ea typeface="ＭＳ Ｐゴシック" charset="0"/>
              <a:cs typeface="ＭＳ Ｐゴシック" charset="0"/>
            </a:rPr>
            <a:t>Subscribers per province</a:t>
          </a:r>
        </a:p>
      </cdr:txBody>
    </cdr:sp>
  </cdr:relSizeAnchor>
</c:userShapes>
</file>

<file path=ppt/drawings/drawing2.xml><?xml version="1.0" encoding="utf-8"?>
<c:userShapes xmlns:c="http://schemas.openxmlformats.org/drawingml/2006/chart">
  <cdr:relSizeAnchor xmlns:cdr="http://schemas.openxmlformats.org/drawingml/2006/chartDrawing">
    <cdr:from>
      <cdr:x>0.11805</cdr:x>
      <cdr:y>0.03926</cdr:y>
    </cdr:from>
    <cdr:to>
      <cdr:x>0.65124</cdr:x>
      <cdr:y>0.07966</cdr:y>
    </cdr:to>
    <cdr:sp macro="" textlink="">
      <cdr:nvSpPr>
        <cdr:cNvPr id="2" name="Rektangel 76">
          <a:extLst xmlns:a="http://schemas.openxmlformats.org/drawingml/2006/main">
            <a:ext uri="{FF2B5EF4-FFF2-40B4-BE49-F238E27FC236}">
              <a16:creationId xmlns:a16="http://schemas.microsoft.com/office/drawing/2014/main" id="{48D6BB48-4844-38B8-790E-4BB96625B167}"/>
            </a:ext>
          </a:extLst>
        </cdr:cNvPr>
        <cdr:cNvSpPr>
          <a:spLocks xmlns:a="http://schemas.openxmlformats.org/drawingml/2006/main" noChangeArrowheads="1"/>
        </cdr:cNvSpPr>
      </cdr:nvSpPr>
      <cdr:spPr bwMode="auto">
        <a:xfrm xmlns:a="http://schemas.openxmlformats.org/drawingml/2006/main">
          <a:off x="753331" y="179446"/>
          <a:ext cx="3402515" cy="184666"/>
        </a:xfrm>
        <a:prstGeom xmlns:a="http://schemas.openxmlformats.org/drawingml/2006/main" prst="rect">
          <a:avLst/>
        </a:prstGeom>
        <a:noFill xmlns:a="http://schemas.openxmlformats.org/drawingml/2006/main"/>
        <a:ln xmlns:a="http://schemas.openxmlformats.org/drawingml/2006/main">
          <a:noFill/>
        </a:ln>
        <a:extLst xmlns:a="http://schemas.openxmlformats.org/drawingml/2006/main">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cdr:spPr>
      <cdr:txBody>
        <a:bodyPr xmlns:a="http://schemas.openxmlformats.org/drawingml/2006/main" wrap="square" lIns="0" tIns="0" rIns="0" bIns="0">
          <a:spAutoFit/>
        </a:bodyPr>
        <a:lstStyle xmlns:a="http://schemas.openxmlformats.org/drawingml/2006/main">
          <a:defPPr>
            <a:defRPr lang="en-US"/>
          </a:defPPr>
          <a:lvl1pPr marL="0" algn="l" defTabSz="914400" rtl="0" eaLnBrk="1" latinLnBrk="0" hangingPunct="1">
            <a:defRPr sz="1800" kern="1200">
              <a:solidFill>
                <a:schemeClr val="tx1"/>
              </a:solidFill>
              <a:latin typeface="Calibri" panose="020F0502020204030204" pitchFamily="34" charset="0"/>
              <a:ea typeface="+mn-ea"/>
              <a:cs typeface="+mn-cs"/>
            </a:defRPr>
          </a:lvl1pPr>
          <a:lvl2pPr marL="742950" indent="-285750" algn="l" defTabSz="914400" rtl="0" eaLnBrk="1" latinLnBrk="0" hangingPunct="1">
            <a:defRPr sz="1800" kern="1200">
              <a:solidFill>
                <a:schemeClr val="tx1"/>
              </a:solidFill>
              <a:latin typeface="Calibri" panose="020F0502020204030204" pitchFamily="34" charset="0"/>
              <a:ea typeface="+mn-ea"/>
              <a:cs typeface="+mn-cs"/>
            </a:defRPr>
          </a:lvl2pPr>
          <a:lvl3pPr marL="1143000" indent="-228600" algn="l" defTabSz="914400" rtl="0" eaLnBrk="1" latinLnBrk="0" hangingPunct="1">
            <a:defRPr sz="1800" kern="1200">
              <a:solidFill>
                <a:schemeClr val="tx1"/>
              </a:solidFill>
              <a:latin typeface="Calibri" panose="020F0502020204030204" pitchFamily="34" charset="0"/>
              <a:ea typeface="+mn-ea"/>
              <a:cs typeface="+mn-cs"/>
            </a:defRPr>
          </a:lvl3pPr>
          <a:lvl4pPr marL="1600200" indent="-228600" algn="l" defTabSz="914400" rtl="0" eaLnBrk="1" latinLnBrk="0" hangingPunct="1">
            <a:defRPr sz="1800" kern="1200">
              <a:solidFill>
                <a:schemeClr val="tx1"/>
              </a:solidFill>
              <a:latin typeface="Calibri" panose="020F0502020204030204" pitchFamily="34" charset="0"/>
              <a:ea typeface="+mn-ea"/>
              <a:cs typeface="+mn-cs"/>
            </a:defRPr>
          </a:lvl4pPr>
          <a:lvl5pPr marL="2057400" indent="-228600" algn="l" defTabSz="914400" rtl="0" eaLnBrk="1" latinLnBrk="0" hangingPunct="1">
            <a:defRPr sz="1800" kern="1200">
              <a:solidFill>
                <a:schemeClr val="tx1"/>
              </a:solidFill>
              <a:latin typeface="Calibri" panose="020F0502020204030204" pitchFamily="34" charset="0"/>
              <a:ea typeface="+mn-ea"/>
              <a:cs typeface="+mn-cs"/>
            </a:defRPr>
          </a:lvl5pPr>
          <a:lvl6pPr marL="2514600" indent="-228600" algn="l" defTabSz="457200" rtl="0" eaLnBrk="1" fontAlgn="base" latinLnBrk="0" hangingPunct="1">
            <a:spcBef>
              <a:spcPct val="0"/>
            </a:spcBef>
            <a:spcAft>
              <a:spcPct val="0"/>
            </a:spcAft>
            <a:defRPr sz="1800" kern="1200">
              <a:solidFill>
                <a:schemeClr val="tx1"/>
              </a:solidFill>
              <a:latin typeface="Calibri" panose="020F0502020204030204" pitchFamily="34" charset="0"/>
              <a:ea typeface="+mn-ea"/>
              <a:cs typeface="+mn-cs"/>
            </a:defRPr>
          </a:lvl6pPr>
          <a:lvl7pPr marL="2971800" indent="-228600" algn="l" defTabSz="457200" rtl="0" eaLnBrk="1" fontAlgn="base" latinLnBrk="0" hangingPunct="1">
            <a:spcBef>
              <a:spcPct val="0"/>
            </a:spcBef>
            <a:spcAft>
              <a:spcPct val="0"/>
            </a:spcAft>
            <a:defRPr sz="1800" kern="1200">
              <a:solidFill>
                <a:schemeClr val="tx1"/>
              </a:solidFill>
              <a:latin typeface="Calibri" panose="020F0502020204030204" pitchFamily="34" charset="0"/>
              <a:ea typeface="+mn-ea"/>
              <a:cs typeface="+mn-cs"/>
            </a:defRPr>
          </a:lvl7pPr>
          <a:lvl8pPr marL="3429000" indent="-228600" algn="l" defTabSz="457200" rtl="0" eaLnBrk="1" fontAlgn="base" latinLnBrk="0" hangingPunct="1">
            <a:spcBef>
              <a:spcPct val="0"/>
            </a:spcBef>
            <a:spcAft>
              <a:spcPct val="0"/>
            </a:spcAft>
            <a:defRPr sz="1800" kern="1200">
              <a:solidFill>
                <a:schemeClr val="tx1"/>
              </a:solidFill>
              <a:latin typeface="Calibri" panose="020F0502020204030204" pitchFamily="34" charset="0"/>
              <a:ea typeface="+mn-ea"/>
              <a:cs typeface="+mn-cs"/>
            </a:defRPr>
          </a:lvl8pPr>
          <a:lvl9pPr marL="3886200" indent="-228600" algn="l" defTabSz="457200" rtl="0" eaLnBrk="1" fontAlgn="base" latinLnBrk="0" hangingPunct="1">
            <a:spcBef>
              <a:spcPct val="0"/>
            </a:spcBef>
            <a:spcAft>
              <a:spcPct val="0"/>
            </a:spcAft>
            <a:defRPr sz="1800" kern="1200">
              <a:solidFill>
                <a:schemeClr val="tx1"/>
              </a:solidFill>
              <a:latin typeface="Calibri" panose="020F0502020204030204" pitchFamily="34" charset="0"/>
              <a:ea typeface="+mn-ea"/>
              <a:cs typeface="+mn-cs"/>
            </a:defRPr>
          </a:lvl9pPr>
        </a:lstStyle>
        <a:p xmlns:a="http://schemas.openxmlformats.org/drawingml/2006/main">
          <a:pPr>
            <a:spcAft>
              <a:spcPts val="600"/>
            </a:spcAft>
          </a:pPr>
          <a:r>
            <a:rPr lang="en-US" altLang="en-US" sz="1200" b="1" noProof="1">
              <a:solidFill>
                <a:srgbClr val="FFFFFF"/>
              </a:solidFill>
              <a:latin typeface="+mj-lt"/>
            </a:rPr>
            <a:t>Sessions per time of the day by Channel </a:t>
          </a:r>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D115FB-DC49-448D-A414-5142559F1DE7}" type="datetimeFigureOut">
              <a:rPr lang="en-US" smtClean="0"/>
              <a:t>9/30/2026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37DBED-2631-4629-A5B8-78D4D7037B15}" type="slidenum">
              <a:rPr lang="en-US" smtClean="0"/>
              <a:t>‹#›</a:t>
            </a:fld>
            <a:endParaRPr lang="en-US"/>
          </a:p>
        </p:txBody>
      </p:sp>
    </p:spTree>
    <p:extLst>
      <p:ext uri="{BB962C8B-B14F-4D97-AF65-F5344CB8AC3E}">
        <p14:creationId xmlns:p14="http://schemas.microsoft.com/office/powerpoint/2010/main" val="110596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B7AD-D2D4-4C75-B879-F135DF084E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67CF3DB-1BDF-4628-83F8-EA3E4C944EF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3A128A-625B-4AF1-80D4-CDCD81173969}"/>
              </a:ext>
            </a:extLst>
          </p:cNvPr>
          <p:cNvSpPr>
            <a:spLocks noGrp="1"/>
          </p:cNvSpPr>
          <p:nvPr>
            <p:ph type="dt" sz="half" idx="10"/>
          </p:nvPr>
        </p:nvSpPr>
        <p:spPr/>
        <p:txBody>
          <a:bodyPr/>
          <a:lstStyle/>
          <a:p>
            <a:fld id="{73F10392-F449-407B-BED8-B070C1FBD546}" type="datetime1">
              <a:rPr lang="en-US" smtClean="0"/>
              <a:t>9/30/2026</a:t>
            </a:fld>
            <a:endParaRPr lang="en-US"/>
          </a:p>
        </p:txBody>
      </p:sp>
      <p:sp>
        <p:nvSpPr>
          <p:cNvPr id="5" name="Footer Placeholder 4">
            <a:extLst>
              <a:ext uri="{FF2B5EF4-FFF2-40B4-BE49-F238E27FC236}">
                <a16:creationId xmlns:a16="http://schemas.microsoft.com/office/drawing/2014/main" id="{9BEC022C-C962-4409-BC4E-BAB62816F2CF}"/>
              </a:ext>
            </a:extLst>
          </p:cNvPr>
          <p:cNvSpPr>
            <a:spLocks noGrp="1"/>
          </p:cNvSpPr>
          <p:nvPr>
            <p:ph type="ftr" sz="quarter" idx="11"/>
          </p:nvPr>
        </p:nvSpPr>
        <p:spPr/>
        <p:txBody>
          <a:bodyPr/>
          <a:lstStyle/>
          <a:p>
            <a:r>
              <a:rPr lang="en-US"/>
              <a:t>Your Logo Here</a:t>
            </a:r>
          </a:p>
        </p:txBody>
      </p:sp>
      <p:sp>
        <p:nvSpPr>
          <p:cNvPr id="6" name="Slide Number Placeholder 5">
            <a:extLst>
              <a:ext uri="{FF2B5EF4-FFF2-40B4-BE49-F238E27FC236}">
                <a16:creationId xmlns:a16="http://schemas.microsoft.com/office/drawing/2014/main" id="{9ADF5226-3FEB-4A5B-A227-671BEE3750BF}"/>
              </a:ext>
            </a:extLst>
          </p:cNvPr>
          <p:cNvSpPr>
            <a:spLocks noGrp="1"/>
          </p:cNvSpPr>
          <p:nvPr>
            <p:ph type="sldNum" sz="quarter" idx="12"/>
          </p:nvPr>
        </p:nvSpPr>
        <p:spPr/>
        <p:txBody>
          <a:bodyPr/>
          <a:lstStyle/>
          <a:p>
            <a:fld id="{9598DBAD-472B-4D31-8670-5164AECB0621}" type="slidenum">
              <a:rPr lang="en-US" smtClean="0"/>
              <a:t>‹#›</a:t>
            </a:fld>
            <a:endParaRPr lang="en-US"/>
          </a:p>
        </p:txBody>
      </p:sp>
    </p:spTree>
    <p:extLst>
      <p:ext uri="{BB962C8B-B14F-4D97-AF65-F5344CB8AC3E}">
        <p14:creationId xmlns:p14="http://schemas.microsoft.com/office/powerpoint/2010/main" val="2300171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Title Only">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571E4D2-FFF8-449F-800D-82CB28CD112C}"/>
              </a:ext>
            </a:extLst>
          </p:cNvPr>
          <p:cNvSpPr/>
          <p:nvPr userDrawn="1"/>
        </p:nvSpPr>
        <p:spPr>
          <a:xfrm>
            <a:off x="5643528" y="6410325"/>
            <a:ext cx="904944" cy="447675"/>
          </a:xfrm>
          <a:custGeom>
            <a:avLst/>
            <a:gdLst>
              <a:gd name="connsiteX0" fmla="*/ 452472 w 904944"/>
              <a:gd name="connsiteY0" fmla="*/ 0 h 447675"/>
              <a:gd name="connsiteX1" fmla="*/ 896278 w 904944"/>
              <a:gd name="connsiteY1" fmla="*/ 361713 h 447675"/>
              <a:gd name="connsiteX2" fmla="*/ 904944 w 904944"/>
              <a:gd name="connsiteY2" fmla="*/ 447675 h 447675"/>
              <a:gd name="connsiteX3" fmla="*/ 0 w 904944"/>
              <a:gd name="connsiteY3" fmla="*/ 447675 h 447675"/>
              <a:gd name="connsiteX4" fmla="*/ 8666 w 904944"/>
              <a:gd name="connsiteY4" fmla="*/ 361713 h 447675"/>
              <a:gd name="connsiteX5" fmla="*/ 452472 w 904944"/>
              <a:gd name="connsiteY5" fmla="*/ 0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4944" h="447675">
                <a:moveTo>
                  <a:pt x="452472" y="0"/>
                </a:moveTo>
                <a:cubicBezTo>
                  <a:pt x="671389" y="0"/>
                  <a:pt x="854037" y="155283"/>
                  <a:pt x="896278" y="361713"/>
                </a:cubicBezTo>
                <a:lnTo>
                  <a:pt x="904944" y="447675"/>
                </a:lnTo>
                <a:lnTo>
                  <a:pt x="0" y="447675"/>
                </a:lnTo>
                <a:lnTo>
                  <a:pt x="8666" y="361713"/>
                </a:lnTo>
                <a:cubicBezTo>
                  <a:pt x="50907" y="155283"/>
                  <a:pt x="233555" y="0"/>
                  <a:pt x="45247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FB1867-5271-4CD1-B821-668202FB7610}"/>
              </a:ext>
            </a:extLst>
          </p:cNvPr>
          <p:cNvSpPr>
            <a:spLocks noGrp="1"/>
          </p:cNvSpPr>
          <p:nvPr>
            <p:ph type="title" hasCustomPrompt="1"/>
          </p:nvPr>
        </p:nvSpPr>
        <p:spPr>
          <a:xfrm>
            <a:off x="838200" y="365125"/>
            <a:ext cx="10515600" cy="443198"/>
          </a:xfrm>
        </p:spPr>
        <p:txBody>
          <a:bodyPr lIns="0" tIns="0" rIns="0" bIns="0" anchor="t">
            <a:spAutoFit/>
          </a:bodyPr>
          <a:lstStyle>
            <a:lvl1pPr algn="ctr">
              <a:defRPr sz="3200" cap="all" baseline="0"/>
            </a:lvl1pPr>
          </a:lstStyle>
          <a:p>
            <a:r>
              <a:rPr lang="en-US" dirty="0"/>
              <a:t>CLICK TO EDIT MASTER TITLE STYLE</a:t>
            </a:r>
          </a:p>
        </p:txBody>
      </p:sp>
      <p:sp>
        <p:nvSpPr>
          <p:cNvPr id="3" name="Date Placeholder 2">
            <a:extLst>
              <a:ext uri="{FF2B5EF4-FFF2-40B4-BE49-F238E27FC236}">
                <a16:creationId xmlns:a16="http://schemas.microsoft.com/office/drawing/2014/main" id="{C8F62449-1317-4F80-9F35-EAE18C376268}"/>
              </a:ext>
            </a:extLst>
          </p:cNvPr>
          <p:cNvSpPr>
            <a:spLocks noGrp="1"/>
          </p:cNvSpPr>
          <p:nvPr>
            <p:ph type="dt" sz="half" idx="10"/>
          </p:nvPr>
        </p:nvSpPr>
        <p:spPr/>
        <p:txBody>
          <a:bodyPr/>
          <a:lstStyle/>
          <a:p>
            <a:fld id="{E12D76FC-EB8E-4992-B39A-5265103F8BBB}" type="datetime1">
              <a:rPr lang="en-US" smtClean="0"/>
              <a:t>9/30/2026</a:t>
            </a:fld>
            <a:endParaRPr lang="en-US"/>
          </a:p>
        </p:txBody>
      </p:sp>
      <p:sp>
        <p:nvSpPr>
          <p:cNvPr id="4" name="Footer Placeholder 3">
            <a:extLst>
              <a:ext uri="{FF2B5EF4-FFF2-40B4-BE49-F238E27FC236}">
                <a16:creationId xmlns:a16="http://schemas.microsoft.com/office/drawing/2014/main" id="{BF4434B9-5B8B-4E0C-A35B-AF770FD3697F}"/>
              </a:ext>
            </a:extLst>
          </p:cNvPr>
          <p:cNvSpPr>
            <a:spLocks noGrp="1"/>
          </p:cNvSpPr>
          <p:nvPr>
            <p:ph type="ftr" sz="quarter" idx="11"/>
          </p:nvPr>
        </p:nvSpPr>
        <p:spPr>
          <a:xfrm>
            <a:off x="8610598" y="6356350"/>
            <a:ext cx="2743201" cy="365125"/>
          </a:xfrm>
        </p:spPr>
        <p:txBody>
          <a:bodyPr/>
          <a:lstStyle>
            <a:lvl1pPr algn="r">
              <a:defRPr/>
            </a:lvl1pPr>
          </a:lstStyle>
          <a:p>
            <a:r>
              <a:rPr lang="en-US" dirty="0"/>
              <a:t>Your Logo Here</a:t>
            </a:r>
          </a:p>
        </p:txBody>
      </p:sp>
      <p:grpSp>
        <p:nvGrpSpPr>
          <p:cNvPr id="7" name="Group 6">
            <a:extLst>
              <a:ext uri="{FF2B5EF4-FFF2-40B4-BE49-F238E27FC236}">
                <a16:creationId xmlns:a16="http://schemas.microsoft.com/office/drawing/2014/main" id="{F134CB5E-9E22-4885-9442-A21A7580B564}"/>
              </a:ext>
            </a:extLst>
          </p:cNvPr>
          <p:cNvGrpSpPr/>
          <p:nvPr userDrawn="1"/>
        </p:nvGrpSpPr>
        <p:grpSpPr>
          <a:xfrm>
            <a:off x="5394325" y="54733"/>
            <a:ext cx="1403350" cy="114300"/>
            <a:chOff x="228600" y="304800"/>
            <a:chExt cx="1403350" cy="114300"/>
          </a:xfrm>
        </p:grpSpPr>
        <p:sp>
          <p:nvSpPr>
            <p:cNvPr id="8" name="Rectangle: Rounded Corners 7">
              <a:extLst>
                <a:ext uri="{FF2B5EF4-FFF2-40B4-BE49-F238E27FC236}">
                  <a16:creationId xmlns:a16="http://schemas.microsoft.com/office/drawing/2014/main" id="{C8F342C0-AD1E-4288-9AD1-7B8551FB5F3F}"/>
                </a:ext>
              </a:extLst>
            </p:cNvPr>
            <p:cNvSpPr/>
            <p:nvPr/>
          </p:nvSpPr>
          <p:spPr>
            <a:xfrm>
              <a:off x="228600" y="304800"/>
              <a:ext cx="425450" cy="1143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0F9F90BF-C06C-429A-8942-B3B952A93739}"/>
                </a:ext>
              </a:extLst>
            </p:cNvPr>
            <p:cNvSpPr/>
            <p:nvPr/>
          </p:nvSpPr>
          <p:spPr>
            <a:xfrm>
              <a:off x="717550" y="304800"/>
              <a:ext cx="425450" cy="1143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12A30093-C8F5-4F07-B195-986A758BC981}"/>
                </a:ext>
              </a:extLst>
            </p:cNvPr>
            <p:cNvSpPr/>
            <p:nvPr/>
          </p:nvSpPr>
          <p:spPr>
            <a:xfrm>
              <a:off x="1206500" y="304800"/>
              <a:ext cx="425450" cy="11430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Slide Number Placeholder 4">
            <a:extLst>
              <a:ext uri="{FF2B5EF4-FFF2-40B4-BE49-F238E27FC236}">
                <a16:creationId xmlns:a16="http://schemas.microsoft.com/office/drawing/2014/main" id="{5B678B3D-C768-4414-9D93-8D269D7AFD3E}"/>
              </a:ext>
            </a:extLst>
          </p:cNvPr>
          <p:cNvSpPr>
            <a:spLocks noGrp="1"/>
          </p:cNvSpPr>
          <p:nvPr>
            <p:ph type="sldNum" sz="quarter" idx="12"/>
          </p:nvPr>
        </p:nvSpPr>
        <p:spPr>
          <a:xfrm>
            <a:off x="4724400" y="6561451"/>
            <a:ext cx="2743200" cy="184666"/>
          </a:xfrm>
        </p:spPr>
        <p:txBody>
          <a:bodyPr lIns="0" tIns="0" rIns="0" bIns="0">
            <a:spAutoFit/>
          </a:bodyPr>
          <a:lstStyle>
            <a:lvl1pPr algn="ctr">
              <a:defRPr>
                <a:solidFill>
                  <a:schemeClr val="tx1">
                    <a:lumMod val="75000"/>
                    <a:lumOff val="25000"/>
                  </a:schemeClr>
                </a:solidFill>
              </a:defRPr>
            </a:lvl1pPr>
          </a:lstStyle>
          <a:p>
            <a:fld id="{9598DBAD-472B-4D31-8670-5164AECB0621}" type="slidenum">
              <a:rPr lang="en-US" smtClean="0"/>
              <a:pPr/>
              <a:t>‹#›</a:t>
            </a:fld>
            <a:endParaRPr lang="en-US"/>
          </a:p>
        </p:txBody>
      </p:sp>
    </p:spTree>
    <p:extLst>
      <p:ext uri="{BB962C8B-B14F-4D97-AF65-F5344CB8AC3E}">
        <p14:creationId xmlns:p14="http://schemas.microsoft.com/office/powerpoint/2010/main" val="7463738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Only">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5D5D99BB-336F-463E-AE7E-5612A692E7DA}"/>
              </a:ext>
            </a:extLst>
          </p:cNvPr>
          <p:cNvSpPr/>
          <p:nvPr userDrawn="1"/>
        </p:nvSpPr>
        <p:spPr>
          <a:xfrm>
            <a:off x="5643528" y="6410325"/>
            <a:ext cx="904944" cy="447675"/>
          </a:xfrm>
          <a:custGeom>
            <a:avLst/>
            <a:gdLst>
              <a:gd name="connsiteX0" fmla="*/ 452472 w 904944"/>
              <a:gd name="connsiteY0" fmla="*/ 0 h 447675"/>
              <a:gd name="connsiteX1" fmla="*/ 896278 w 904944"/>
              <a:gd name="connsiteY1" fmla="*/ 361713 h 447675"/>
              <a:gd name="connsiteX2" fmla="*/ 904944 w 904944"/>
              <a:gd name="connsiteY2" fmla="*/ 447675 h 447675"/>
              <a:gd name="connsiteX3" fmla="*/ 0 w 904944"/>
              <a:gd name="connsiteY3" fmla="*/ 447675 h 447675"/>
              <a:gd name="connsiteX4" fmla="*/ 8666 w 904944"/>
              <a:gd name="connsiteY4" fmla="*/ 361713 h 447675"/>
              <a:gd name="connsiteX5" fmla="*/ 452472 w 904944"/>
              <a:gd name="connsiteY5" fmla="*/ 0 h 447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4944" h="447675">
                <a:moveTo>
                  <a:pt x="452472" y="0"/>
                </a:moveTo>
                <a:cubicBezTo>
                  <a:pt x="671389" y="0"/>
                  <a:pt x="854037" y="155283"/>
                  <a:pt x="896278" y="361713"/>
                </a:cubicBezTo>
                <a:lnTo>
                  <a:pt x="904944" y="447675"/>
                </a:lnTo>
                <a:lnTo>
                  <a:pt x="0" y="447675"/>
                </a:lnTo>
                <a:lnTo>
                  <a:pt x="8666" y="361713"/>
                </a:lnTo>
                <a:cubicBezTo>
                  <a:pt x="50907" y="155283"/>
                  <a:pt x="233555" y="0"/>
                  <a:pt x="45247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C8F62449-1317-4F80-9F35-EAE18C376268}"/>
              </a:ext>
            </a:extLst>
          </p:cNvPr>
          <p:cNvSpPr>
            <a:spLocks noGrp="1"/>
          </p:cNvSpPr>
          <p:nvPr>
            <p:ph type="dt" sz="half" idx="10"/>
          </p:nvPr>
        </p:nvSpPr>
        <p:spPr/>
        <p:txBody>
          <a:bodyPr/>
          <a:lstStyle/>
          <a:p>
            <a:fld id="{3458C920-891B-44A7-8ADA-6FD6881BCD8C}" type="datetime1">
              <a:rPr lang="en-US" smtClean="0"/>
              <a:t>9/30/2026</a:t>
            </a:fld>
            <a:endParaRPr lang="en-US"/>
          </a:p>
        </p:txBody>
      </p:sp>
      <p:sp>
        <p:nvSpPr>
          <p:cNvPr id="4" name="Footer Placeholder 3">
            <a:extLst>
              <a:ext uri="{FF2B5EF4-FFF2-40B4-BE49-F238E27FC236}">
                <a16:creationId xmlns:a16="http://schemas.microsoft.com/office/drawing/2014/main" id="{BF4434B9-5B8B-4E0C-A35B-AF770FD3697F}"/>
              </a:ext>
            </a:extLst>
          </p:cNvPr>
          <p:cNvSpPr>
            <a:spLocks noGrp="1"/>
          </p:cNvSpPr>
          <p:nvPr>
            <p:ph type="ftr" sz="quarter" idx="11"/>
          </p:nvPr>
        </p:nvSpPr>
        <p:spPr>
          <a:xfrm>
            <a:off x="8610598" y="6356350"/>
            <a:ext cx="2743201" cy="365125"/>
          </a:xfrm>
        </p:spPr>
        <p:txBody>
          <a:bodyPr/>
          <a:lstStyle>
            <a:lvl1pPr algn="r">
              <a:defRPr/>
            </a:lvl1pPr>
          </a:lstStyle>
          <a:p>
            <a:r>
              <a:rPr lang="en-US" dirty="0"/>
              <a:t>Your Logo Here</a:t>
            </a:r>
          </a:p>
        </p:txBody>
      </p:sp>
      <p:sp>
        <p:nvSpPr>
          <p:cNvPr id="5" name="Slide Number Placeholder 4">
            <a:extLst>
              <a:ext uri="{FF2B5EF4-FFF2-40B4-BE49-F238E27FC236}">
                <a16:creationId xmlns:a16="http://schemas.microsoft.com/office/drawing/2014/main" id="{5B678B3D-C768-4414-9D93-8D269D7AFD3E}"/>
              </a:ext>
            </a:extLst>
          </p:cNvPr>
          <p:cNvSpPr>
            <a:spLocks noGrp="1"/>
          </p:cNvSpPr>
          <p:nvPr>
            <p:ph type="sldNum" sz="quarter" idx="12"/>
          </p:nvPr>
        </p:nvSpPr>
        <p:spPr>
          <a:xfrm>
            <a:off x="4724400" y="6561451"/>
            <a:ext cx="2743200" cy="184666"/>
          </a:xfrm>
        </p:spPr>
        <p:txBody>
          <a:bodyPr lIns="0" tIns="0" rIns="0" bIns="0">
            <a:spAutoFit/>
          </a:bodyPr>
          <a:lstStyle>
            <a:lvl1pPr algn="ctr">
              <a:defRPr>
                <a:solidFill>
                  <a:schemeClr val="tx1">
                    <a:lumMod val="75000"/>
                    <a:lumOff val="25000"/>
                  </a:schemeClr>
                </a:solidFill>
              </a:defRPr>
            </a:lvl1pPr>
          </a:lstStyle>
          <a:p>
            <a:fld id="{9598DBAD-472B-4D31-8670-5164AECB0621}" type="slidenum">
              <a:rPr lang="en-US" smtClean="0"/>
              <a:pPr/>
              <a:t>‹#›</a:t>
            </a:fld>
            <a:endParaRPr lang="en-US"/>
          </a:p>
        </p:txBody>
      </p:sp>
      <p:grpSp>
        <p:nvGrpSpPr>
          <p:cNvPr id="12" name="Group 11">
            <a:extLst>
              <a:ext uri="{FF2B5EF4-FFF2-40B4-BE49-F238E27FC236}">
                <a16:creationId xmlns:a16="http://schemas.microsoft.com/office/drawing/2014/main" id="{CE3D8BC8-8DC8-4AA2-85FB-0EA3FB0231BE}"/>
              </a:ext>
            </a:extLst>
          </p:cNvPr>
          <p:cNvGrpSpPr/>
          <p:nvPr userDrawn="1"/>
        </p:nvGrpSpPr>
        <p:grpSpPr>
          <a:xfrm>
            <a:off x="5394325" y="54733"/>
            <a:ext cx="1403350" cy="114300"/>
            <a:chOff x="228600" y="304800"/>
            <a:chExt cx="1403350" cy="114300"/>
          </a:xfrm>
        </p:grpSpPr>
        <p:sp>
          <p:nvSpPr>
            <p:cNvPr id="13" name="Rectangle: Rounded Corners 12">
              <a:extLst>
                <a:ext uri="{FF2B5EF4-FFF2-40B4-BE49-F238E27FC236}">
                  <a16:creationId xmlns:a16="http://schemas.microsoft.com/office/drawing/2014/main" id="{6F7A828F-4D85-4D84-BE34-453F43EF4888}"/>
                </a:ext>
              </a:extLst>
            </p:cNvPr>
            <p:cNvSpPr/>
            <p:nvPr/>
          </p:nvSpPr>
          <p:spPr>
            <a:xfrm>
              <a:off x="228600" y="304800"/>
              <a:ext cx="425450" cy="11430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0F5FC9F5-9C2B-47AC-9AA2-AA5B4B203E64}"/>
                </a:ext>
              </a:extLst>
            </p:cNvPr>
            <p:cNvSpPr/>
            <p:nvPr/>
          </p:nvSpPr>
          <p:spPr>
            <a:xfrm>
              <a:off x="717550" y="304800"/>
              <a:ext cx="425450" cy="114300"/>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1A21138F-1735-4661-AE58-809BAE26A8A2}"/>
                </a:ext>
              </a:extLst>
            </p:cNvPr>
            <p:cNvSpPr/>
            <p:nvPr/>
          </p:nvSpPr>
          <p:spPr>
            <a:xfrm>
              <a:off x="1206500" y="304800"/>
              <a:ext cx="425450" cy="114300"/>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321634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FDAC53-851D-482F-A8A6-4E9C31DB3F2C}"/>
              </a:ext>
            </a:extLst>
          </p:cNvPr>
          <p:cNvSpPr>
            <a:spLocks noGrp="1"/>
          </p:cNvSpPr>
          <p:nvPr>
            <p:ph type="dt" sz="half" idx="10"/>
          </p:nvPr>
        </p:nvSpPr>
        <p:spPr/>
        <p:txBody>
          <a:bodyPr/>
          <a:lstStyle/>
          <a:p>
            <a:fld id="{903E6B65-0E44-4B7F-9597-EA02CFAC016D}" type="datetime1">
              <a:rPr lang="en-US" smtClean="0"/>
              <a:t>9/30/2026</a:t>
            </a:fld>
            <a:endParaRPr lang="en-US"/>
          </a:p>
        </p:txBody>
      </p:sp>
      <p:sp>
        <p:nvSpPr>
          <p:cNvPr id="3" name="Footer Placeholder 2">
            <a:extLst>
              <a:ext uri="{FF2B5EF4-FFF2-40B4-BE49-F238E27FC236}">
                <a16:creationId xmlns:a16="http://schemas.microsoft.com/office/drawing/2014/main" id="{3CC8CFCE-26A8-47B6-ABF6-DDBAE92DEF0B}"/>
              </a:ext>
            </a:extLst>
          </p:cNvPr>
          <p:cNvSpPr>
            <a:spLocks noGrp="1"/>
          </p:cNvSpPr>
          <p:nvPr>
            <p:ph type="ftr" sz="quarter" idx="11"/>
          </p:nvPr>
        </p:nvSpPr>
        <p:spPr/>
        <p:txBody>
          <a:bodyPr/>
          <a:lstStyle/>
          <a:p>
            <a:r>
              <a:rPr lang="en-US"/>
              <a:t>Your Logo Here</a:t>
            </a:r>
          </a:p>
        </p:txBody>
      </p:sp>
      <p:sp>
        <p:nvSpPr>
          <p:cNvPr id="4" name="Slide Number Placeholder 3">
            <a:extLst>
              <a:ext uri="{FF2B5EF4-FFF2-40B4-BE49-F238E27FC236}">
                <a16:creationId xmlns:a16="http://schemas.microsoft.com/office/drawing/2014/main" id="{33566284-04E6-4090-BD32-39844CF794DA}"/>
              </a:ext>
            </a:extLst>
          </p:cNvPr>
          <p:cNvSpPr>
            <a:spLocks noGrp="1"/>
          </p:cNvSpPr>
          <p:nvPr>
            <p:ph type="sldNum" sz="quarter" idx="12"/>
          </p:nvPr>
        </p:nvSpPr>
        <p:spPr/>
        <p:txBody>
          <a:bodyPr/>
          <a:lstStyle/>
          <a:p>
            <a:fld id="{9598DBAD-472B-4D31-8670-5164AECB0621}" type="slidenum">
              <a:rPr lang="en-US" smtClean="0"/>
              <a:t>‹#›</a:t>
            </a:fld>
            <a:endParaRPr lang="en-US"/>
          </a:p>
        </p:txBody>
      </p:sp>
    </p:spTree>
    <p:extLst>
      <p:ext uri="{BB962C8B-B14F-4D97-AF65-F5344CB8AC3E}">
        <p14:creationId xmlns:p14="http://schemas.microsoft.com/office/powerpoint/2010/main" val="32933716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EC52B0-3E57-4124-9E17-4060E3889C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27A93DD-5381-4E93-A042-C7F2220371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FF0BF5-561D-46E1-9DEB-91AF69BAD0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C26028-E5F2-45BF-995A-B79123FF4C00}" type="datetime1">
              <a:rPr lang="en-US" smtClean="0"/>
              <a:t>9/30/2026</a:t>
            </a:fld>
            <a:endParaRPr lang="en-US"/>
          </a:p>
        </p:txBody>
      </p:sp>
      <p:sp>
        <p:nvSpPr>
          <p:cNvPr id="5" name="Footer Placeholder 4">
            <a:extLst>
              <a:ext uri="{FF2B5EF4-FFF2-40B4-BE49-F238E27FC236}">
                <a16:creationId xmlns:a16="http://schemas.microsoft.com/office/drawing/2014/main" id="{F9FDB559-DAEF-40AA-A526-9834956225B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Your Logo Here</a:t>
            </a:r>
          </a:p>
        </p:txBody>
      </p:sp>
      <p:sp>
        <p:nvSpPr>
          <p:cNvPr id="6" name="Slide Number Placeholder 5">
            <a:extLst>
              <a:ext uri="{FF2B5EF4-FFF2-40B4-BE49-F238E27FC236}">
                <a16:creationId xmlns:a16="http://schemas.microsoft.com/office/drawing/2014/main" id="{F94736ED-913D-43FC-B4CE-ABCD171B96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98DBAD-472B-4D31-8670-5164AECB0621}" type="slidenum">
              <a:rPr lang="en-US" smtClean="0"/>
              <a:t>‹#›</a:t>
            </a:fld>
            <a:endParaRPr lang="en-US"/>
          </a:p>
        </p:txBody>
      </p:sp>
    </p:spTree>
    <p:extLst>
      <p:ext uri="{BB962C8B-B14F-4D97-AF65-F5344CB8AC3E}">
        <p14:creationId xmlns:p14="http://schemas.microsoft.com/office/powerpoint/2010/main" val="2376723676"/>
      </p:ext>
    </p:extLst>
  </p:cSld>
  <p:clrMap bg1="lt1" tx1="dk1" bg2="lt2" tx2="dk2" accent1="accent1" accent2="accent2" accent3="accent3" accent4="accent4" accent5="accent5" accent6="accent6" hlink="hlink" folHlink="folHlink"/>
  <p:sldLayoutIdLst>
    <p:sldLayoutId id="2147483649" r:id="rId1"/>
    <p:sldLayoutId id="2147483654" r:id="rId2"/>
    <p:sldLayoutId id="2147483660" r:id="rId3"/>
    <p:sldLayoutId id="2147483655" r:id="rId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9.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10.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58E9955-5DD6-4B18-8EE7-CBAC62170885}"/>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7873" b="7873"/>
          <a:stretch/>
        </p:blipFill>
        <p:spPr>
          <a:xfrm>
            <a:off x="0" y="-1"/>
            <a:ext cx="12192000" cy="6858001"/>
          </a:xfrm>
          <a:prstGeom prst="rect">
            <a:avLst/>
          </a:prstGeom>
        </p:spPr>
      </p:pic>
      <p:sp>
        <p:nvSpPr>
          <p:cNvPr id="6" name="Rectangle 5">
            <a:extLst>
              <a:ext uri="{FF2B5EF4-FFF2-40B4-BE49-F238E27FC236}">
                <a16:creationId xmlns:a16="http://schemas.microsoft.com/office/drawing/2014/main" id="{9A1ED5AB-B213-4442-BC75-83E0C1F75CF3}"/>
              </a:ext>
            </a:extLst>
          </p:cNvPr>
          <p:cNvSpPr/>
          <p:nvPr/>
        </p:nvSpPr>
        <p:spPr>
          <a:xfrm>
            <a:off x="0" y="0"/>
            <a:ext cx="12192000" cy="6858000"/>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4E2F3B0-9524-4641-A682-FFB0FA857EB4}"/>
              </a:ext>
            </a:extLst>
          </p:cNvPr>
          <p:cNvSpPr/>
          <p:nvPr/>
        </p:nvSpPr>
        <p:spPr>
          <a:xfrm>
            <a:off x="0" y="1799771"/>
            <a:ext cx="12192000" cy="3258458"/>
          </a:xfrm>
          <a:prstGeom prst="rect">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104919C9-21B5-461A-AA38-EB6B3173A05F}"/>
              </a:ext>
            </a:extLst>
          </p:cNvPr>
          <p:cNvSpPr/>
          <p:nvPr/>
        </p:nvSpPr>
        <p:spPr>
          <a:xfrm>
            <a:off x="2646736" y="1752998"/>
            <a:ext cx="3998684" cy="3998684"/>
          </a:xfrm>
          <a:prstGeom prst="ellipse">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4">
            <a:extLst>
              <a:ext uri="{FF2B5EF4-FFF2-40B4-BE49-F238E27FC236}">
                <a16:creationId xmlns:a16="http://schemas.microsoft.com/office/drawing/2014/main" id="{41B9853D-E289-4B7C-A749-1CC38583BA5F}"/>
              </a:ext>
            </a:extLst>
          </p:cNvPr>
          <p:cNvSpPr>
            <a:spLocks noGrp="1"/>
          </p:cNvSpPr>
          <p:nvPr>
            <p:ph type="ctrTitle"/>
          </p:nvPr>
        </p:nvSpPr>
        <p:spPr>
          <a:xfrm>
            <a:off x="437072" y="345049"/>
            <a:ext cx="10873801" cy="1107996"/>
          </a:xfrm>
        </p:spPr>
        <p:txBody>
          <a:bodyPr wrap="square" lIns="0" tIns="0" rIns="0" bIns="0" anchor="ctr">
            <a:spAutoFit/>
          </a:bodyPr>
          <a:lstStyle/>
          <a:p>
            <a:r>
              <a:rPr lang="en-US" sz="4400" b="1" dirty="0">
                <a:solidFill>
                  <a:schemeClr val="bg1"/>
                </a:solidFill>
                <a:latin typeface="Times New Roman" panose="02020603050405020304" pitchFamily="18" charset="0"/>
                <a:cs typeface="Times New Roman" panose="02020603050405020304" pitchFamily="18" charset="0"/>
              </a:rPr>
              <a:t>BRIGHT TV</a:t>
            </a:r>
            <a:br>
              <a:rPr lang="en-US" sz="5400" b="1" dirty="0">
                <a:solidFill>
                  <a:schemeClr val="bg1"/>
                </a:solidFill>
                <a:latin typeface="Times New Roman" panose="02020603050405020304" pitchFamily="18" charset="0"/>
                <a:cs typeface="Times New Roman" panose="02020603050405020304" pitchFamily="18" charset="0"/>
              </a:rPr>
            </a:br>
            <a:r>
              <a:rPr lang="en-US" sz="3600" b="1" dirty="0">
                <a:solidFill>
                  <a:schemeClr val="bg1"/>
                </a:solidFill>
                <a:latin typeface="Times New Roman" panose="02020603050405020304" pitchFamily="18" charset="0"/>
                <a:cs typeface="Times New Roman" panose="02020603050405020304" pitchFamily="18" charset="0"/>
              </a:rPr>
              <a:t>Channel performance and  viewership Growth</a:t>
            </a:r>
            <a:endParaRPr lang="en-US" sz="3600" dirty="0">
              <a:solidFill>
                <a:schemeClr val="bg1"/>
              </a:solidFill>
              <a:latin typeface="Times New Roman" panose="02020603050405020304" pitchFamily="18" charset="0"/>
              <a:cs typeface="Times New Roman" panose="02020603050405020304" pitchFamily="18" charset="0"/>
            </a:endParaRPr>
          </a:p>
        </p:txBody>
      </p:sp>
      <p:sp>
        <p:nvSpPr>
          <p:cNvPr id="17" name="Subtitle 13">
            <a:extLst>
              <a:ext uri="{FF2B5EF4-FFF2-40B4-BE49-F238E27FC236}">
                <a16:creationId xmlns:a16="http://schemas.microsoft.com/office/drawing/2014/main" id="{4A4EFA64-88D8-40B6-AE02-13E99A58D60E}"/>
              </a:ext>
            </a:extLst>
          </p:cNvPr>
          <p:cNvSpPr txBox="1">
            <a:spLocks/>
          </p:cNvSpPr>
          <p:nvPr/>
        </p:nvSpPr>
        <p:spPr>
          <a:xfrm>
            <a:off x="-138022" y="5168190"/>
            <a:ext cx="4317726" cy="443198"/>
          </a:xfrm>
          <a:prstGeom prst="rect">
            <a:avLst/>
          </a:prstGeom>
        </p:spPr>
        <p:txBody>
          <a:bodyPr wrap="square" lIns="0" tIns="0" rIns="0" b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b="1" dirty="0">
                <a:solidFill>
                  <a:schemeClr val="bg1"/>
                </a:solidFill>
              </a:rPr>
              <a:t>Prepared by: </a:t>
            </a:r>
            <a:r>
              <a:rPr lang="en-US" dirty="0">
                <a:solidFill>
                  <a:schemeClr val="bg1"/>
                </a:solidFill>
              </a:rPr>
              <a:t>Magazi Sive </a:t>
            </a:r>
          </a:p>
        </p:txBody>
      </p:sp>
      <p:pic>
        <p:nvPicPr>
          <p:cNvPr id="3" name="Picture 2" descr="Four men watching sports">
            <a:extLst>
              <a:ext uri="{FF2B5EF4-FFF2-40B4-BE49-F238E27FC236}">
                <a16:creationId xmlns:a16="http://schemas.microsoft.com/office/drawing/2014/main" id="{C3F35043-1954-0A93-D11B-ADF9B5A4E1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639" y="1871932"/>
            <a:ext cx="5615796" cy="3122761"/>
          </a:xfrm>
          <a:prstGeom prst="rect">
            <a:avLst/>
          </a:prstGeom>
        </p:spPr>
      </p:pic>
      <p:sp>
        <p:nvSpPr>
          <p:cNvPr id="19" name="Freeform 4361">
            <a:extLst>
              <a:ext uri="{FF2B5EF4-FFF2-40B4-BE49-F238E27FC236}">
                <a16:creationId xmlns:a16="http://schemas.microsoft.com/office/drawing/2014/main" id="{989AEEF5-6DF4-401C-AFCC-8B9B2B19A022}"/>
              </a:ext>
            </a:extLst>
          </p:cNvPr>
          <p:cNvSpPr>
            <a:spLocks noEditPoints="1"/>
          </p:cNvSpPr>
          <p:nvPr/>
        </p:nvSpPr>
        <p:spPr bwMode="auto">
          <a:xfrm>
            <a:off x="4909673" y="4446058"/>
            <a:ext cx="783762" cy="548636"/>
          </a:xfrm>
          <a:custGeom>
            <a:avLst/>
            <a:gdLst>
              <a:gd name="T0" fmla="*/ 719 w 898"/>
              <a:gd name="T1" fmla="*/ 476 h 628"/>
              <a:gd name="T2" fmla="*/ 721 w 898"/>
              <a:gd name="T3" fmla="*/ 457 h 628"/>
              <a:gd name="T4" fmla="*/ 810 w 898"/>
              <a:gd name="T5" fmla="*/ 454 h 628"/>
              <a:gd name="T6" fmla="*/ 822 w 898"/>
              <a:gd name="T7" fmla="*/ 468 h 628"/>
              <a:gd name="T8" fmla="*/ 810 w 898"/>
              <a:gd name="T9" fmla="*/ 483 h 628"/>
              <a:gd name="T10" fmla="*/ 695 w 898"/>
              <a:gd name="T11" fmla="*/ 344 h 628"/>
              <a:gd name="T12" fmla="*/ 705 w 898"/>
              <a:gd name="T13" fmla="*/ 328 h 628"/>
              <a:gd name="T14" fmla="*/ 794 w 898"/>
              <a:gd name="T15" fmla="*/ 306 h 628"/>
              <a:gd name="T16" fmla="*/ 788 w 898"/>
              <a:gd name="T17" fmla="*/ 324 h 628"/>
              <a:gd name="T18" fmla="*/ 517 w 898"/>
              <a:gd name="T19" fmla="*/ 417 h 628"/>
              <a:gd name="T20" fmla="*/ 518 w 898"/>
              <a:gd name="T21" fmla="*/ 478 h 628"/>
              <a:gd name="T22" fmla="*/ 485 w 898"/>
              <a:gd name="T23" fmla="*/ 515 h 628"/>
              <a:gd name="T24" fmla="*/ 434 w 898"/>
              <a:gd name="T25" fmla="*/ 522 h 628"/>
              <a:gd name="T26" fmla="*/ 391 w 898"/>
              <a:gd name="T27" fmla="*/ 497 h 628"/>
              <a:gd name="T28" fmla="*/ 374 w 898"/>
              <a:gd name="T29" fmla="*/ 449 h 628"/>
              <a:gd name="T30" fmla="*/ 391 w 898"/>
              <a:gd name="T31" fmla="*/ 401 h 628"/>
              <a:gd name="T32" fmla="*/ 434 w 898"/>
              <a:gd name="T33" fmla="*/ 376 h 628"/>
              <a:gd name="T34" fmla="*/ 662 w 898"/>
              <a:gd name="T35" fmla="*/ 214 h 628"/>
              <a:gd name="T36" fmla="*/ 681 w 898"/>
              <a:gd name="T37" fmla="*/ 212 h 628"/>
              <a:gd name="T38" fmla="*/ 687 w 898"/>
              <a:gd name="T39" fmla="*/ 230 h 628"/>
              <a:gd name="T40" fmla="*/ 333 w 898"/>
              <a:gd name="T41" fmla="*/ 200 h 628"/>
              <a:gd name="T42" fmla="*/ 298 w 898"/>
              <a:gd name="T43" fmla="*/ 113 h 628"/>
              <a:gd name="T44" fmla="*/ 320 w 898"/>
              <a:gd name="T45" fmla="*/ 106 h 628"/>
              <a:gd name="T46" fmla="*/ 355 w 898"/>
              <a:gd name="T47" fmla="*/ 191 h 628"/>
              <a:gd name="T48" fmla="*/ 257 w 898"/>
              <a:gd name="T49" fmla="*/ 262 h 628"/>
              <a:gd name="T50" fmla="*/ 238 w 898"/>
              <a:gd name="T51" fmla="*/ 260 h 628"/>
              <a:gd name="T52" fmla="*/ 182 w 898"/>
              <a:gd name="T53" fmla="*/ 191 h 628"/>
              <a:gd name="T54" fmla="*/ 199 w 898"/>
              <a:gd name="T55" fmla="*/ 181 h 628"/>
              <a:gd name="T56" fmla="*/ 263 w 898"/>
              <a:gd name="T57" fmla="*/ 247 h 628"/>
              <a:gd name="T58" fmla="*/ 199 w 898"/>
              <a:gd name="T59" fmla="*/ 351 h 628"/>
              <a:gd name="T60" fmla="*/ 110 w 898"/>
              <a:gd name="T61" fmla="*/ 324 h 628"/>
              <a:gd name="T62" fmla="*/ 104 w 898"/>
              <a:gd name="T63" fmla="*/ 306 h 628"/>
              <a:gd name="T64" fmla="*/ 194 w 898"/>
              <a:gd name="T65" fmla="*/ 328 h 628"/>
              <a:gd name="T66" fmla="*/ 202 w 898"/>
              <a:gd name="T67" fmla="*/ 344 h 628"/>
              <a:gd name="T68" fmla="*/ 80 w 898"/>
              <a:gd name="T69" fmla="*/ 478 h 628"/>
              <a:gd name="T70" fmla="*/ 78 w 898"/>
              <a:gd name="T71" fmla="*/ 459 h 628"/>
              <a:gd name="T72" fmla="*/ 169 w 898"/>
              <a:gd name="T73" fmla="*/ 454 h 628"/>
              <a:gd name="T74" fmla="*/ 181 w 898"/>
              <a:gd name="T75" fmla="*/ 468 h 628"/>
              <a:gd name="T76" fmla="*/ 169 w 898"/>
              <a:gd name="T77" fmla="*/ 483 h 628"/>
              <a:gd name="T78" fmla="*/ 441 w 898"/>
              <a:gd name="T79" fmla="*/ 78 h 628"/>
              <a:gd name="T80" fmla="*/ 460 w 898"/>
              <a:gd name="T81" fmla="*/ 81 h 628"/>
              <a:gd name="T82" fmla="*/ 463 w 898"/>
              <a:gd name="T83" fmla="*/ 173 h 628"/>
              <a:gd name="T84" fmla="*/ 446 w 898"/>
              <a:gd name="T85" fmla="*/ 181 h 628"/>
              <a:gd name="T86" fmla="*/ 434 w 898"/>
              <a:gd name="T87" fmla="*/ 166 h 628"/>
              <a:gd name="T88" fmla="*/ 580 w 898"/>
              <a:gd name="T89" fmla="*/ 104 h 628"/>
              <a:gd name="T90" fmla="*/ 600 w 898"/>
              <a:gd name="T91" fmla="*/ 116 h 628"/>
              <a:gd name="T92" fmla="*/ 562 w 898"/>
              <a:gd name="T93" fmla="*/ 202 h 628"/>
              <a:gd name="T94" fmla="*/ 543 w 898"/>
              <a:gd name="T95" fmla="*/ 194 h 628"/>
              <a:gd name="T96" fmla="*/ 403 w 898"/>
              <a:gd name="T97" fmla="*/ 2 h 628"/>
              <a:gd name="T98" fmla="*/ 255 w 898"/>
              <a:gd name="T99" fmla="*/ 44 h 628"/>
              <a:gd name="T100" fmla="*/ 131 w 898"/>
              <a:gd name="T101" fmla="*/ 132 h 628"/>
              <a:gd name="T102" fmla="*/ 45 w 898"/>
              <a:gd name="T103" fmla="*/ 255 h 628"/>
              <a:gd name="T104" fmla="*/ 3 w 898"/>
              <a:gd name="T105" fmla="*/ 403 h 628"/>
              <a:gd name="T106" fmla="*/ 4 w 898"/>
              <a:gd name="T107" fmla="*/ 624 h 628"/>
              <a:gd name="T108" fmla="*/ 888 w 898"/>
              <a:gd name="T109" fmla="*/ 627 h 628"/>
              <a:gd name="T110" fmla="*/ 898 w 898"/>
              <a:gd name="T111" fmla="*/ 449 h 628"/>
              <a:gd name="T112" fmla="*/ 870 w 898"/>
              <a:gd name="T113" fmla="*/ 294 h 628"/>
              <a:gd name="T114" fmla="*/ 795 w 898"/>
              <a:gd name="T115" fmla="*/ 164 h 628"/>
              <a:gd name="T116" fmla="*/ 681 w 898"/>
              <a:gd name="T117" fmla="*/ 66 h 628"/>
              <a:gd name="T118" fmla="*/ 539 w 898"/>
              <a:gd name="T119" fmla="*/ 9 h 6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98" h="628">
                <a:moveTo>
                  <a:pt x="807" y="483"/>
                </a:moveTo>
                <a:lnTo>
                  <a:pt x="732" y="483"/>
                </a:lnTo>
                <a:lnTo>
                  <a:pt x="729" y="483"/>
                </a:lnTo>
                <a:lnTo>
                  <a:pt x="726" y="482"/>
                </a:lnTo>
                <a:lnTo>
                  <a:pt x="723" y="481"/>
                </a:lnTo>
                <a:lnTo>
                  <a:pt x="721" y="478"/>
                </a:lnTo>
                <a:lnTo>
                  <a:pt x="719" y="476"/>
                </a:lnTo>
                <a:lnTo>
                  <a:pt x="718" y="474"/>
                </a:lnTo>
                <a:lnTo>
                  <a:pt x="717" y="471"/>
                </a:lnTo>
                <a:lnTo>
                  <a:pt x="717" y="468"/>
                </a:lnTo>
                <a:lnTo>
                  <a:pt x="717" y="465"/>
                </a:lnTo>
                <a:lnTo>
                  <a:pt x="718" y="462"/>
                </a:lnTo>
                <a:lnTo>
                  <a:pt x="719" y="459"/>
                </a:lnTo>
                <a:lnTo>
                  <a:pt x="721" y="457"/>
                </a:lnTo>
                <a:lnTo>
                  <a:pt x="723" y="455"/>
                </a:lnTo>
                <a:lnTo>
                  <a:pt x="726" y="454"/>
                </a:lnTo>
                <a:lnTo>
                  <a:pt x="729" y="454"/>
                </a:lnTo>
                <a:lnTo>
                  <a:pt x="732" y="453"/>
                </a:lnTo>
                <a:lnTo>
                  <a:pt x="732" y="453"/>
                </a:lnTo>
                <a:lnTo>
                  <a:pt x="808" y="453"/>
                </a:lnTo>
                <a:lnTo>
                  <a:pt x="810" y="454"/>
                </a:lnTo>
                <a:lnTo>
                  <a:pt x="813" y="454"/>
                </a:lnTo>
                <a:lnTo>
                  <a:pt x="815" y="456"/>
                </a:lnTo>
                <a:lnTo>
                  <a:pt x="817" y="458"/>
                </a:lnTo>
                <a:lnTo>
                  <a:pt x="819" y="460"/>
                </a:lnTo>
                <a:lnTo>
                  <a:pt x="821" y="462"/>
                </a:lnTo>
                <a:lnTo>
                  <a:pt x="822" y="466"/>
                </a:lnTo>
                <a:lnTo>
                  <a:pt x="822" y="468"/>
                </a:lnTo>
                <a:lnTo>
                  <a:pt x="822" y="471"/>
                </a:lnTo>
                <a:lnTo>
                  <a:pt x="821" y="474"/>
                </a:lnTo>
                <a:lnTo>
                  <a:pt x="819" y="476"/>
                </a:lnTo>
                <a:lnTo>
                  <a:pt x="817" y="478"/>
                </a:lnTo>
                <a:lnTo>
                  <a:pt x="815" y="481"/>
                </a:lnTo>
                <a:lnTo>
                  <a:pt x="813" y="482"/>
                </a:lnTo>
                <a:lnTo>
                  <a:pt x="810" y="483"/>
                </a:lnTo>
                <a:lnTo>
                  <a:pt x="807" y="483"/>
                </a:lnTo>
                <a:close/>
                <a:moveTo>
                  <a:pt x="710" y="355"/>
                </a:moveTo>
                <a:lnTo>
                  <a:pt x="706" y="355"/>
                </a:lnTo>
                <a:lnTo>
                  <a:pt x="702" y="353"/>
                </a:lnTo>
                <a:lnTo>
                  <a:pt x="699" y="351"/>
                </a:lnTo>
                <a:lnTo>
                  <a:pt x="696" y="347"/>
                </a:lnTo>
                <a:lnTo>
                  <a:pt x="695" y="344"/>
                </a:lnTo>
                <a:lnTo>
                  <a:pt x="695" y="342"/>
                </a:lnTo>
                <a:lnTo>
                  <a:pt x="695" y="338"/>
                </a:lnTo>
                <a:lnTo>
                  <a:pt x="696" y="335"/>
                </a:lnTo>
                <a:lnTo>
                  <a:pt x="698" y="333"/>
                </a:lnTo>
                <a:lnTo>
                  <a:pt x="700" y="331"/>
                </a:lnTo>
                <a:lnTo>
                  <a:pt x="702" y="329"/>
                </a:lnTo>
                <a:lnTo>
                  <a:pt x="705" y="328"/>
                </a:lnTo>
                <a:lnTo>
                  <a:pt x="775" y="298"/>
                </a:lnTo>
                <a:lnTo>
                  <a:pt x="777" y="297"/>
                </a:lnTo>
                <a:lnTo>
                  <a:pt x="780" y="297"/>
                </a:lnTo>
                <a:lnTo>
                  <a:pt x="783" y="298"/>
                </a:lnTo>
                <a:lnTo>
                  <a:pt x="785" y="298"/>
                </a:lnTo>
                <a:lnTo>
                  <a:pt x="791" y="302"/>
                </a:lnTo>
                <a:lnTo>
                  <a:pt x="794" y="306"/>
                </a:lnTo>
                <a:lnTo>
                  <a:pt x="795" y="309"/>
                </a:lnTo>
                <a:lnTo>
                  <a:pt x="795" y="313"/>
                </a:lnTo>
                <a:lnTo>
                  <a:pt x="795" y="315"/>
                </a:lnTo>
                <a:lnTo>
                  <a:pt x="794" y="318"/>
                </a:lnTo>
                <a:lnTo>
                  <a:pt x="793" y="320"/>
                </a:lnTo>
                <a:lnTo>
                  <a:pt x="791" y="322"/>
                </a:lnTo>
                <a:lnTo>
                  <a:pt x="788" y="324"/>
                </a:lnTo>
                <a:lnTo>
                  <a:pt x="785" y="325"/>
                </a:lnTo>
                <a:lnTo>
                  <a:pt x="716" y="354"/>
                </a:lnTo>
                <a:lnTo>
                  <a:pt x="714" y="355"/>
                </a:lnTo>
                <a:lnTo>
                  <a:pt x="710" y="355"/>
                </a:lnTo>
                <a:close/>
                <a:moveTo>
                  <a:pt x="684" y="235"/>
                </a:moveTo>
                <a:lnTo>
                  <a:pt x="511" y="408"/>
                </a:lnTo>
                <a:lnTo>
                  <a:pt x="517" y="417"/>
                </a:lnTo>
                <a:lnTo>
                  <a:pt x="520" y="427"/>
                </a:lnTo>
                <a:lnTo>
                  <a:pt x="523" y="438"/>
                </a:lnTo>
                <a:lnTo>
                  <a:pt x="524" y="449"/>
                </a:lnTo>
                <a:lnTo>
                  <a:pt x="523" y="456"/>
                </a:lnTo>
                <a:lnTo>
                  <a:pt x="522" y="464"/>
                </a:lnTo>
                <a:lnTo>
                  <a:pt x="520" y="471"/>
                </a:lnTo>
                <a:lnTo>
                  <a:pt x="518" y="478"/>
                </a:lnTo>
                <a:lnTo>
                  <a:pt x="515" y="485"/>
                </a:lnTo>
                <a:lnTo>
                  <a:pt x="511" y="490"/>
                </a:lnTo>
                <a:lnTo>
                  <a:pt x="507" y="497"/>
                </a:lnTo>
                <a:lnTo>
                  <a:pt x="502" y="502"/>
                </a:lnTo>
                <a:lnTo>
                  <a:pt x="496" y="506"/>
                </a:lnTo>
                <a:lnTo>
                  <a:pt x="491" y="511"/>
                </a:lnTo>
                <a:lnTo>
                  <a:pt x="485" y="515"/>
                </a:lnTo>
                <a:lnTo>
                  <a:pt x="478" y="518"/>
                </a:lnTo>
                <a:lnTo>
                  <a:pt x="471" y="520"/>
                </a:lnTo>
                <a:lnTo>
                  <a:pt x="464" y="522"/>
                </a:lnTo>
                <a:lnTo>
                  <a:pt x="457" y="523"/>
                </a:lnTo>
                <a:lnTo>
                  <a:pt x="449" y="523"/>
                </a:lnTo>
                <a:lnTo>
                  <a:pt x="442" y="523"/>
                </a:lnTo>
                <a:lnTo>
                  <a:pt x="434" y="522"/>
                </a:lnTo>
                <a:lnTo>
                  <a:pt x="427" y="520"/>
                </a:lnTo>
                <a:lnTo>
                  <a:pt x="419" y="518"/>
                </a:lnTo>
                <a:lnTo>
                  <a:pt x="413" y="515"/>
                </a:lnTo>
                <a:lnTo>
                  <a:pt x="408" y="511"/>
                </a:lnTo>
                <a:lnTo>
                  <a:pt x="401" y="506"/>
                </a:lnTo>
                <a:lnTo>
                  <a:pt x="396" y="502"/>
                </a:lnTo>
                <a:lnTo>
                  <a:pt x="391" y="497"/>
                </a:lnTo>
                <a:lnTo>
                  <a:pt x="387" y="490"/>
                </a:lnTo>
                <a:lnTo>
                  <a:pt x="383" y="485"/>
                </a:lnTo>
                <a:lnTo>
                  <a:pt x="380" y="478"/>
                </a:lnTo>
                <a:lnTo>
                  <a:pt x="378" y="471"/>
                </a:lnTo>
                <a:lnTo>
                  <a:pt x="375" y="464"/>
                </a:lnTo>
                <a:lnTo>
                  <a:pt x="374" y="456"/>
                </a:lnTo>
                <a:lnTo>
                  <a:pt x="374" y="449"/>
                </a:lnTo>
                <a:lnTo>
                  <a:pt x="374" y="441"/>
                </a:lnTo>
                <a:lnTo>
                  <a:pt x="375" y="434"/>
                </a:lnTo>
                <a:lnTo>
                  <a:pt x="378" y="427"/>
                </a:lnTo>
                <a:lnTo>
                  <a:pt x="380" y="420"/>
                </a:lnTo>
                <a:lnTo>
                  <a:pt x="383" y="413"/>
                </a:lnTo>
                <a:lnTo>
                  <a:pt x="387" y="407"/>
                </a:lnTo>
                <a:lnTo>
                  <a:pt x="391" y="401"/>
                </a:lnTo>
                <a:lnTo>
                  <a:pt x="396" y="396"/>
                </a:lnTo>
                <a:lnTo>
                  <a:pt x="401" y="391"/>
                </a:lnTo>
                <a:lnTo>
                  <a:pt x="408" y="386"/>
                </a:lnTo>
                <a:lnTo>
                  <a:pt x="413" y="383"/>
                </a:lnTo>
                <a:lnTo>
                  <a:pt x="419" y="380"/>
                </a:lnTo>
                <a:lnTo>
                  <a:pt x="427" y="377"/>
                </a:lnTo>
                <a:lnTo>
                  <a:pt x="434" y="376"/>
                </a:lnTo>
                <a:lnTo>
                  <a:pt x="442" y="375"/>
                </a:lnTo>
                <a:lnTo>
                  <a:pt x="449" y="374"/>
                </a:lnTo>
                <a:lnTo>
                  <a:pt x="460" y="375"/>
                </a:lnTo>
                <a:lnTo>
                  <a:pt x="471" y="377"/>
                </a:lnTo>
                <a:lnTo>
                  <a:pt x="480" y="381"/>
                </a:lnTo>
                <a:lnTo>
                  <a:pt x="490" y="388"/>
                </a:lnTo>
                <a:lnTo>
                  <a:pt x="662" y="214"/>
                </a:lnTo>
                <a:lnTo>
                  <a:pt x="665" y="212"/>
                </a:lnTo>
                <a:lnTo>
                  <a:pt x="668" y="211"/>
                </a:lnTo>
                <a:lnTo>
                  <a:pt x="671" y="210"/>
                </a:lnTo>
                <a:lnTo>
                  <a:pt x="673" y="209"/>
                </a:lnTo>
                <a:lnTo>
                  <a:pt x="676" y="210"/>
                </a:lnTo>
                <a:lnTo>
                  <a:pt x="679" y="211"/>
                </a:lnTo>
                <a:lnTo>
                  <a:pt x="681" y="212"/>
                </a:lnTo>
                <a:lnTo>
                  <a:pt x="684" y="214"/>
                </a:lnTo>
                <a:lnTo>
                  <a:pt x="686" y="216"/>
                </a:lnTo>
                <a:lnTo>
                  <a:pt x="687" y="219"/>
                </a:lnTo>
                <a:lnTo>
                  <a:pt x="688" y="222"/>
                </a:lnTo>
                <a:lnTo>
                  <a:pt x="688" y="225"/>
                </a:lnTo>
                <a:lnTo>
                  <a:pt x="688" y="228"/>
                </a:lnTo>
                <a:lnTo>
                  <a:pt x="687" y="230"/>
                </a:lnTo>
                <a:lnTo>
                  <a:pt x="686" y="232"/>
                </a:lnTo>
                <a:lnTo>
                  <a:pt x="684" y="235"/>
                </a:lnTo>
                <a:close/>
                <a:moveTo>
                  <a:pt x="347" y="201"/>
                </a:moveTo>
                <a:lnTo>
                  <a:pt x="343" y="202"/>
                </a:lnTo>
                <a:lnTo>
                  <a:pt x="341" y="204"/>
                </a:lnTo>
                <a:lnTo>
                  <a:pt x="337" y="202"/>
                </a:lnTo>
                <a:lnTo>
                  <a:pt x="333" y="200"/>
                </a:lnTo>
                <a:lnTo>
                  <a:pt x="329" y="197"/>
                </a:lnTo>
                <a:lnTo>
                  <a:pt x="327" y="193"/>
                </a:lnTo>
                <a:lnTo>
                  <a:pt x="298" y="124"/>
                </a:lnTo>
                <a:lnTo>
                  <a:pt x="297" y="121"/>
                </a:lnTo>
                <a:lnTo>
                  <a:pt x="297" y="118"/>
                </a:lnTo>
                <a:lnTo>
                  <a:pt x="297" y="116"/>
                </a:lnTo>
                <a:lnTo>
                  <a:pt x="298" y="113"/>
                </a:lnTo>
                <a:lnTo>
                  <a:pt x="299" y="110"/>
                </a:lnTo>
                <a:lnTo>
                  <a:pt x="302" y="108"/>
                </a:lnTo>
                <a:lnTo>
                  <a:pt x="304" y="106"/>
                </a:lnTo>
                <a:lnTo>
                  <a:pt x="306" y="105"/>
                </a:lnTo>
                <a:lnTo>
                  <a:pt x="312" y="104"/>
                </a:lnTo>
                <a:lnTo>
                  <a:pt x="318" y="104"/>
                </a:lnTo>
                <a:lnTo>
                  <a:pt x="320" y="106"/>
                </a:lnTo>
                <a:lnTo>
                  <a:pt x="322" y="107"/>
                </a:lnTo>
                <a:lnTo>
                  <a:pt x="324" y="109"/>
                </a:lnTo>
                <a:lnTo>
                  <a:pt x="325" y="113"/>
                </a:lnTo>
                <a:lnTo>
                  <a:pt x="354" y="182"/>
                </a:lnTo>
                <a:lnTo>
                  <a:pt x="355" y="185"/>
                </a:lnTo>
                <a:lnTo>
                  <a:pt x="356" y="189"/>
                </a:lnTo>
                <a:lnTo>
                  <a:pt x="355" y="191"/>
                </a:lnTo>
                <a:lnTo>
                  <a:pt x="354" y="194"/>
                </a:lnTo>
                <a:lnTo>
                  <a:pt x="353" y="196"/>
                </a:lnTo>
                <a:lnTo>
                  <a:pt x="351" y="198"/>
                </a:lnTo>
                <a:lnTo>
                  <a:pt x="349" y="200"/>
                </a:lnTo>
                <a:lnTo>
                  <a:pt x="347" y="201"/>
                </a:lnTo>
                <a:close/>
                <a:moveTo>
                  <a:pt x="260" y="260"/>
                </a:moveTo>
                <a:lnTo>
                  <a:pt x="257" y="262"/>
                </a:lnTo>
                <a:lnTo>
                  <a:pt x="255" y="263"/>
                </a:lnTo>
                <a:lnTo>
                  <a:pt x="251" y="265"/>
                </a:lnTo>
                <a:lnTo>
                  <a:pt x="249" y="265"/>
                </a:lnTo>
                <a:lnTo>
                  <a:pt x="246" y="265"/>
                </a:lnTo>
                <a:lnTo>
                  <a:pt x="243" y="263"/>
                </a:lnTo>
                <a:lnTo>
                  <a:pt x="241" y="262"/>
                </a:lnTo>
                <a:lnTo>
                  <a:pt x="238" y="260"/>
                </a:lnTo>
                <a:lnTo>
                  <a:pt x="185" y="207"/>
                </a:lnTo>
                <a:lnTo>
                  <a:pt x="183" y="204"/>
                </a:lnTo>
                <a:lnTo>
                  <a:pt x="182" y="201"/>
                </a:lnTo>
                <a:lnTo>
                  <a:pt x="181" y="198"/>
                </a:lnTo>
                <a:lnTo>
                  <a:pt x="181" y="196"/>
                </a:lnTo>
                <a:lnTo>
                  <a:pt x="181" y="193"/>
                </a:lnTo>
                <a:lnTo>
                  <a:pt x="182" y="191"/>
                </a:lnTo>
                <a:lnTo>
                  <a:pt x="183" y="187"/>
                </a:lnTo>
                <a:lnTo>
                  <a:pt x="185" y="185"/>
                </a:lnTo>
                <a:lnTo>
                  <a:pt x="187" y="183"/>
                </a:lnTo>
                <a:lnTo>
                  <a:pt x="190" y="182"/>
                </a:lnTo>
                <a:lnTo>
                  <a:pt x="192" y="181"/>
                </a:lnTo>
                <a:lnTo>
                  <a:pt x="196" y="181"/>
                </a:lnTo>
                <a:lnTo>
                  <a:pt x="199" y="181"/>
                </a:lnTo>
                <a:lnTo>
                  <a:pt x="201" y="182"/>
                </a:lnTo>
                <a:lnTo>
                  <a:pt x="204" y="183"/>
                </a:lnTo>
                <a:lnTo>
                  <a:pt x="206" y="185"/>
                </a:lnTo>
                <a:lnTo>
                  <a:pt x="260" y="239"/>
                </a:lnTo>
                <a:lnTo>
                  <a:pt x="261" y="242"/>
                </a:lnTo>
                <a:lnTo>
                  <a:pt x="263" y="244"/>
                </a:lnTo>
                <a:lnTo>
                  <a:pt x="263" y="247"/>
                </a:lnTo>
                <a:lnTo>
                  <a:pt x="264" y="250"/>
                </a:lnTo>
                <a:lnTo>
                  <a:pt x="263" y="253"/>
                </a:lnTo>
                <a:lnTo>
                  <a:pt x="263" y="255"/>
                </a:lnTo>
                <a:lnTo>
                  <a:pt x="261" y="258"/>
                </a:lnTo>
                <a:lnTo>
                  <a:pt x="260" y="260"/>
                </a:lnTo>
                <a:close/>
                <a:moveTo>
                  <a:pt x="201" y="347"/>
                </a:moveTo>
                <a:lnTo>
                  <a:pt x="199" y="351"/>
                </a:lnTo>
                <a:lnTo>
                  <a:pt x="196" y="353"/>
                </a:lnTo>
                <a:lnTo>
                  <a:pt x="191" y="355"/>
                </a:lnTo>
                <a:lnTo>
                  <a:pt x="187" y="355"/>
                </a:lnTo>
                <a:lnTo>
                  <a:pt x="185" y="355"/>
                </a:lnTo>
                <a:lnTo>
                  <a:pt x="182" y="354"/>
                </a:lnTo>
                <a:lnTo>
                  <a:pt x="112" y="325"/>
                </a:lnTo>
                <a:lnTo>
                  <a:pt x="110" y="324"/>
                </a:lnTo>
                <a:lnTo>
                  <a:pt x="107" y="322"/>
                </a:lnTo>
                <a:lnTo>
                  <a:pt x="106" y="320"/>
                </a:lnTo>
                <a:lnTo>
                  <a:pt x="104" y="318"/>
                </a:lnTo>
                <a:lnTo>
                  <a:pt x="104" y="315"/>
                </a:lnTo>
                <a:lnTo>
                  <a:pt x="103" y="313"/>
                </a:lnTo>
                <a:lnTo>
                  <a:pt x="104" y="309"/>
                </a:lnTo>
                <a:lnTo>
                  <a:pt x="104" y="306"/>
                </a:lnTo>
                <a:lnTo>
                  <a:pt x="108" y="302"/>
                </a:lnTo>
                <a:lnTo>
                  <a:pt x="112" y="298"/>
                </a:lnTo>
                <a:lnTo>
                  <a:pt x="115" y="298"/>
                </a:lnTo>
                <a:lnTo>
                  <a:pt x="118" y="297"/>
                </a:lnTo>
                <a:lnTo>
                  <a:pt x="121" y="297"/>
                </a:lnTo>
                <a:lnTo>
                  <a:pt x="124" y="298"/>
                </a:lnTo>
                <a:lnTo>
                  <a:pt x="194" y="328"/>
                </a:lnTo>
                <a:lnTo>
                  <a:pt x="196" y="329"/>
                </a:lnTo>
                <a:lnTo>
                  <a:pt x="198" y="331"/>
                </a:lnTo>
                <a:lnTo>
                  <a:pt x="200" y="333"/>
                </a:lnTo>
                <a:lnTo>
                  <a:pt x="201" y="335"/>
                </a:lnTo>
                <a:lnTo>
                  <a:pt x="202" y="338"/>
                </a:lnTo>
                <a:lnTo>
                  <a:pt x="202" y="342"/>
                </a:lnTo>
                <a:lnTo>
                  <a:pt x="202" y="344"/>
                </a:lnTo>
                <a:lnTo>
                  <a:pt x="201" y="347"/>
                </a:lnTo>
                <a:close/>
                <a:moveTo>
                  <a:pt x="166" y="483"/>
                </a:moveTo>
                <a:lnTo>
                  <a:pt x="91" y="483"/>
                </a:lnTo>
                <a:lnTo>
                  <a:pt x="88" y="483"/>
                </a:lnTo>
                <a:lnTo>
                  <a:pt x="84" y="482"/>
                </a:lnTo>
                <a:lnTo>
                  <a:pt x="82" y="481"/>
                </a:lnTo>
                <a:lnTo>
                  <a:pt x="80" y="478"/>
                </a:lnTo>
                <a:lnTo>
                  <a:pt x="78" y="476"/>
                </a:lnTo>
                <a:lnTo>
                  <a:pt x="77" y="474"/>
                </a:lnTo>
                <a:lnTo>
                  <a:pt x="76" y="471"/>
                </a:lnTo>
                <a:lnTo>
                  <a:pt x="76" y="468"/>
                </a:lnTo>
                <a:lnTo>
                  <a:pt x="76" y="465"/>
                </a:lnTo>
                <a:lnTo>
                  <a:pt x="77" y="462"/>
                </a:lnTo>
                <a:lnTo>
                  <a:pt x="78" y="459"/>
                </a:lnTo>
                <a:lnTo>
                  <a:pt x="80" y="457"/>
                </a:lnTo>
                <a:lnTo>
                  <a:pt x="82" y="455"/>
                </a:lnTo>
                <a:lnTo>
                  <a:pt x="84" y="454"/>
                </a:lnTo>
                <a:lnTo>
                  <a:pt x="88" y="454"/>
                </a:lnTo>
                <a:lnTo>
                  <a:pt x="91" y="453"/>
                </a:lnTo>
                <a:lnTo>
                  <a:pt x="166" y="453"/>
                </a:lnTo>
                <a:lnTo>
                  <a:pt x="169" y="454"/>
                </a:lnTo>
                <a:lnTo>
                  <a:pt x="172" y="454"/>
                </a:lnTo>
                <a:lnTo>
                  <a:pt x="174" y="455"/>
                </a:lnTo>
                <a:lnTo>
                  <a:pt x="176" y="457"/>
                </a:lnTo>
                <a:lnTo>
                  <a:pt x="179" y="459"/>
                </a:lnTo>
                <a:lnTo>
                  <a:pt x="180" y="462"/>
                </a:lnTo>
                <a:lnTo>
                  <a:pt x="181" y="465"/>
                </a:lnTo>
                <a:lnTo>
                  <a:pt x="181" y="468"/>
                </a:lnTo>
                <a:lnTo>
                  <a:pt x="181" y="471"/>
                </a:lnTo>
                <a:lnTo>
                  <a:pt x="180" y="474"/>
                </a:lnTo>
                <a:lnTo>
                  <a:pt x="179" y="476"/>
                </a:lnTo>
                <a:lnTo>
                  <a:pt x="176" y="478"/>
                </a:lnTo>
                <a:lnTo>
                  <a:pt x="174" y="481"/>
                </a:lnTo>
                <a:lnTo>
                  <a:pt x="172" y="482"/>
                </a:lnTo>
                <a:lnTo>
                  <a:pt x="169" y="483"/>
                </a:lnTo>
                <a:lnTo>
                  <a:pt x="166" y="483"/>
                </a:lnTo>
                <a:close/>
                <a:moveTo>
                  <a:pt x="434" y="91"/>
                </a:moveTo>
                <a:lnTo>
                  <a:pt x="434" y="88"/>
                </a:lnTo>
                <a:lnTo>
                  <a:pt x="435" y="85"/>
                </a:lnTo>
                <a:lnTo>
                  <a:pt x="436" y="83"/>
                </a:lnTo>
                <a:lnTo>
                  <a:pt x="439" y="81"/>
                </a:lnTo>
                <a:lnTo>
                  <a:pt x="441" y="78"/>
                </a:lnTo>
                <a:lnTo>
                  <a:pt x="443" y="77"/>
                </a:lnTo>
                <a:lnTo>
                  <a:pt x="446" y="76"/>
                </a:lnTo>
                <a:lnTo>
                  <a:pt x="449" y="76"/>
                </a:lnTo>
                <a:lnTo>
                  <a:pt x="451" y="76"/>
                </a:lnTo>
                <a:lnTo>
                  <a:pt x="455" y="77"/>
                </a:lnTo>
                <a:lnTo>
                  <a:pt x="457" y="78"/>
                </a:lnTo>
                <a:lnTo>
                  <a:pt x="460" y="81"/>
                </a:lnTo>
                <a:lnTo>
                  <a:pt x="461" y="83"/>
                </a:lnTo>
                <a:lnTo>
                  <a:pt x="463" y="85"/>
                </a:lnTo>
                <a:lnTo>
                  <a:pt x="463" y="88"/>
                </a:lnTo>
                <a:lnTo>
                  <a:pt x="464" y="91"/>
                </a:lnTo>
                <a:lnTo>
                  <a:pt x="464" y="166"/>
                </a:lnTo>
                <a:lnTo>
                  <a:pt x="463" y="169"/>
                </a:lnTo>
                <a:lnTo>
                  <a:pt x="463" y="173"/>
                </a:lnTo>
                <a:lnTo>
                  <a:pt x="461" y="175"/>
                </a:lnTo>
                <a:lnTo>
                  <a:pt x="460" y="177"/>
                </a:lnTo>
                <a:lnTo>
                  <a:pt x="457" y="179"/>
                </a:lnTo>
                <a:lnTo>
                  <a:pt x="455" y="180"/>
                </a:lnTo>
                <a:lnTo>
                  <a:pt x="451" y="181"/>
                </a:lnTo>
                <a:lnTo>
                  <a:pt x="449" y="181"/>
                </a:lnTo>
                <a:lnTo>
                  <a:pt x="446" y="181"/>
                </a:lnTo>
                <a:lnTo>
                  <a:pt x="443" y="180"/>
                </a:lnTo>
                <a:lnTo>
                  <a:pt x="441" y="179"/>
                </a:lnTo>
                <a:lnTo>
                  <a:pt x="439" y="177"/>
                </a:lnTo>
                <a:lnTo>
                  <a:pt x="436" y="175"/>
                </a:lnTo>
                <a:lnTo>
                  <a:pt x="435" y="173"/>
                </a:lnTo>
                <a:lnTo>
                  <a:pt x="434" y="169"/>
                </a:lnTo>
                <a:lnTo>
                  <a:pt x="434" y="166"/>
                </a:lnTo>
                <a:lnTo>
                  <a:pt x="434" y="91"/>
                </a:lnTo>
                <a:close/>
                <a:moveTo>
                  <a:pt x="543" y="182"/>
                </a:moveTo>
                <a:lnTo>
                  <a:pt x="572" y="113"/>
                </a:lnTo>
                <a:lnTo>
                  <a:pt x="573" y="109"/>
                </a:lnTo>
                <a:lnTo>
                  <a:pt x="576" y="107"/>
                </a:lnTo>
                <a:lnTo>
                  <a:pt x="578" y="106"/>
                </a:lnTo>
                <a:lnTo>
                  <a:pt x="580" y="104"/>
                </a:lnTo>
                <a:lnTo>
                  <a:pt x="586" y="104"/>
                </a:lnTo>
                <a:lnTo>
                  <a:pt x="592" y="105"/>
                </a:lnTo>
                <a:lnTo>
                  <a:pt x="595" y="106"/>
                </a:lnTo>
                <a:lnTo>
                  <a:pt x="597" y="108"/>
                </a:lnTo>
                <a:lnTo>
                  <a:pt x="598" y="110"/>
                </a:lnTo>
                <a:lnTo>
                  <a:pt x="600" y="113"/>
                </a:lnTo>
                <a:lnTo>
                  <a:pt x="600" y="116"/>
                </a:lnTo>
                <a:lnTo>
                  <a:pt x="601" y="118"/>
                </a:lnTo>
                <a:lnTo>
                  <a:pt x="601" y="121"/>
                </a:lnTo>
                <a:lnTo>
                  <a:pt x="600" y="124"/>
                </a:lnTo>
                <a:lnTo>
                  <a:pt x="571" y="193"/>
                </a:lnTo>
                <a:lnTo>
                  <a:pt x="569" y="197"/>
                </a:lnTo>
                <a:lnTo>
                  <a:pt x="566" y="200"/>
                </a:lnTo>
                <a:lnTo>
                  <a:pt x="562" y="202"/>
                </a:lnTo>
                <a:lnTo>
                  <a:pt x="557" y="204"/>
                </a:lnTo>
                <a:lnTo>
                  <a:pt x="554" y="202"/>
                </a:lnTo>
                <a:lnTo>
                  <a:pt x="551" y="201"/>
                </a:lnTo>
                <a:lnTo>
                  <a:pt x="549" y="200"/>
                </a:lnTo>
                <a:lnTo>
                  <a:pt x="547" y="198"/>
                </a:lnTo>
                <a:lnTo>
                  <a:pt x="544" y="196"/>
                </a:lnTo>
                <a:lnTo>
                  <a:pt x="543" y="194"/>
                </a:lnTo>
                <a:lnTo>
                  <a:pt x="542" y="191"/>
                </a:lnTo>
                <a:lnTo>
                  <a:pt x="542" y="189"/>
                </a:lnTo>
                <a:lnTo>
                  <a:pt x="542" y="185"/>
                </a:lnTo>
                <a:lnTo>
                  <a:pt x="543" y="182"/>
                </a:lnTo>
                <a:close/>
                <a:moveTo>
                  <a:pt x="449" y="0"/>
                </a:moveTo>
                <a:lnTo>
                  <a:pt x="426" y="0"/>
                </a:lnTo>
                <a:lnTo>
                  <a:pt x="403" y="2"/>
                </a:lnTo>
                <a:lnTo>
                  <a:pt x="381" y="6"/>
                </a:lnTo>
                <a:lnTo>
                  <a:pt x="358" y="9"/>
                </a:lnTo>
                <a:lnTo>
                  <a:pt x="337" y="14"/>
                </a:lnTo>
                <a:lnTo>
                  <a:pt x="316" y="21"/>
                </a:lnTo>
                <a:lnTo>
                  <a:pt x="295" y="27"/>
                </a:lnTo>
                <a:lnTo>
                  <a:pt x="275" y="36"/>
                </a:lnTo>
                <a:lnTo>
                  <a:pt x="255" y="44"/>
                </a:lnTo>
                <a:lnTo>
                  <a:pt x="235" y="55"/>
                </a:lnTo>
                <a:lnTo>
                  <a:pt x="216" y="66"/>
                </a:lnTo>
                <a:lnTo>
                  <a:pt x="198" y="77"/>
                </a:lnTo>
                <a:lnTo>
                  <a:pt x="181" y="89"/>
                </a:lnTo>
                <a:lnTo>
                  <a:pt x="164" y="103"/>
                </a:lnTo>
                <a:lnTo>
                  <a:pt x="148" y="117"/>
                </a:lnTo>
                <a:lnTo>
                  <a:pt x="131" y="132"/>
                </a:lnTo>
                <a:lnTo>
                  <a:pt x="116" y="148"/>
                </a:lnTo>
                <a:lnTo>
                  <a:pt x="103" y="164"/>
                </a:lnTo>
                <a:lnTo>
                  <a:pt x="90" y="181"/>
                </a:lnTo>
                <a:lnTo>
                  <a:pt x="77" y="198"/>
                </a:lnTo>
                <a:lnTo>
                  <a:pt x="65" y="216"/>
                </a:lnTo>
                <a:lnTo>
                  <a:pt x="54" y="236"/>
                </a:lnTo>
                <a:lnTo>
                  <a:pt x="45" y="255"/>
                </a:lnTo>
                <a:lnTo>
                  <a:pt x="35" y="274"/>
                </a:lnTo>
                <a:lnTo>
                  <a:pt x="28" y="294"/>
                </a:lnTo>
                <a:lnTo>
                  <a:pt x="20" y="316"/>
                </a:lnTo>
                <a:lnTo>
                  <a:pt x="15" y="337"/>
                </a:lnTo>
                <a:lnTo>
                  <a:pt x="9" y="359"/>
                </a:lnTo>
                <a:lnTo>
                  <a:pt x="5" y="380"/>
                </a:lnTo>
                <a:lnTo>
                  <a:pt x="3" y="403"/>
                </a:lnTo>
                <a:lnTo>
                  <a:pt x="1" y="426"/>
                </a:lnTo>
                <a:lnTo>
                  <a:pt x="0" y="449"/>
                </a:lnTo>
                <a:lnTo>
                  <a:pt x="0" y="613"/>
                </a:lnTo>
                <a:lnTo>
                  <a:pt x="1" y="616"/>
                </a:lnTo>
                <a:lnTo>
                  <a:pt x="1" y="620"/>
                </a:lnTo>
                <a:lnTo>
                  <a:pt x="3" y="622"/>
                </a:lnTo>
                <a:lnTo>
                  <a:pt x="4" y="624"/>
                </a:lnTo>
                <a:lnTo>
                  <a:pt x="7" y="626"/>
                </a:lnTo>
                <a:lnTo>
                  <a:pt x="9" y="627"/>
                </a:lnTo>
                <a:lnTo>
                  <a:pt x="13" y="628"/>
                </a:lnTo>
                <a:lnTo>
                  <a:pt x="15" y="628"/>
                </a:lnTo>
                <a:lnTo>
                  <a:pt x="883" y="628"/>
                </a:lnTo>
                <a:lnTo>
                  <a:pt x="886" y="628"/>
                </a:lnTo>
                <a:lnTo>
                  <a:pt x="888" y="627"/>
                </a:lnTo>
                <a:lnTo>
                  <a:pt x="891" y="626"/>
                </a:lnTo>
                <a:lnTo>
                  <a:pt x="893" y="624"/>
                </a:lnTo>
                <a:lnTo>
                  <a:pt x="895" y="622"/>
                </a:lnTo>
                <a:lnTo>
                  <a:pt x="897" y="620"/>
                </a:lnTo>
                <a:lnTo>
                  <a:pt x="898" y="616"/>
                </a:lnTo>
                <a:lnTo>
                  <a:pt x="898" y="613"/>
                </a:lnTo>
                <a:lnTo>
                  <a:pt x="898" y="449"/>
                </a:lnTo>
                <a:lnTo>
                  <a:pt x="897" y="426"/>
                </a:lnTo>
                <a:lnTo>
                  <a:pt x="895" y="403"/>
                </a:lnTo>
                <a:lnTo>
                  <a:pt x="892" y="380"/>
                </a:lnTo>
                <a:lnTo>
                  <a:pt x="888" y="359"/>
                </a:lnTo>
                <a:lnTo>
                  <a:pt x="884" y="337"/>
                </a:lnTo>
                <a:lnTo>
                  <a:pt x="877" y="316"/>
                </a:lnTo>
                <a:lnTo>
                  <a:pt x="870" y="294"/>
                </a:lnTo>
                <a:lnTo>
                  <a:pt x="862" y="274"/>
                </a:lnTo>
                <a:lnTo>
                  <a:pt x="854" y="255"/>
                </a:lnTo>
                <a:lnTo>
                  <a:pt x="843" y="236"/>
                </a:lnTo>
                <a:lnTo>
                  <a:pt x="832" y="216"/>
                </a:lnTo>
                <a:lnTo>
                  <a:pt x="821" y="198"/>
                </a:lnTo>
                <a:lnTo>
                  <a:pt x="809" y="181"/>
                </a:lnTo>
                <a:lnTo>
                  <a:pt x="795" y="164"/>
                </a:lnTo>
                <a:lnTo>
                  <a:pt x="781" y="148"/>
                </a:lnTo>
                <a:lnTo>
                  <a:pt x="766" y="132"/>
                </a:lnTo>
                <a:lnTo>
                  <a:pt x="750" y="117"/>
                </a:lnTo>
                <a:lnTo>
                  <a:pt x="734" y="103"/>
                </a:lnTo>
                <a:lnTo>
                  <a:pt x="717" y="89"/>
                </a:lnTo>
                <a:lnTo>
                  <a:pt x="700" y="77"/>
                </a:lnTo>
                <a:lnTo>
                  <a:pt x="681" y="66"/>
                </a:lnTo>
                <a:lnTo>
                  <a:pt x="662" y="55"/>
                </a:lnTo>
                <a:lnTo>
                  <a:pt x="643" y="44"/>
                </a:lnTo>
                <a:lnTo>
                  <a:pt x="624" y="36"/>
                </a:lnTo>
                <a:lnTo>
                  <a:pt x="603" y="27"/>
                </a:lnTo>
                <a:lnTo>
                  <a:pt x="582" y="21"/>
                </a:lnTo>
                <a:lnTo>
                  <a:pt x="561" y="14"/>
                </a:lnTo>
                <a:lnTo>
                  <a:pt x="539" y="9"/>
                </a:lnTo>
                <a:lnTo>
                  <a:pt x="517" y="6"/>
                </a:lnTo>
                <a:lnTo>
                  <a:pt x="494" y="2"/>
                </a:lnTo>
                <a:lnTo>
                  <a:pt x="472" y="0"/>
                </a:lnTo>
                <a:lnTo>
                  <a:pt x="449" y="0"/>
                </a:lnTo>
                <a:close/>
              </a:path>
            </a:pathLst>
          </a:custGeom>
          <a:solidFill>
            <a:schemeClr val="accent3"/>
          </a:solidFill>
          <a:ln>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US"/>
          </a:p>
        </p:txBody>
      </p:sp>
      <p:pic>
        <p:nvPicPr>
          <p:cNvPr id="5" name="Graphic 4" descr="Advertising with solid fill">
            <a:extLst>
              <a:ext uri="{FF2B5EF4-FFF2-40B4-BE49-F238E27FC236}">
                <a16:creationId xmlns:a16="http://schemas.microsoft.com/office/drawing/2014/main" id="{057B6320-CB6C-D076-7368-3C38033159F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1457" y="1953665"/>
            <a:ext cx="3269557" cy="3269557"/>
          </a:xfrm>
          <a:prstGeom prst="rect">
            <a:avLst/>
          </a:prstGeom>
        </p:spPr>
      </p:pic>
    </p:spTree>
    <p:extLst>
      <p:ext uri="{BB962C8B-B14F-4D97-AF65-F5344CB8AC3E}">
        <p14:creationId xmlns:p14="http://schemas.microsoft.com/office/powerpoint/2010/main" val="9141223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a:extLst>
            <a:ext uri="{FF2B5EF4-FFF2-40B4-BE49-F238E27FC236}">
              <a16:creationId xmlns:a16="http://schemas.microsoft.com/office/drawing/2014/main" id="{A2EF40BB-8212-BD34-7E37-24CE165EAF49}"/>
            </a:ext>
          </a:extLst>
        </p:cNvPr>
        <p:cNvGrpSpPr/>
        <p:nvPr/>
      </p:nvGrpSpPr>
      <p:grpSpPr>
        <a:xfrm>
          <a:off x="0" y="0"/>
          <a:ext cx="0" cy="0"/>
          <a:chOff x="0" y="0"/>
          <a:chExt cx="0" cy="0"/>
        </a:xfrm>
      </p:grpSpPr>
      <p:sp>
        <p:nvSpPr>
          <p:cNvPr id="10" name="Rectangle 9">
            <a:extLst>
              <a:ext uri="{FF2B5EF4-FFF2-40B4-BE49-F238E27FC236}">
                <a16:creationId xmlns:a16="http://schemas.microsoft.com/office/drawing/2014/main" id="{B25F3EB0-2543-6BF0-0545-BF214A7CAF18}"/>
              </a:ext>
            </a:extLst>
          </p:cNvPr>
          <p:cNvSpPr/>
          <p:nvPr/>
        </p:nvSpPr>
        <p:spPr>
          <a:xfrm>
            <a:off x="380144" y="986323"/>
            <a:ext cx="11274143" cy="501378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aphicFrame>
        <p:nvGraphicFramePr>
          <p:cNvPr id="27" name="Chart 26">
            <a:extLst>
              <a:ext uri="{FF2B5EF4-FFF2-40B4-BE49-F238E27FC236}">
                <a16:creationId xmlns:a16="http://schemas.microsoft.com/office/drawing/2014/main" id="{2FC45D23-D9F5-375C-2453-B3B7EFF8179F}"/>
              </a:ext>
            </a:extLst>
          </p:cNvPr>
          <p:cNvGraphicFramePr/>
          <p:nvPr>
            <p:extLst>
              <p:ext uri="{D42A27DB-BD31-4B8C-83A1-F6EECF244321}">
                <p14:modId xmlns:p14="http://schemas.microsoft.com/office/powerpoint/2010/main" val="705869678"/>
              </p:ext>
            </p:extLst>
          </p:nvPr>
        </p:nvGraphicFramePr>
        <p:xfrm>
          <a:off x="5066798" y="2790979"/>
          <a:ext cx="4818008" cy="2367473"/>
        </p:xfrm>
        <a:graphic>
          <a:graphicData uri="http://schemas.openxmlformats.org/drawingml/2006/chart">
            <c:chart xmlns:c="http://schemas.openxmlformats.org/drawingml/2006/chart" xmlns:r="http://schemas.openxmlformats.org/officeDocument/2006/relationships" r:id="rId2"/>
          </a:graphicData>
        </a:graphic>
      </p:graphicFrame>
      <p:sp>
        <p:nvSpPr>
          <p:cNvPr id="140" name="Title 139">
            <a:extLst>
              <a:ext uri="{FF2B5EF4-FFF2-40B4-BE49-F238E27FC236}">
                <a16:creationId xmlns:a16="http://schemas.microsoft.com/office/drawing/2014/main" id="{D4B073CF-0DCF-BF1B-CFC1-BDA1366B3DF6}"/>
              </a:ext>
            </a:extLst>
          </p:cNvPr>
          <p:cNvSpPr>
            <a:spLocks noGrp="1"/>
          </p:cNvSpPr>
          <p:nvPr>
            <p:ph type="title"/>
          </p:nvPr>
        </p:nvSpPr>
        <p:spPr/>
        <p:txBody>
          <a:bodyPr/>
          <a:lstStyle/>
          <a:p>
            <a:r>
              <a:rPr lang="en-US" b="1" dirty="0">
                <a:solidFill>
                  <a:schemeClr val="tx1">
                    <a:lumMod val="75000"/>
                    <a:lumOff val="25000"/>
                  </a:schemeClr>
                </a:solidFill>
              </a:rPr>
              <a:t>BRIGHT TV DATA</a:t>
            </a:r>
            <a:r>
              <a:rPr lang="en-US" dirty="0">
                <a:solidFill>
                  <a:schemeClr val="tx1">
                    <a:lumMod val="75000"/>
                    <a:lumOff val="25000"/>
                  </a:schemeClr>
                </a:solidFill>
              </a:rPr>
              <a:t> Overview</a:t>
            </a:r>
          </a:p>
        </p:txBody>
      </p:sp>
      <p:sp>
        <p:nvSpPr>
          <p:cNvPr id="141" name="Date Placeholder 140">
            <a:extLst>
              <a:ext uri="{FF2B5EF4-FFF2-40B4-BE49-F238E27FC236}">
                <a16:creationId xmlns:a16="http://schemas.microsoft.com/office/drawing/2014/main" id="{4509AE9C-5464-B84C-9C38-444A01F3720A}"/>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2" name="Footer Placeholder 141">
            <a:extLst>
              <a:ext uri="{FF2B5EF4-FFF2-40B4-BE49-F238E27FC236}">
                <a16:creationId xmlns:a16="http://schemas.microsoft.com/office/drawing/2014/main" id="{994D34A8-A654-A2C7-5E0E-D6D212694841}"/>
              </a:ext>
            </a:extLst>
          </p:cNvPr>
          <p:cNvSpPr>
            <a:spLocks noGrp="1"/>
          </p:cNvSpPr>
          <p:nvPr>
            <p:ph type="ftr" sz="quarter" idx="11"/>
          </p:nvPr>
        </p:nvSpPr>
        <p:spPr/>
        <p:txBody>
          <a:bodyPr/>
          <a:lstStyle/>
          <a:p>
            <a:r>
              <a:rPr lang="en-US" dirty="0"/>
              <a:t>Your Logo Here</a:t>
            </a:r>
          </a:p>
        </p:txBody>
      </p:sp>
      <p:sp>
        <p:nvSpPr>
          <p:cNvPr id="143" name="Slide Number Placeholder 142">
            <a:extLst>
              <a:ext uri="{FF2B5EF4-FFF2-40B4-BE49-F238E27FC236}">
                <a16:creationId xmlns:a16="http://schemas.microsoft.com/office/drawing/2014/main" id="{387F131D-FFF5-1691-6436-C389592A73B8}"/>
              </a:ext>
            </a:extLst>
          </p:cNvPr>
          <p:cNvSpPr>
            <a:spLocks noGrp="1"/>
          </p:cNvSpPr>
          <p:nvPr>
            <p:ph type="sldNum" sz="quarter" idx="12"/>
          </p:nvPr>
        </p:nvSpPr>
        <p:spPr/>
        <p:txBody>
          <a:bodyPr/>
          <a:lstStyle/>
          <a:p>
            <a:fld id="{9598DBAD-472B-4D31-8670-5164AECB0621}" type="slidenum">
              <a:rPr lang="en-US" smtClean="0"/>
              <a:pPr/>
              <a:t>2</a:t>
            </a:fld>
            <a:endParaRPr lang="en-US" dirty="0"/>
          </a:p>
        </p:txBody>
      </p:sp>
      <p:cxnSp>
        <p:nvCxnSpPr>
          <p:cNvPr id="4" name="Straight Connector 3">
            <a:extLst>
              <a:ext uri="{FF2B5EF4-FFF2-40B4-BE49-F238E27FC236}">
                <a16:creationId xmlns:a16="http://schemas.microsoft.com/office/drawing/2014/main" id="{94DD9CA0-ACB9-4BDB-E0A5-9273710C63AA}"/>
              </a:ext>
            </a:extLst>
          </p:cNvPr>
          <p:cNvCxnSpPr>
            <a:cxnSpLocks/>
          </p:cNvCxnSpPr>
          <p:nvPr/>
        </p:nvCxnSpPr>
        <p:spPr>
          <a:xfrm>
            <a:off x="380144" y="5716172"/>
            <a:ext cx="1127414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93F1368-CC7C-145C-BBAB-727CDA9D6D40}"/>
              </a:ext>
            </a:extLst>
          </p:cNvPr>
          <p:cNvCxnSpPr>
            <a:cxnSpLocks/>
          </p:cNvCxnSpPr>
          <p:nvPr/>
        </p:nvCxnSpPr>
        <p:spPr>
          <a:xfrm>
            <a:off x="380144" y="1976962"/>
            <a:ext cx="11274143" cy="10332"/>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7FE775A-80E7-8D66-DA15-9FAF13C000A5}"/>
              </a:ext>
            </a:extLst>
          </p:cNvPr>
          <p:cNvCxnSpPr>
            <a:cxnSpLocks/>
          </p:cNvCxnSpPr>
          <p:nvPr/>
        </p:nvCxnSpPr>
        <p:spPr>
          <a:xfrm>
            <a:off x="380144" y="2751399"/>
            <a:ext cx="11274143"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12278F3F-D7EA-F553-E353-7C01FF2B15C7}"/>
              </a:ext>
            </a:extLst>
          </p:cNvPr>
          <p:cNvGraphicFramePr/>
          <p:nvPr>
            <p:extLst>
              <p:ext uri="{D42A27DB-BD31-4B8C-83A1-F6EECF244321}">
                <p14:modId xmlns:p14="http://schemas.microsoft.com/office/powerpoint/2010/main" val="3031110864"/>
              </p:ext>
            </p:extLst>
          </p:nvPr>
        </p:nvGraphicFramePr>
        <p:xfrm>
          <a:off x="-964741" y="2801707"/>
          <a:ext cx="4732771" cy="2367473"/>
        </p:xfrm>
        <a:graphic>
          <a:graphicData uri="http://schemas.openxmlformats.org/drawingml/2006/chart">
            <c:chart xmlns:c="http://schemas.openxmlformats.org/drawingml/2006/chart" xmlns:r="http://schemas.openxmlformats.org/officeDocument/2006/relationships" r:id="rId3"/>
          </a:graphicData>
        </a:graphic>
      </p:graphicFrame>
      <p:sp>
        <p:nvSpPr>
          <p:cNvPr id="8" name="Oval 7">
            <a:extLst>
              <a:ext uri="{FF2B5EF4-FFF2-40B4-BE49-F238E27FC236}">
                <a16:creationId xmlns:a16="http://schemas.microsoft.com/office/drawing/2014/main" id="{03B2DADA-AE0E-500D-16A4-27A334C2EEC5}"/>
              </a:ext>
            </a:extLst>
          </p:cNvPr>
          <p:cNvSpPr/>
          <p:nvPr/>
        </p:nvSpPr>
        <p:spPr>
          <a:xfrm>
            <a:off x="1280752" y="3300052"/>
            <a:ext cx="1270763" cy="1263878"/>
          </a:xfrm>
          <a:prstGeom prst="ellipse">
            <a:avLst/>
          </a:prstGeom>
          <a:solidFill>
            <a:schemeClr val="bg1"/>
          </a:soli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rPr>
              <a:t>4384</a:t>
            </a:r>
          </a:p>
        </p:txBody>
      </p:sp>
      <p:graphicFrame>
        <p:nvGraphicFramePr>
          <p:cNvPr id="15" name="Chart 14">
            <a:extLst>
              <a:ext uri="{FF2B5EF4-FFF2-40B4-BE49-F238E27FC236}">
                <a16:creationId xmlns:a16="http://schemas.microsoft.com/office/drawing/2014/main" id="{1B0554A8-9829-42A7-B644-DE544069D65A}"/>
              </a:ext>
            </a:extLst>
          </p:cNvPr>
          <p:cNvGraphicFramePr/>
          <p:nvPr>
            <p:extLst>
              <p:ext uri="{D42A27DB-BD31-4B8C-83A1-F6EECF244321}">
                <p14:modId xmlns:p14="http://schemas.microsoft.com/office/powerpoint/2010/main" val="3687000535"/>
              </p:ext>
            </p:extLst>
          </p:nvPr>
        </p:nvGraphicFramePr>
        <p:xfrm>
          <a:off x="1427341" y="2753189"/>
          <a:ext cx="4732771" cy="2367473"/>
        </p:xfrm>
        <a:graphic>
          <a:graphicData uri="http://schemas.openxmlformats.org/drawingml/2006/chart">
            <c:chart xmlns:c="http://schemas.openxmlformats.org/drawingml/2006/chart" xmlns:r="http://schemas.openxmlformats.org/officeDocument/2006/relationships" r:id="rId4"/>
          </a:graphicData>
        </a:graphic>
      </p:graphicFrame>
      <p:sp>
        <p:nvSpPr>
          <p:cNvPr id="17" name="Oval 16">
            <a:extLst>
              <a:ext uri="{FF2B5EF4-FFF2-40B4-BE49-F238E27FC236}">
                <a16:creationId xmlns:a16="http://schemas.microsoft.com/office/drawing/2014/main" id="{5F79627B-AC89-5566-C921-C263DAA52F8F}"/>
              </a:ext>
            </a:extLst>
          </p:cNvPr>
          <p:cNvSpPr/>
          <p:nvPr/>
        </p:nvSpPr>
        <p:spPr>
          <a:xfrm>
            <a:off x="3710513" y="3303325"/>
            <a:ext cx="1270763" cy="1263879"/>
          </a:xfrm>
          <a:prstGeom prst="ellipse">
            <a:avLst/>
          </a:prstGeom>
          <a:solidFill>
            <a:schemeClr val="bg1"/>
          </a:soli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rPr>
              <a:t>10 000</a:t>
            </a:r>
          </a:p>
        </p:txBody>
      </p:sp>
      <p:sp>
        <p:nvSpPr>
          <p:cNvPr id="21" name="Oval 20">
            <a:extLst>
              <a:ext uri="{FF2B5EF4-FFF2-40B4-BE49-F238E27FC236}">
                <a16:creationId xmlns:a16="http://schemas.microsoft.com/office/drawing/2014/main" id="{88FEAF23-312C-53AE-6427-FC39E24B557B}"/>
              </a:ext>
            </a:extLst>
          </p:cNvPr>
          <p:cNvSpPr/>
          <p:nvPr/>
        </p:nvSpPr>
        <p:spPr>
          <a:xfrm>
            <a:off x="6104202" y="3300052"/>
            <a:ext cx="1333718" cy="1309281"/>
          </a:xfrm>
          <a:prstGeom prst="ellipse">
            <a:avLst/>
          </a:prstGeom>
          <a:solidFill>
            <a:schemeClr val="bg1"/>
          </a:soli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rPr>
              <a:t>10</a:t>
            </a:r>
          </a:p>
        </p:txBody>
      </p:sp>
      <p:grpSp>
        <p:nvGrpSpPr>
          <p:cNvPr id="31" name="Group 30">
            <a:extLst>
              <a:ext uri="{FF2B5EF4-FFF2-40B4-BE49-F238E27FC236}">
                <a16:creationId xmlns:a16="http://schemas.microsoft.com/office/drawing/2014/main" id="{54127952-9379-5143-E492-FB755066A3C7}"/>
              </a:ext>
            </a:extLst>
          </p:cNvPr>
          <p:cNvGrpSpPr/>
          <p:nvPr/>
        </p:nvGrpSpPr>
        <p:grpSpPr>
          <a:xfrm>
            <a:off x="6526165" y="2790978"/>
            <a:ext cx="4732771" cy="2367473"/>
            <a:chOff x="6738957" y="1899093"/>
            <a:chExt cx="4732771" cy="2367473"/>
          </a:xfrm>
        </p:grpSpPr>
        <p:graphicFrame>
          <p:nvGraphicFramePr>
            <p:cNvPr id="23" name="Chart 22">
              <a:extLst>
                <a:ext uri="{FF2B5EF4-FFF2-40B4-BE49-F238E27FC236}">
                  <a16:creationId xmlns:a16="http://schemas.microsoft.com/office/drawing/2014/main" id="{44BB55FB-990C-E9B0-D593-3ADBB793A481}"/>
                </a:ext>
              </a:extLst>
            </p:cNvPr>
            <p:cNvGraphicFramePr/>
            <p:nvPr/>
          </p:nvGraphicFramePr>
          <p:xfrm>
            <a:off x="6738957" y="1899093"/>
            <a:ext cx="4732771" cy="2367473"/>
          </p:xfrm>
          <a:graphic>
            <a:graphicData uri="http://schemas.openxmlformats.org/drawingml/2006/chart">
              <c:chart xmlns:c="http://schemas.openxmlformats.org/drawingml/2006/chart" xmlns:r="http://schemas.openxmlformats.org/officeDocument/2006/relationships" r:id="rId5"/>
            </a:graphicData>
          </a:graphic>
        </p:graphicFrame>
        <p:sp>
          <p:nvSpPr>
            <p:cNvPr id="25" name="Oval 24">
              <a:extLst>
                <a:ext uri="{FF2B5EF4-FFF2-40B4-BE49-F238E27FC236}">
                  <a16:creationId xmlns:a16="http://schemas.microsoft.com/office/drawing/2014/main" id="{19096068-E637-1558-DD4B-8778B7EC62DF}"/>
                </a:ext>
              </a:extLst>
            </p:cNvPr>
            <p:cNvSpPr/>
            <p:nvPr/>
          </p:nvSpPr>
          <p:spPr>
            <a:xfrm>
              <a:off x="8943407" y="2479153"/>
              <a:ext cx="1312464" cy="1217631"/>
            </a:xfrm>
            <a:prstGeom prst="ellipse">
              <a:avLst/>
            </a:prstGeom>
            <a:solidFill>
              <a:schemeClr val="bg1"/>
            </a:solidFill>
            <a:ln>
              <a:noFill/>
            </a:ln>
            <a:effectLst>
              <a:outerShdw blurRad="50800" dist="381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lumMod val="75000"/>
                      <a:lumOff val="25000"/>
                    </a:schemeClr>
                  </a:solidFill>
                </a:rPr>
                <a:t>1523hrs</a:t>
              </a:r>
            </a:p>
          </p:txBody>
        </p:sp>
      </p:grpSp>
      <p:sp>
        <p:nvSpPr>
          <p:cNvPr id="7" name="Rectangle 6">
            <a:extLst>
              <a:ext uri="{FF2B5EF4-FFF2-40B4-BE49-F238E27FC236}">
                <a16:creationId xmlns:a16="http://schemas.microsoft.com/office/drawing/2014/main" id="{6E19E39D-BBAE-AB30-CC85-D7FCE35FF286}"/>
              </a:ext>
            </a:extLst>
          </p:cNvPr>
          <p:cNvSpPr/>
          <p:nvPr/>
        </p:nvSpPr>
        <p:spPr>
          <a:xfrm>
            <a:off x="817611" y="2189238"/>
            <a:ext cx="2163587" cy="56778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4"/>
                </a:solidFill>
              </a:rPr>
              <a:t>Total Subscribers</a:t>
            </a:r>
          </a:p>
        </p:txBody>
      </p:sp>
      <p:sp>
        <p:nvSpPr>
          <p:cNvPr id="16" name="Rectangle 15">
            <a:extLst>
              <a:ext uri="{FF2B5EF4-FFF2-40B4-BE49-F238E27FC236}">
                <a16:creationId xmlns:a16="http://schemas.microsoft.com/office/drawing/2014/main" id="{CFBB4883-84FF-5971-8C1D-FE55EB8646BE}"/>
              </a:ext>
            </a:extLst>
          </p:cNvPr>
          <p:cNvSpPr/>
          <p:nvPr/>
        </p:nvSpPr>
        <p:spPr>
          <a:xfrm>
            <a:off x="8237740" y="2195042"/>
            <a:ext cx="2163587" cy="56778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4"/>
                </a:solidFill>
              </a:rPr>
              <a:t>Total Viewed Hours</a:t>
            </a:r>
          </a:p>
        </p:txBody>
      </p:sp>
      <p:sp>
        <p:nvSpPr>
          <p:cNvPr id="20" name="Rectangle 19">
            <a:extLst>
              <a:ext uri="{FF2B5EF4-FFF2-40B4-BE49-F238E27FC236}">
                <a16:creationId xmlns:a16="http://schemas.microsoft.com/office/drawing/2014/main" id="{8F37340D-20FD-D487-454D-A9FC77C7B440}"/>
              </a:ext>
            </a:extLst>
          </p:cNvPr>
          <p:cNvSpPr/>
          <p:nvPr/>
        </p:nvSpPr>
        <p:spPr>
          <a:xfrm>
            <a:off x="3168436" y="2189237"/>
            <a:ext cx="2313795" cy="56778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4"/>
                </a:solidFill>
              </a:rPr>
              <a:t>Total Viewed Sessions</a:t>
            </a:r>
          </a:p>
        </p:txBody>
      </p:sp>
      <p:sp>
        <p:nvSpPr>
          <p:cNvPr id="24" name="Rectangle 23">
            <a:extLst>
              <a:ext uri="{FF2B5EF4-FFF2-40B4-BE49-F238E27FC236}">
                <a16:creationId xmlns:a16="http://schemas.microsoft.com/office/drawing/2014/main" id="{55805635-55D8-200A-AD0C-FA6786F8A891}"/>
              </a:ext>
            </a:extLst>
          </p:cNvPr>
          <p:cNvSpPr/>
          <p:nvPr/>
        </p:nvSpPr>
        <p:spPr>
          <a:xfrm>
            <a:off x="834339" y="5157597"/>
            <a:ext cx="2163587" cy="56778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4"/>
                </a:solidFill>
              </a:rPr>
              <a:t>All Unique Subscribers</a:t>
            </a:r>
          </a:p>
        </p:txBody>
      </p:sp>
      <p:sp>
        <p:nvSpPr>
          <p:cNvPr id="28" name="Rectangle 27">
            <a:extLst>
              <a:ext uri="{FF2B5EF4-FFF2-40B4-BE49-F238E27FC236}">
                <a16:creationId xmlns:a16="http://schemas.microsoft.com/office/drawing/2014/main" id="{80CE2CB5-4423-12A8-BED1-2D0FECCFAD2C}"/>
              </a:ext>
            </a:extLst>
          </p:cNvPr>
          <p:cNvSpPr/>
          <p:nvPr/>
        </p:nvSpPr>
        <p:spPr>
          <a:xfrm>
            <a:off x="5736707" y="2183612"/>
            <a:ext cx="2163587" cy="56778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4"/>
                </a:solidFill>
              </a:rPr>
              <a:t>Regions</a:t>
            </a:r>
          </a:p>
        </p:txBody>
      </p:sp>
      <p:sp>
        <p:nvSpPr>
          <p:cNvPr id="32" name="Rectangle 31">
            <a:extLst>
              <a:ext uri="{FF2B5EF4-FFF2-40B4-BE49-F238E27FC236}">
                <a16:creationId xmlns:a16="http://schemas.microsoft.com/office/drawing/2014/main" id="{8A83443C-BB84-9B53-7EF3-309D7ED4FB3C}"/>
              </a:ext>
            </a:extLst>
          </p:cNvPr>
          <p:cNvSpPr/>
          <p:nvPr/>
        </p:nvSpPr>
        <p:spPr>
          <a:xfrm>
            <a:off x="8237739" y="5157596"/>
            <a:ext cx="2163587" cy="56778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4"/>
                </a:solidFill>
              </a:rPr>
              <a:t>With mostly low usage</a:t>
            </a:r>
          </a:p>
        </p:txBody>
      </p:sp>
      <p:sp>
        <p:nvSpPr>
          <p:cNvPr id="36" name="Rectangle 35">
            <a:extLst>
              <a:ext uri="{FF2B5EF4-FFF2-40B4-BE49-F238E27FC236}">
                <a16:creationId xmlns:a16="http://schemas.microsoft.com/office/drawing/2014/main" id="{4950F5F6-53C4-52B3-FC61-451E61C482DB}"/>
              </a:ext>
            </a:extLst>
          </p:cNvPr>
          <p:cNvSpPr/>
          <p:nvPr/>
        </p:nvSpPr>
        <p:spPr>
          <a:xfrm>
            <a:off x="3264100" y="5148386"/>
            <a:ext cx="2163587" cy="56778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4"/>
                </a:solidFill>
              </a:rPr>
              <a:t>repeating Subscribers +50%</a:t>
            </a:r>
          </a:p>
        </p:txBody>
      </p:sp>
      <p:sp>
        <p:nvSpPr>
          <p:cNvPr id="38" name="Rectangle 37">
            <a:extLst>
              <a:ext uri="{FF2B5EF4-FFF2-40B4-BE49-F238E27FC236}">
                <a16:creationId xmlns:a16="http://schemas.microsoft.com/office/drawing/2014/main" id="{EAC504F3-DE78-AF01-C4CE-605E68EBED8B}"/>
              </a:ext>
            </a:extLst>
          </p:cNvPr>
          <p:cNvSpPr/>
          <p:nvPr/>
        </p:nvSpPr>
        <p:spPr>
          <a:xfrm>
            <a:off x="5693862" y="5148385"/>
            <a:ext cx="2206432" cy="567787"/>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b="1" dirty="0">
                <a:solidFill>
                  <a:schemeClr val="accent4"/>
                </a:solidFill>
              </a:rPr>
              <a:t>With uncategorized region of subscribers</a:t>
            </a:r>
          </a:p>
        </p:txBody>
      </p:sp>
      <p:sp>
        <p:nvSpPr>
          <p:cNvPr id="39" name="Rectangle 38">
            <a:extLst>
              <a:ext uri="{FF2B5EF4-FFF2-40B4-BE49-F238E27FC236}">
                <a16:creationId xmlns:a16="http://schemas.microsoft.com/office/drawing/2014/main" id="{B7111F37-BDEE-7ED1-D50F-66942E0E35F0}"/>
              </a:ext>
            </a:extLst>
          </p:cNvPr>
          <p:cNvSpPr/>
          <p:nvPr/>
        </p:nvSpPr>
        <p:spPr>
          <a:xfrm>
            <a:off x="817611" y="1281517"/>
            <a:ext cx="9554924" cy="705777"/>
          </a:xfrm>
          <a:prstGeom prst="rect">
            <a:avLst/>
          </a:prstGeom>
          <a:solidFill>
            <a:schemeClr val="accent3">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ZA" sz="2400" b="1" dirty="0">
                <a:solidFill>
                  <a:schemeClr val="accent4"/>
                </a:solidFill>
              </a:rPr>
              <a:t>Duration span is 3 month (Jan-March 2016) mostly sports events in January</a:t>
            </a:r>
          </a:p>
        </p:txBody>
      </p:sp>
    </p:spTree>
    <p:extLst>
      <p:ext uri="{BB962C8B-B14F-4D97-AF65-F5344CB8AC3E}">
        <p14:creationId xmlns:p14="http://schemas.microsoft.com/office/powerpoint/2010/main" val="2554029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373154D-FC0F-A3DD-9B2B-058EACE5BFEE}"/>
              </a:ext>
            </a:extLst>
          </p:cNvPr>
          <p:cNvSpPr/>
          <p:nvPr/>
        </p:nvSpPr>
        <p:spPr>
          <a:xfrm>
            <a:off x="500332" y="1026543"/>
            <a:ext cx="10915291" cy="538010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63" name="Straight Connector 62">
            <a:extLst>
              <a:ext uri="{FF2B5EF4-FFF2-40B4-BE49-F238E27FC236}">
                <a16:creationId xmlns:a16="http://schemas.microsoft.com/office/drawing/2014/main" id="{6E48895F-AEC2-085A-B20E-AC877D321021}"/>
              </a:ext>
            </a:extLst>
          </p:cNvPr>
          <p:cNvCxnSpPr>
            <a:cxnSpLocks/>
          </p:cNvCxnSpPr>
          <p:nvPr/>
        </p:nvCxnSpPr>
        <p:spPr>
          <a:xfrm>
            <a:off x="2838091" y="1531835"/>
            <a:ext cx="8577532"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91B4F01-3E66-1058-B2F2-8D6AC8D913A8}"/>
              </a:ext>
            </a:extLst>
          </p:cNvPr>
          <p:cNvCxnSpPr>
            <a:cxnSpLocks/>
          </p:cNvCxnSpPr>
          <p:nvPr/>
        </p:nvCxnSpPr>
        <p:spPr>
          <a:xfrm>
            <a:off x="2734574" y="6250595"/>
            <a:ext cx="8681049"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52F55CA-FB67-BF02-A727-DE58A1A8ABC8}"/>
              </a:ext>
            </a:extLst>
          </p:cNvPr>
          <p:cNvCxnSpPr>
            <a:cxnSpLocks/>
          </p:cNvCxnSpPr>
          <p:nvPr/>
        </p:nvCxnSpPr>
        <p:spPr>
          <a:xfrm flipV="1">
            <a:off x="776377" y="3225330"/>
            <a:ext cx="10639246" cy="78587"/>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79ADA6F-3A64-4F56-B793-1EA11C8266AB}"/>
              </a:ext>
            </a:extLst>
          </p:cNvPr>
          <p:cNvCxnSpPr>
            <a:cxnSpLocks/>
          </p:cNvCxnSpPr>
          <p:nvPr/>
        </p:nvCxnSpPr>
        <p:spPr>
          <a:xfrm>
            <a:off x="776377" y="4529923"/>
            <a:ext cx="10639246"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B507D319-5E06-4ED6-BC0A-34717989C4CE}"/>
              </a:ext>
            </a:extLst>
          </p:cNvPr>
          <p:cNvSpPr>
            <a:spLocks noGrp="1"/>
          </p:cNvSpPr>
          <p:nvPr>
            <p:ph type="dt" sz="half" idx="10"/>
          </p:nvPr>
        </p:nvSpPr>
        <p:spPr/>
        <p:txBody>
          <a:bodyPr/>
          <a:lstStyle/>
          <a:p>
            <a:fld id="{E12D76FC-EB8E-4992-B39A-5265103F8BBB}" type="datetime1">
              <a:rPr lang="en-US" smtClean="0"/>
              <a:t>9/30/2026</a:t>
            </a:fld>
            <a:endParaRPr lang="en-US"/>
          </a:p>
        </p:txBody>
      </p:sp>
      <p:sp>
        <p:nvSpPr>
          <p:cNvPr id="5" name="Slide Number Placeholder 4">
            <a:extLst>
              <a:ext uri="{FF2B5EF4-FFF2-40B4-BE49-F238E27FC236}">
                <a16:creationId xmlns:a16="http://schemas.microsoft.com/office/drawing/2014/main" id="{0AB9F8D1-023B-4DDB-AB84-784C9DF8D417}"/>
              </a:ext>
            </a:extLst>
          </p:cNvPr>
          <p:cNvSpPr>
            <a:spLocks noGrp="1"/>
          </p:cNvSpPr>
          <p:nvPr>
            <p:ph type="sldNum" sz="quarter" idx="12"/>
          </p:nvPr>
        </p:nvSpPr>
        <p:spPr/>
        <p:txBody>
          <a:bodyPr/>
          <a:lstStyle/>
          <a:p>
            <a:fld id="{9598DBAD-472B-4D31-8670-5164AECB0621}" type="slidenum">
              <a:rPr lang="en-US" smtClean="0"/>
              <a:pPr/>
              <a:t>3</a:t>
            </a:fld>
            <a:endParaRPr lang="en-US"/>
          </a:p>
        </p:txBody>
      </p:sp>
      <p:sp>
        <p:nvSpPr>
          <p:cNvPr id="16" name="Oval 15">
            <a:extLst>
              <a:ext uri="{FF2B5EF4-FFF2-40B4-BE49-F238E27FC236}">
                <a16:creationId xmlns:a16="http://schemas.microsoft.com/office/drawing/2014/main" id="{A75200E8-8FB5-417A-9CB2-8C929A137793}"/>
              </a:ext>
            </a:extLst>
          </p:cNvPr>
          <p:cNvSpPr/>
          <p:nvPr/>
        </p:nvSpPr>
        <p:spPr>
          <a:xfrm>
            <a:off x="565078" y="1466493"/>
            <a:ext cx="5690647" cy="4889857"/>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02F4E2A3-546F-433B-A631-14FF300083C1}"/>
              </a:ext>
            </a:extLst>
          </p:cNvPr>
          <p:cNvSpPr txBox="1"/>
          <p:nvPr/>
        </p:nvSpPr>
        <p:spPr>
          <a:xfrm>
            <a:off x="9412993" y="163976"/>
            <a:ext cx="2371726" cy="215444"/>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BRIGHT TV VIEWERSHIP</a:t>
            </a:r>
          </a:p>
        </p:txBody>
      </p:sp>
      <p:sp>
        <p:nvSpPr>
          <p:cNvPr id="23" name="TextBox 22">
            <a:extLst>
              <a:ext uri="{FF2B5EF4-FFF2-40B4-BE49-F238E27FC236}">
                <a16:creationId xmlns:a16="http://schemas.microsoft.com/office/drawing/2014/main" id="{C19CE3D6-0DAC-44E6-8D3A-53810F09F46E}"/>
              </a:ext>
            </a:extLst>
          </p:cNvPr>
          <p:cNvSpPr txBox="1"/>
          <p:nvPr/>
        </p:nvSpPr>
        <p:spPr>
          <a:xfrm>
            <a:off x="7805058" y="4529923"/>
            <a:ext cx="2371726" cy="215444"/>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Female Subscribers</a:t>
            </a:r>
          </a:p>
        </p:txBody>
      </p:sp>
      <p:sp>
        <p:nvSpPr>
          <p:cNvPr id="10" name="TextBox 9">
            <a:extLst>
              <a:ext uri="{FF2B5EF4-FFF2-40B4-BE49-F238E27FC236}">
                <a16:creationId xmlns:a16="http://schemas.microsoft.com/office/drawing/2014/main" id="{E07F05D7-9C5C-4D96-938A-2B533048CA9F}"/>
              </a:ext>
            </a:extLst>
          </p:cNvPr>
          <p:cNvSpPr txBox="1"/>
          <p:nvPr/>
        </p:nvSpPr>
        <p:spPr>
          <a:xfrm>
            <a:off x="7838128" y="4840777"/>
            <a:ext cx="2371726" cy="880538"/>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Female subscribers contributes less compared to male, which in turn presents an opportunity for  growth</a:t>
            </a:r>
          </a:p>
        </p:txBody>
      </p:sp>
      <p:sp>
        <p:nvSpPr>
          <p:cNvPr id="28" name="TextBox 27">
            <a:extLst>
              <a:ext uri="{FF2B5EF4-FFF2-40B4-BE49-F238E27FC236}">
                <a16:creationId xmlns:a16="http://schemas.microsoft.com/office/drawing/2014/main" id="{6D33224E-6A98-490E-B439-6A726E6A8917}"/>
              </a:ext>
            </a:extLst>
          </p:cNvPr>
          <p:cNvSpPr txBox="1"/>
          <p:nvPr/>
        </p:nvSpPr>
        <p:spPr>
          <a:xfrm>
            <a:off x="7838128" y="1822128"/>
            <a:ext cx="2371726" cy="861774"/>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Male subscribers contributes 85% of the total Bright TV subscriber base, indicating more favorable channel for males. </a:t>
            </a:r>
          </a:p>
        </p:txBody>
      </p:sp>
      <p:sp>
        <p:nvSpPr>
          <p:cNvPr id="29" name="TextBox 28">
            <a:extLst>
              <a:ext uri="{FF2B5EF4-FFF2-40B4-BE49-F238E27FC236}">
                <a16:creationId xmlns:a16="http://schemas.microsoft.com/office/drawing/2014/main" id="{42EA3ADE-7206-4872-A788-B54498C4E74C}"/>
              </a:ext>
            </a:extLst>
          </p:cNvPr>
          <p:cNvSpPr txBox="1"/>
          <p:nvPr/>
        </p:nvSpPr>
        <p:spPr>
          <a:xfrm>
            <a:off x="7838128" y="1531835"/>
            <a:ext cx="2371726" cy="215444"/>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Male Subscribers</a:t>
            </a:r>
          </a:p>
        </p:txBody>
      </p:sp>
      <p:grpSp>
        <p:nvGrpSpPr>
          <p:cNvPr id="31" name="Group 30">
            <a:extLst>
              <a:ext uri="{FF2B5EF4-FFF2-40B4-BE49-F238E27FC236}">
                <a16:creationId xmlns:a16="http://schemas.microsoft.com/office/drawing/2014/main" id="{E0F132E2-B230-1C67-2E05-7CF1FE968A36}"/>
              </a:ext>
            </a:extLst>
          </p:cNvPr>
          <p:cNvGrpSpPr/>
          <p:nvPr/>
        </p:nvGrpSpPr>
        <p:grpSpPr>
          <a:xfrm>
            <a:off x="7875104" y="5720388"/>
            <a:ext cx="1374896" cy="523771"/>
            <a:chOff x="6859260" y="5365693"/>
            <a:chExt cx="1374896" cy="523771"/>
          </a:xfrm>
        </p:grpSpPr>
        <p:grpSp>
          <p:nvGrpSpPr>
            <p:cNvPr id="32" name="Group 31">
              <a:extLst>
                <a:ext uri="{FF2B5EF4-FFF2-40B4-BE49-F238E27FC236}">
                  <a16:creationId xmlns:a16="http://schemas.microsoft.com/office/drawing/2014/main" id="{1D9E35F5-E9E4-8917-8424-3F68241E0DF3}"/>
                </a:ext>
              </a:extLst>
            </p:cNvPr>
            <p:cNvGrpSpPr/>
            <p:nvPr/>
          </p:nvGrpSpPr>
          <p:grpSpPr>
            <a:xfrm>
              <a:off x="7234070" y="5365693"/>
              <a:ext cx="1000086" cy="523771"/>
              <a:chOff x="942261" y="6128051"/>
              <a:chExt cx="621858" cy="523771"/>
            </a:xfrm>
          </p:grpSpPr>
          <p:sp>
            <p:nvSpPr>
              <p:cNvPr id="36" name="TextBox 35">
                <a:extLst>
                  <a:ext uri="{FF2B5EF4-FFF2-40B4-BE49-F238E27FC236}">
                    <a16:creationId xmlns:a16="http://schemas.microsoft.com/office/drawing/2014/main" id="{0B4AEB81-5378-34C1-E328-AB6CC56FC034}"/>
                  </a:ext>
                </a:extLst>
              </p:cNvPr>
              <p:cNvSpPr txBox="1"/>
              <p:nvPr/>
            </p:nvSpPr>
            <p:spPr>
              <a:xfrm>
                <a:off x="942261" y="6128051"/>
                <a:ext cx="621858" cy="215444"/>
              </a:xfrm>
              <a:prstGeom prst="rect">
                <a:avLst/>
              </a:prstGeom>
              <a:noFill/>
              <a:ln w="6350">
                <a:noFill/>
                <a:prstDash val="dash"/>
              </a:ln>
            </p:spPr>
            <p:txBody>
              <a:bodyPr wrap="square" lIns="0" tIns="0" rIns="0" bIns="0" rtlCol="0">
                <a:spAutoFit/>
              </a:bodyPr>
              <a:lstStyle/>
              <a:p>
                <a:r>
                  <a:rPr lang="en-US" sz="1400" b="1" dirty="0">
                    <a:solidFill>
                      <a:schemeClr val="accent1"/>
                    </a:solidFill>
                  </a:rPr>
                  <a:t>Female</a:t>
                </a:r>
              </a:p>
            </p:txBody>
          </p:sp>
          <p:sp>
            <p:nvSpPr>
              <p:cNvPr id="37" name="TextBox 36">
                <a:extLst>
                  <a:ext uri="{FF2B5EF4-FFF2-40B4-BE49-F238E27FC236}">
                    <a16:creationId xmlns:a16="http://schemas.microsoft.com/office/drawing/2014/main" id="{338E5979-994C-D45F-5165-3FE8B7A3C70A}"/>
                  </a:ext>
                </a:extLst>
              </p:cNvPr>
              <p:cNvSpPr txBox="1"/>
              <p:nvPr/>
            </p:nvSpPr>
            <p:spPr>
              <a:xfrm>
                <a:off x="942261" y="6344045"/>
                <a:ext cx="621858" cy="307777"/>
              </a:xfrm>
              <a:prstGeom prst="rect">
                <a:avLst/>
              </a:prstGeom>
              <a:noFill/>
              <a:ln w="6350">
                <a:noFill/>
                <a:prstDash val="dash"/>
              </a:ln>
            </p:spPr>
            <p:txBody>
              <a:bodyPr wrap="square" lIns="0" tIns="0" rIns="0" bIns="0" rtlCol="0">
                <a:spAutoFit/>
              </a:bodyPr>
              <a:lstStyle/>
              <a:p>
                <a:r>
                  <a:rPr lang="en-US" sz="2000" b="1" dirty="0">
                    <a:solidFill>
                      <a:schemeClr val="accent1"/>
                    </a:solidFill>
                    <a:latin typeface="+mj-lt"/>
                  </a:rPr>
                  <a:t>11%</a:t>
                </a:r>
              </a:p>
            </p:txBody>
          </p:sp>
        </p:grpSp>
        <p:grpSp>
          <p:nvGrpSpPr>
            <p:cNvPr id="33" name="Group 32">
              <a:extLst>
                <a:ext uri="{FF2B5EF4-FFF2-40B4-BE49-F238E27FC236}">
                  <a16:creationId xmlns:a16="http://schemas.microsoft.com/office/drawing/2014/main" id="{F48BAF6F-B430-E5C3-0071-AB32C70E336E}"/>
                </a:ext>
              </a:extLst>
            </p:cNvPr>
            <p:cNvGrpSpPr/>
            <p:nvPr/>
          </p:nvGrpSpPr>
          <p:grpSpPr>
            <a:xfrm>
              <a:off x="6859260" y="5379724"/>
              <a:ext cx="247856" cy="495708"/>
              <a:chOff x="6530975" y="5922963"/>
              <a:chExt cx="142875" cy="285750"/>
            </a:xfrm>
            <a:solidFill>
              <a:schemeClr val="accent1"/>
            </a:solidFill>
          </p:grpSpPr>
          <p:sp>
            <p:nvSpPr>
              <p:cNvPr id="34" name="Freeform 3402">
                <a:extLst>
                  <a:ext uri="{FF2B5EF4-FFF2-40B4-BE49-F238E27FC236}">
                    <a16:creationId xmlns:a16="http://schemas.microsoft.com/office/drawing/2014/main" id="{FDEEBB7D-AAD2-3554-8DD0-A22C118736D5}"/>
                  </a:ext>
                </a:extLst>
              </p:cNvPr>
              <p:cNvSpPr>
                <a:spLocks/>
              </p:cNvSpPr>
              <p:nvPr/>
            </p:nvSpPr>
            <p:spPr bwMode="auto">
              <a:xfrm>
                <a:off x="6554788" y="5922963"/>
                <a:ext cx="93662" cy="93663"/>
              </a:xfrm>
              <a:custGeom>
                <a:avLst/>
                <a:gdLst>
                  <a:gd name="T0" fmla="*/ 131 w 237"/>
                  <a:gd name="T1" fmla="*/ 235 h 236"/>
                  <a:gd name="T2" fmla="*/ 154 w 237"/>
                  <a:gd name="T3" fmla="*/ 230 h 236"/>
                  <a:gd name="T4" fmla="*/ 175 w 237"/>
                  <a:gd name="T5" fmla="*/ 221 h 236"/>
                  <a:gd name="T6" fmla="*/ 194 w 237"/>
                  <a:gd name="T7" fmla="*/ 209 h 236"/>
                  <a:gd name="T8" fmla="*/ 210 w 237"/>
                  <a:gd name="T9" fmla="*/ 192 h 236"/>
                  <a:gd name="T10" fmla="*/ 222 w 237"/>
                  <a:gd name="T11" fmla="*/ 173 h 236"/>
                  <a:gd name="T12" fmla="*/ 231 w 237"/>
                  <a:gd name="T13" fmla="*/ 153 h 236"/>
                  <a:gd name="T14" fmla="*/ 237 w 237"/>
                  <a:gd name="T15" fmla="*/ 129 h 236"/>
                  <a:gd name="T16" fmla="*/ 237 w 237"/>
                  <a:gd name="T17" fmla="*/ 105 h 236"/>
                  <a:gd name="T18" fmla="*/ 231 w 237"/>
                  <a:gd name="T19" fmla="*/ 82 h 236"/>
                  <a:gd name="T20" fmla="*/ 222 w 237"/>
                  <a:gd name="T21" fmla="*/ 61 h 236"/>
                  <a:gd name="T22" fmla="*/ 210 w 237"/>
                  <a:gd name="T23" fmla="*/ 42 h 236"/>
                  <a:gd name="T24" fmla="*/ 194 w 237"/>
                  <a:gd name="T25" fmla="*/ 27 h 236"/>
                  <a:gd name="T26" fmla="*/ 175 w 237"/>
                  <a:gd name="T27" fmla="*/ 14 h 236"/>
                  <a:gd name="T28" fmla="*/ 153 w 237"/>
                  <a:gd name="T29" fmla="*/ 5 h 236"/>
                  <a:gd name="T30" fmla="*/ 131 w 237"/>
                  <a:gd name="T31" fmla="*/ 0 h 236"/>
                  <a:gd name="T32" fmla="*/ 107 w 237"/>
                  <a:gd name="T33" fmla="*/ 0 h 236"/>
                  <a:gd name="T34" fmla="*/ 84 w 237"/>
                  <a:gd name="T35" fmla="*/ 5 h 236"/>
                  <a:gd name="T36" fmla="*/ 62 w 237"/>
                  <a:gd name="T37" fmla="*/ 14 h 236"/>
                  <a:gd name="T38" fmla="*/ 44 w 237"/>
                  <a:gd name="T39" fmla="*/ 27 h 236"/>
                  <a:gd name="T40" fmla="*/ 27 w 237"/>
                  <a:gd name="T41" fmla="*/ 42 h 236"/>
                  <a:gd name="T42" fmla="*/ 14 w 237"/>
                  <a:gd name="T43" fmla="*/ 61 h 236"/>
                  <a:gd name="T44" fmla="*/ 5 w 237"/>
                  <a:gd name="T45" fmla="*/ 82 h 236"/>
                  <a:gd name="T46" fmla="*/ 2 w 237"/>
                  <a:gd name="T47" fmla="*/ 105 h 236"/>
                  <a:gd name="T48" fmla="*/ 2 w 237"/>
                  <a:gd name="T49" fmla="*/ 129 h 236"/>
                  <a:gd name="T50" fmla="*/ 5 w 237"/>
                  <a:gd name="T51" fmla="*/ 153 h 236"/>
                  <a:gd name="T52" fmla="*/ 14 w 237"/>
                  <a:gd name="T53" fmla="*/ 173 h 236"/>
                  <a:gd name="T54" fmla="*/ 27 w 237"/>
                  <a:gd name="T55" fmla="*/ 192 h 236"/>
                  <a:gd name="T56" fmla="*/ 44 w 237"/>
                  <a:gd name="T57" fmla="*/ 209 h 236"/>
                  <a:gd name="T58" fmla="*/ 62 w 237"/>
                  <a:gd name="T59" fmla="*/ 221 h 236"/>
                  <a:gd name="T60" fmla="*/ 84 w 237"/>
                  <a:gd name="T61" fmla="*/ 230 h 236"/>
                  <a:gd name="T62" fmla="*/ 107 w 237"/>
                  <a:gd name="T63" fmla="*/ 23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7" h="236">
                    <a:moveTo>
                      <a:pt x="118" y="236"/>
                    </a:moveTo>
                    <a:lnTo>
                      <a:pt x="131" y="235"/>
                    </a:lnTo>
                    <a:lnTo>
                      <a:pt x="143" y="233"/>
                    </a:lnTo>
                    <a:lnTo>
                      <a:pt x="154" y="230"/>
                    </a:lnTo>
                    <a:lnTo>
                      <a:pt x="165" y="226"/>
                    </a:lnTo>
                    <a:lnTo>
                      <a:pt x="175" y="221"/>
                    </a:lnTo>
                    <a:lnTo>
                      <a:pt x="185" y="215"/>
                    </a:lnTo>
                    <a:lnTo>
                      <a:pt x="194" y="209"/>
                    </a:lnTo>
                    <a:lnTo>
                      <a:pt x="202" y="201"/>
                    </a:lnTo>
                    <a:lnTo>
                      <a:pt x="210" y="192"/>
                    </a:lnTo>
                    <a:lnTo>
                      <a:pt x="216" y="183"/>
                    </a:lnTo>
                    <a:lnTo>
                      <a:pt x="222" y="173"/>
                    </a:lnTo>
                    <a:lnTo>
                      <a:pt x="228" y="163"/>
                    </a:lnTo>
                    <a:lnTo>
                      <a:pt x="231" y="153"/>
                    </a:lnTo>
                    <a:lnTo>
                      <a:pt x="234" y="141"/>
                    </a:lnTo>
                    <a:lnTo>
                      <a:pt x="237" y="129"/>
                    </a:lnTo>
                    <a:lnTo>
                      <a:pt x="237" y="118"/>
                    </a:lnTo>
                    <a:lnTo>
                      <a:pt x="237" y="105"/>
                    </a:lnTo>
                    <a:lnTo>
                      <a:pt x="234" y="93"/>
                    </a:lnTo>
                    <a:lnTo>
                      <a:pt x="231" y="82"/>
                    </a:lnTo>
                    <a:lnTo>
                      <a:pt x="228" y="72"/>
                    </a:lnTo>
                    <a:lnTo>
                      <a:pt x="222" y="61"/>
                    </a:lnTo>
                    <a:lnTo>
                      <a:pt x="216" y="51"/>
                    </a:lnTo>
                    <a:lnTo>
                      <a:pt x="210" y="42"/>
                    </a:lnTo>
                    <a:lnTo>
                      <a:pt x="202" y="34"/>
                    </a:lnTo>
                    <a:lnTo>
                      <a:pt x="194" y="27"/>
                    </a:lnTo>
                    <a:lnTo>
                      <a:pt x="185" y="19"/>
                    </a:lnTo>
                    <a:lnTo>
                      <a:pt x="175" y="14"/>
                    </a:lnTo>
                    <a:lnTo>
                      <a:pt x="165" y="9"/>
                    </a:lnTo>
                    <a:lnTo>
                      <a:pt x="153" y="5"/>
                    </a:lnTo>
                    <a:lnTo>
                      <a:pt x="143" y="2"/>
                    </a:lnTo>
                    <a:lnTo>
                      <a:pt x="131" y="0"/>
                    </a:lnTo>
                    <a:lnTo>
                      <a:pt x="118" y="0"/>
                    </a:lnTo>
                    <a:lnTo>
                      <a:pt x="107" y="0"/>
                    </a:lnTo>
                    <a:lnTo>
                      <a:pt x="95" y="2"/>
                    </a:lnTo>
                    <a:lnTo>
                      <a:pt x="84" y="5"/>
                    </a:lnTo>
                    <a:lnTo>
                      <a:pt x="72" y="9"/>
                    </a:lnTo>
                    <a:lnTo>
                      <a:pt x="62" y="14"/>
                    </a:lnTo>
                    <a:lnTo>
                      <a:pt x="53" y="19"/>
                    </a:lnTo>
                    <a:lnTo>
                      <a:pt x="44" y="27"/>
                    </a:lnTo>
                    <a:lnTo>
                      <a:pt x="35" y="34"/>
                    </a:lnTo>
                    <a:lnTo>
                      <a:pt x="27" y="42"/>
                    </a:lnTo>
                    <a:lnTo>
                      <a:pt x="21" y="51"/>
                    </a:lnTo>
                    <a:lnTo>
                      <a:pt x="14" y="61"/>
                    </a:lnTo>
                    <a:lnTo>
                      <a:pt x="9" y="72"/>
                    </a:lnTo>
                    <a:lnTo>
                      <a:pt x="5" y="82"/>
                    </a:lnTo>
                    <a:lnTo>
                      <a:pt x="3" y="93"/>
                    </a:lnTo>
                    <a:lnTo>
                      <a:pt x="2" y="105"/>
                    </a:lnTo>
                    <a:lnTo>
                      <a:pt x="0" y="118"/>
                    </a:lnTo>
                    <a:lnTo>
                      <a:pt x="2" y="129"/>
                    </a:lnTo>
                    <a:lnTo>
                      <a:pt x="3" y="141"/>
                    </a:lnTo>
                    <a:lnTo>
                      <a:pt x="5" y="153"/>
                    </a:lnTo>
                    <a:lnTo>
                      <a:pt x="9" y="163"/>
                    </a:lnTo>
                    <a:lnTo>
                      <a:pt x="14" y="173"/>
                    </a:lnTo>
                    <a:lnTo>
                      <a:pt x="21" y="183"/>
                    </a:lnTo>
                    <a:lnTo>
                      <a:pt x="27" y="192"/>
                    </a:lnTo>
                    <a:lnTo>
                      <a:pt x="35" y="201"/>
                    </a:lnTo>
                    <a:lnTo>
                      <a:pt x="44" y="209"/>
                    </a:lnTo>
                    <a:lnTo>
                      <a:pt x="53" y="215"/>
                    </a:lnTo>
                    <a:lnTo>
                      <a:pt x="62" y="221"/>
                    </a:lnTo>
                    <a:lnTo>
                      <a:pt x="72" y="226"/>
                    </a:lnTo>
                    <a:lnTo>
                      <a:pt x="84" y="230"/>
                    </a:lnTo>
                    <a:lnTo>
                      <a:pt x="95" y="233"/>
                    </a:lnTo>
                    <a:lnTo>
                      <a:pt x="107" y="235"/>
                    </a:lnTo>
                    <a:lnTo>
                      <a:pt x="118" y="2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Freeform 3403">
                <a:extLst>
                  <a:ext uri="{FF2B5EF4-FFF2-40B4-BE49-F238E27FC236}">
                    <a16:creationId xmlns:a16="http://schemas.microsoft.com/office/drawing/2014/main" id="{80DB2E3F-7748-7E66-0EDF-39C0D3D38865}"/>
                  </a:ext>
                </a:extLst>
              </p:cNvPr>
              <p:cNvSpPr>
                <a:spLocks/>
              </p:cNvSpPr>
              <p:nvPr/>
            </p:nvSpPr>
            <p:spPr bwMode="auto">
              <a:xfrm>
                <a:off x="6530975" y="6030913"/>
                <a:ext cx="142875" cy="177800"/>
              </a:xfrm>
              <a:custGeom>
                <a:avLst/>
                <a:gdLst>
                  <a:gd name="T0" fmla="*/ 178 w 361"/>
                  <a:gd name="T1" fmla="*/ 0 h 448"/>
                  <a:gd name="T2" fmla="*/ 169 w 361"/>
                  <a:gd name="T3" fmla="*/ 0 h 448"/>
                  <a:gd name="T4" fmla="*/ 160 w 361"/>
                  <a:gd name="T5" fmla="*/ 1 h 448"/>
                  <a:gd name="T6" fmla="*/ 150 w 361"/>
                  <a:gd name="T7" fmla="*/ 4 h 448"/>
                  <a:gd name="T8" fmla="*/ 141 w 361"/>
                  <a:gd name="T9" fmla="*/ 5 h 448"/>
                  <a:gd name="T10" fmla="*/ 133 w 361"/>
                  <a:gd name="T11" fmla="*/ 9 h 448"/>
                  <a:gd name="T12" fmla="*/ 124 w 361"/>
                  <a:gd name="T13" fmla="*/ 13 h 448"/>
                  <a:gd name="T14" fmla="*/ 115 w 361"/>
                  <a:gd name="T15" fmla="*/ 17 h 448"/>
                  <a:gd name="T16" fmla="*/ 108 w 361"/>
                  <a:gd name="T17" fmla="*/ 22 h 448"/>
                  <a:gd name="T18" fmla="*/ 92 w 361"/>
                  <a:gd name="T19" fmla="*/ 35 h 448"/>
                  <a:gd name="T20" fmla="*/ 77 w 361"/>
                  <a:gd name="T21" fmla="*/ 49 h 448"/>
                  <a:gd name="T22" fmla="*/ 64 w 361"/>
                  <a:gd name="T23" fmla="*/ 65 h 448"/>
                  <a:gd name="T24" fmla="*/ 51 w 361"/>
                  <a:gd name="T25" fmla="*/ 83 h 448"/>
                  <a:gd name="T26" fmla="*/ 40 w 361"/>
                  <a:gd name="T27" fmla="*/ 104 h 448"/>
                  <a:gd name="T28" fmla="*/ 29 w 361"/>
                  <a:gd name="T29" fmla="*/ 127 h 448"/>
                  <a:gd name="T30" fmla="*/ 20 w 361"/>
                  <a:gd name="T31" fmla="*/ 150 h 448"/>
                  <a:gd name="T32" fmla="*/ 14 w 361"/>
                  <a:gd name="T33" fmla="*/ 176 h 448"/>
                  <a:gd name="T34" fmla="*/ 8 w 361"/>
                  <a:gd name="T35" fmla="*/ 203 h 448"/>
                  <a:gd name="T36" fmla="*/ 4 w 361"/>
                  <a:gd name="T37" fmla="*/ 231 h 448"/>
                  <a:gd name="T38" fmla="*/ 1 w 361"/>
                  <a:gd name="T39" fmla="*/ 262 h 448"/>
                  <a:gd name="T40" fmla="*/ 0 w 361"/>
                  <a:gd name="T41" fmla="*/ 293 h 448"/>
                  <a:gd name="T42" fmla="*/ 0 w 361"/>
                  <a:gd name="T43" fmla="*/ 304 h 448"/>
                  <a:gd name="T44" fmla="*/ 108 w 361"/>
                  <a:gd name="T45" fmla="*/ 304 h 448"/>
                  <a:gd name="T46" fmla="*/ 108 w 361"/>
                  <a:gd name="T47" fmla="*/ 448 h 448"/>
                  <a:gd name="T48" fmla="*/ 253 w 361"/>
                  <a:gd name="T49" fmla="*/ 448 h 448"/>
                  <a:gd name="T50" fmla="*/ 253 w 361"/>
                  <a:gd name="T51" fmla="*/ 304 h 448"/>
                  <a:gd name="T52" fmla="*/ 361 w 361"/>
                  <a:gd name="T53" fmla="*/ 304 h 448"/>
                  <a:gd name="T54" fmla="*/ 361 w 361"/>
                  <a:gd name="T55" fmla="*/ 291 h 448"/>
                  <a:gd name="T56" fmla="*/ 359 w 361"/>
                  <a:gd name="T57" fmla="*/ 262 h 448"/>
                  <a:gd name="T58" fmla="*/ 357 w 361"/>
                  <a:gd name="T59" fmla="*/ 231 h 448"/>
                  <a:gd name="T60" fmla="*/ 353 w 361"/>
                  <a:gd name="T61" fmla="*/ 203 h 448"/>
                  <a:gd name="T62" fmla="*/ 347 w 361"/>
                  <a:gd name="T63" fmla="*/ 176 h 448"/>
                  <a:gd name="T64" fmla="*/ 339 w 361"/>
                  <a:gd name="T65" fmla="*/ 150 h 448"/>
                  <a:gd name="T66" fmla="*/ 330 w 361"/>
                  <a:gd name="T67" fmla="*/ 127 h 448"/>
                  <a:gd name="T68" fmla="*/ 320 w 361"/>
                  <a:gd name="T69" fmla="*/ 104 h 448"/>
                  <a:gd name="T70" fmla="*/ 308 w 361"/>
                  <a:gd name="T71" fmla="*/ 83 h 448"/>
                  <a:gd name="T72" fmla="*/ 295 w 361"/>
                  <a:gd name="T73" fmla="*/ 65 h 448"/>
                  <a:gd name="T74" fmla="*/ 281 w 361"/>
                  <a:gd name="T75" fmla="*/ 49 h 448"/>
                  <a:gd name="T76" fmla="*/ 267 w 361"/>
                  <a:gd name="T77" fmla="*/ 35 h 448"/>
                  <a:gd name="T78" fmla="*/ 250 w 361"/>
                  <a:gd name="T79" fmla="*/ 22 h 448"/>
                  <a:gd name="T80" fmla="*/ 243 w 361"/>
                  <a:gd name="T81" fmla="*/ 17 h 448"/>
                  <a:gd name="T82" fmla="*/ 234 w 361"/>
                  <a:gd name="T83" fmla="*/ 13 h 448"/>
                  <a:gd name="T84" fmla="*/ 225 w 361"/>
                  <a:gd name="T85" fmla="*/ 9 h 448"/>
                  <a:gd name="T86" fmla="*/ 216 w 361"/>
                  <a:gd name="T87" fmla="*/ 5 h 448"/>
                  <a:gd name="T88" fmla="*/ 207 w 361"/>
                  <a:gd name="T89" fmla="*/ 4 h 448"/>
                  <a:gd name="T90" fmla="*/ 198 w 361"/>
                  <a:gd name="T91" fmla="*/ 1 h 448"/>
                  <a:gd name="T92" fmla="*/ 189 w 361"/>
                  <a:gd name="T93" fmla="*/ 0 h 448"/>
                  <a:gd name="T94" fmla="*/ 178 w 361"/>
                  <a:gd name="T95" fmla="*/ 0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61" h="448">
                    <a:moveTo>
                      <a:pt x="178" y="0"/>
                    </a:moveTo>
                    <a:lnTo>
                      <a:pt x="169" y="0"/>
                    </a:lnTo>
                    <a:lnTo>
                      <a:pt x="160" y="1"/>
                    </a:lnTo>
                    <a:lnTo>
                      <a:pt x="150" y="4"/>
                    </a:lnTo>
                    <a:lnTo>
                      <a:pt x="141" y="5"/>
                    </a:lnTo>
                    <a:lnTo>
                      <a:pt x="133" y="9"/>
                    </a:lnTo>
                    <a:lnTo>
                      <a:pt x="124" y="13"/>
                    </a:lnTo>
                    <a:lnTo>
                      <a:pt x="115" y="17"/>
                    </a:lnTo>
                    <a:lnTo>
                      <a:pt x="108" y="22"/>
                    </a:lnTo>
                    <a:lnTo>
                      <a:pt x="92" y="35"/>
                    </a:lnTo>
                    <a:lnTo>
                      <a:pt x="77" y="49"/>
                    </a:lnTo>
                    <a:lnTo>
                      <a:pt x="64" y="65"/>
                    </a:lnTo>
                    <a:lnTo>
                      <a:pt x="51" y="83"/>
                    </a:lnTo>
                    <a:lnTo>
                      <a:pt x="40" y="104"/>
                    </a:lnTo>
                    <a:lnTo>
                      <a:pt x="29" y="127"/>
                    </a:lnTo>
                    <a:lnTo>
                      <a:pt x="20" y="150"/>
                    </a:lnTo>
                    <a:lnTo>
                      <a:pt x="14" y="176"/>
                    </a:lnTo>
                    <a:lnTo>
                      <a:pt x="8" y="203"/>
                    </a:lnTo>
                    <a:lnTo>
                      <a:pt x="4" y="231"/>
                    </a:lnTo>
                    <a:lnTo>
                      <a:pt x="1" y="262"/>
                    </a:lnTo>
                    <a:lnTo>
                      <a:pt x="0" y="293"/>
                    </a:lnTo>
                    <a:lnTo>
                      <a:pt x="0" y="304"/>
                    </a:lnTo>
                    <a:lnTo>
                      <a:pt x="108" y="304"/>
                    </a:lnTo>
                    <a:lnTo>
                      <a:pt x="108" y="448"/>
                    </a:lnTo>
                    <a:lnTo>
                      <a:pt x="253" y="448"/>
                    </a:lnTo>
                    <a:lnTo>
                      <a:pt x="253" y="304"/>
                    </a:lnTo>
                    <a:lnTo>
                      <a:pt x="361" y="304"/>
                    </a:lnTo>
                    <a:lnTo>
                      <a:pt x="361" y="291"/>
                    </a:lnTo>
                    <a:lnTo>
                      <a:pt x="359" y="262"/>
                    </a:lnTo>
                    <a:lnTo>
                      <a:pt x="357" y="231"/>
                    </a:lnTo>
                    <a:lnTo>
                      <a:pt x="353" y="203"/>
                    </a:lnTo>
                    <a:lnTo>
                      <a:pt x="347" y="176"/>
                    </a:lnTo>
                    <a:lnTo>
                      <a:pt x="339" y="150"/>
                    </a:lnTo>
                    <a:lnTo>
                      <a:pt x="330" y="127"/>
                    </a:lnTo>
                    <a:lnTo>
                      <a:pt x="320" y="104"/>
                    </a:lnTo>
                    <a:lnTo>
                      <a:pt x="308" y="83"/>
                    </a:lnTo>
                    <a:lnTo>
                      <a:pt x="295" y="65"/>
                    </a:lnTo>
                    <a:lnTo>
                      <a:pt x="281" y="49"/>
                    </a:lnTo>
                    <a:lnTo>
                      <a:pt x="267" y="35"/>
                    </a:lnTo>
                    <a:lnTo>
                      <a:pt x="250" y="22"/>
                    </a:lnTo>
                    <a:lnTo>
                      <a:pt x="243" y="17"/>
                    </a:lnTo>
                    <a:lnTo>
                      <a:pt x="234" y="13"/>
                    </a:lnTo>
                    <a:lnTo>
                      <a:pt x="225" y="9"/>
                    </a:lnTo>
                    <a:lnTo>
                      <a:pt x="216" y="5"/>
                    </a:lnTo>
                    <a:lnTo>
                      <a:pt x="207" y="4"/>
                    </a:lnTo>
                    <a:lnTo>
                      <a:pt x="198" y="1"/>
                    </a:lnTo>
                    <a:lnTo>
                      <a:pt x="189" y="0"/>
                    </a:lnTo>
                    <a:lnTo>
                      <a:pt x="17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grpSp>
        <p:nvGrpSpPr>
          <p:cNvPr id="49" name="Group 48">
            <a:extLst>
              <a:ext uri="{FF2B5EF4-FFF2-40B4-BE49-F238E27FC236}">
                <a16:creationId xmlns:a16="http://schemas.microsoft.com/office/drawing/2014/main" id="{75665003-C9C8-CAAC-A957-24C6B5C98C74}"/>
              </a:ext>
            </a:extLst>
          </p:cNvPr>
          <p:cNvGrpSpPr/>
          <p:nvPr/>
        </p:nvGrpSpPr>
        <p:grpSpPr>
          <a:xfrm>
            <a:off x="7893393" y="2661670"/>
            <a:ext cx="1374896" cy="523771"/>
            <a:chOff x="9105343" y="5365693"/>
            <a:chExt cx="1374896" cy="523771"/>
          </a:xfrm>
        </p:grpSpPr>
        <p:grpSp>
          <p:nvGrpSpPr>
            <p:cNvPr id="50" name="Group 49">
              <a:extLst>
                <a:ext uri="{FF2B5EF4-FFF2-40B4-BE49-F238E27FC236}">
                  <a16:creationId xmlns:a16="http://schemas.microsoft.com/office/drawing/2014/main" id="{153EA810-8959-5D4E-1FF7-934761D84013}"/>
                </a:ext>
              </a:extLst>
            </p:cNvPr>
            <p:cNvGrpSpPr/>
            <p:nvPr/>
          </p:nvGrpSpPr>
          <p:grpSpPr>
            <a:xfrm>
              <a:off x="9105343" y="5379718"/>
              <a:ext cx="247856" cy="495701"/>
              <a:chOff x="7085013" y="5922969"/>
              <a:chExt cx="142875" cy="285744"/>
            </a:xfrm>
            <a:solidFill>
              <a:schemeClr val="accent3"/>
            </a:solidFill>
          </p:grpSpPr>
          <p:sp>
            <p:nvSpPr>
              <p:cNvPr id="54" name="Freeform 3394">
                <a:extLst>
                  <a:ext uri="{FF2B5EF4-FFF2-40B4-BE49-F238E27FC236}">
                    <a16:creationId xmlns:a16="http://schemas.microsoft.com/office/drawing/2014/main" id="{43D3842F-5DA1-4048-AE2A-D6FA77802B45}"/>
                  </a:ext>
                </a:extLst>
              </p:cNvPr>
              <p:cNvSpPr>
                <a:spLocks/>
              </p:cNvSpPr>
              <p:nvPr/>
            </p:nvSpPr>
            <p:spPr bwMode="auto">
              <a:xfrm>
                <a:off x="7107237" y="5922969"/>
                <a:ext cx="96837" cy="95250"/>
              </a:xfrm>
              <a:custGeom>
                <a:avLst/>
                <a:gdLst>
                  <a:gd name="T0" fmla="*/ 132 w 241"/>
                  <a:gd name="T1" fmla="*/ 239 h 240"/>
                  <a:gd name="T2" fmla="*/ 156 w 241"/>
                  <a:gd name="T3" fmla="*/ 235 h 240"/>
                  <a:gd name="T4" fmla="*/ 177 w 241"/>
                  <a:gd name="T5" fmla="*/ 226 h 240"/>
                  <a:gd name="T6" fmla="*/ 196 w 241"/>
                  <a:gd name="T7" fmla="*/ 212 h 240"/>
                  <a:gd name="T8" fmla="*/ 213 w 241"/>
                  <a:gd name="T9" fmla="*/ 196 h 240"/>
                  <a:gd name="T10" fmla="*/ 226 w 241"/>
                  <a:gd name="T11" fmla="*/ 177 h 240"/>
                  <a:gd name="T12" fmla="*/ 235 w 241"/>
                  <a:gd name="T13" fmla="*/ 155 h 240"/>
                  <a:gd name="T14" fmla="*/ 240 w 241"/>
                  <a:gd name="T15" fmla="*/ 132 h 240"/>
                  <a:gd name="T16" fmla="*/ 240 w 241"/>
                  <a:gd name="T17" fmla="*/ 108 h 240"/>
                  <a:gd name="T18" fmla="*/ 235 w 241"/>
                  <a:gd name="T19" fmla="*/ 83 h 240"/>
                  <a:gd name="T20" fmla="*/ 226 w 241"/>
                  <a:gd name="T21" fmla="*/ 63 h 240"/>
                  <a:gd name="T22" fmla="*/ 213 w 241"/>
                  <a:gd name="T23" fmla="*/ 43 h 240"/>
                  <a:gd name="T24" fmla="*/ 196 w 241"/>
                  <a:gd name="T25" fmla="*/ 27 h 240"/>
                  <a:gd name="T26" fmla="*/ 177 w 241"/>
                  <a:gd name="T27" fmla="*/ 14 h 240"/>
                  <a:gd name="T28" fmla="*/ 156 w 241"/>
                  <a:gd name="T29" fmla="*/ 5 h 240"/>
                  <a:gd name="T30" fmla="*/ 132 w 241"/>
                  <a:gd name="T31" fmla="*/ 0 h 240"/>
                  <a:gd name="T32" fmla="*/ 108 w 241"/>
                  <a:gd name="T33" fmla="*/ 0 h 240"/>
                  <a:gd name="T34" fmla="*/ 84 w 241"/>
                  <a:gd name="T35" fmla="*/ 5 h 240"/>
                  <a:gd name="T36" fmla="*/ 63 w 241"/>
                  <a:gd name="T37" fmla="*/ 14 h 240"/>
                  <a:gd name="T38" fmla="*/ 43 w 241"/>
                  <a:gd name="T39" fmla="*/ 27 h 240"/>
                  <a:gd name="T40" fmla="*/ 28 w 241"/>
                  <a:gd name="T41" fmla="*/ 43 h 240"/>
                  <a:gd name="T42" fmla="*/ 15 w 241"/>
                  <a:gd name="T43" fmla="*/ 63 h 240"/>
                  <a:gd name="T44" fmla="*/ 6 w 241"/>
                  <a:gd name="T45" fmla="*/ 83 h 240"/>
                  <a:gd name="T46" fmla="*/ 1 w 241"/>
                  <a:gd name="T47" fmla="*/ 108 h 240"/>
                  <a:gd name="T48" fmla="*/ 1 w 241"/>
                  <a:gd name="T49" fmla="*/ 132 h 240"/>
                  <a:gd name="T50" fmla="*/ 6 w 241"/>
                  <a:gd name="T51" fmla="*/ 155 h 240"/>
                  <a:gd name="T52" fmla="*/ 15 w 241"/>
                  <a:gd name="T53" fmla="*/ 177 h 240"/>
                  <a:gd name="T54" fmla="*/ 28 w 241"/>
                  <a:gd name="T55" fmla="*/ 196 h 240"/>
                  <a:gd name="T56" fmla="*/ 43 w 241"/>
                  <a:gd name="T57" fmla="*/ 212 h 240"/>
                  <a:gd name="T58" fmla="*/ 63 w 241"/>
                  <a:gd name="T59" fmla="*/ 226 h 240"/>
                  <a:gd name="T60" fmla="*/ 84 w 241"/>
                  <a:gd name="T61" fmla="*/ 235 h 240"/>
                  <a:gd name="T62" fmla="*/ 108 w 241"/>
                  <a:gd name="T63" fmla="*/ 23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40">
                    <a:moveTo>
                      <a:pt x="120" y="240"/>
                    </a:moveTo>
                    <a:lnTo>
                      <a:pt x="132" y="239"/>
                    </a:lnTo>
                    <a:lnTo>
                      <a:pt x="145" y="237"/>
                    </a:lnTo>
                    <a:lnTo>
                      <a:pt x="156" y="235"/>
                    </a:lnTo>
                    <a:lnTo>
                      <a:pt x="167" y="230"/>
                    </a:lnTo>
                    <a:lnTo>
                      <a:pt x="177" y="226"/>
                    </a:lnTo>
                    <a:lnTo>
                      <a:pt x="187" y="219"/>
                    </a:lnTo>
                    <a:lnTo>
                      <a:pt x="196" y="212"/>
                    </a:lnTo>
                    <a:lnTo>
                      <a:pt x="205" y="204"/>
                    </a:lnTo>
                    <a:lnTo>
                      <a:pt x="213" y="196"/>
                    </a:lnTo>
                    <a:lnTo>
                      <a:pt x="221" y="187"/>
                    </a:lnTo>
                    <a:lnTo>
                      <a:pt x="226" y="177"/>
                    </a:lnTo>
                    <a:lnTo>
                      <a:pt x="231" y="167"/>
                    </a:lnTo>
                    <a:lnTo>
                      <a:pt x="235" y="155"/>
                    </a:lnTo>
                    <a:lnTo>
                      <a:pt x="239" y="144"/>
                    </a:lnTo>
                    <a:lnTo>
                      <a:pt x="240" y="132"/>
                    </a:lnTo>
                    <a:lnTo>
                      <a:pt x="241" y="119"/>
                    </a:lnTo>
                    <a:lnTo>
                      <a:pt x="240" y="108"/>
                    </a:lnTo>
                    <a:lnTo>
                      <a:pt x="239" y="95"/>
                    </a:lnTo>
                    <a:lnTo>
                      <a:pt x="235" y="83"/>
                    </a:lnTo>
                    <a:lnTo>
                      <a:pt x="231" y="73"/>
                    </a:lnTo>
                    <a:lnTo>
                      <a:pt x="226" y="63"/>
                    </a:lnTo>
                    <a:lnTo>
                      <a:pt x="221" y="52"/>
                    </a:lnTo>
                    <a:lnTo>
                      <a:pt x="213" y="43"/>
                    </a:lnTo>
                    <a:lnTo>
                      <a:pt x="205" y="34"/>
                    </a:lnTo>
                    <a:lnTo>
                      <a:pt x="196" y="27"/>
                    </a:lnTo>
                    <a:lnTo>
                      <a:pt x="187" y="20"/>
                    </a:lnTo>
                    <a:lnTo>
                      <a:pt x="177" y="14"/>
                    </a:lnTo>
                    <a:lnTo>
                      <a:pt x="167" y="9"/>
                    </a:lnTo>
                    <a:lnTo>
                      <a:pt x="156" y="5"/>
                    </a:lnTo>
                    <a:lnTo>
                      <a:pt x="145" y="2"/>
                    </a:lnTo>
                    <a:lnTo>
                      <a:pt x="132" y="0"/>
                    </a:lnTo>
                    <a:lnTo>
                      <a:pt x="120" y="0"/>
                    </a:lnTo>
                    <a:lnTo>
                      <a:pt x="108" y="0"/>
                    </a:lnTo>
                    <a:lnTo>
                      <a:pt x="96" y="2"/>
                    </a:lnTo>
                    <a:lnTo>
                      <a:pt x="84" y="5"/>
                    </a:lnTo>
                    <a:lnTo>
                      <a:pt x="74" y="9"/>
                    </a:lnTo>
                    <a:lnTo>
                      <a:pt x="63" y="14"/>
                    </a:lnTo>
                    <a:lnTo>
                      <a:pt x="54" y="20"/>
                    </a:lnTo>
                    <a:lnTo>
                      <a:pt x="43" y="27"/>
                    </a:lnTo>
                    <a:lnTo>
                      <a:pt x="36" y="34"/>
                    </a:lnTo>
                    <a:lnTo>
                      <a:pt x="28" y="43"/>
                    </a:lnTo>
                    <a:lnTo>
                      <a:pt x="20" y="52"/>
                    </a:lnTo>
                    <a:lnTo>
                      <a:pt x="15" y="63"/>
                    </a:lnTo>
                    <a:lnTo>
                      <a:pt x="10" y="73"/>
                    </a:lnTo>
                    <a:lnTo>
                      <a:pt x="6" y="83"/>
                    </a:lnTo>
                    <a:lnTo>
                      <a:pt x="2" y="95"/>
                    </a:lnTo>
                    <a:lnTo>
                      <a:pt x="1" y="108"/>
                    </a:lnTo>
                    <a:lnTo>
                      <a:pt x="0" y="119"/>
                    </a:lnTo>
                    <a:lnTo>
                      <a:pt x="1" y="132"/>
                    </a:lnTo>
                    <a:lnTo>
                      <a:pt x="2" y="144"/>
                    </a:lnTo>
                    <a:lnTo>
                      <a:pt x="6" y="155"/>
                    </a:lnTo>
                    <a:lnTo>
                      <a:pt x="10" y="167"/>
                    </a:lnTo>
                    <a:lnTo>
                      <a:pt x="15" y="177"/>
                    </a:lnTo>
                    <a:lnTo>
                      <a:pt x="20" y="187"/>
                    </a:lnTo>
                    <a:lnTo>
                      <a:pt x="28" y="196"/>
                    </a:lnTo>
                    <a:lnTo>
                      <a:pt x="36" y="204"/>
                    </a:lnTo>
                    <a:lnTo>
                      <a:pt x="43" y="212"/>
                    </a:lnTo>
                    <a:lnTo>
                      <a:pt x="54" y="219"/>
                    </a:lnTo>
                    <a:lnTo>
                      <a:pt x="63" y="226"/>
                    </a:lnTo>
                    <a:lnTo>
                      <a:pt x="74" y="230"/>
                    </a:lnTo>
                    <a:lnTo>
                      <a:pt x="84" y="235"/>
                    </a:lnTo>
                    <a:lnTo>
                      <a:pt x="96" y="237"/>
                    </a:lnTo>
                    <a:lnTo>
                      <a:pt x="108" y="239"/>
                    </a:lnTo>
                    <a:lnTo>
                      <a:pt x="120" y="24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3395">
                <a:extLst>
                  <a:ext uri="{FF2B5EF4-FFF2-40B4-BE49-F238E27FC236}">
                    <a16:creationId xmlns:a16="http://schemas.microsoft.com/office/drawing/2014/main" id="{DB58C3EC-D503-EF8E-66D9-29380822F06A}"/>
                  </a:ext>
                </a:extLst>
              </p:cNvPr>
              <p:cNvSpPr>
                <a:spLocks/>
              </p:cNvSpPr>
              <p:nvPr/>
            </p:nvSpPr>
            <p:spPr bwMode="auto">
              <a:xfrm>
                <a:off x="7085013" y="6027738"/>
                <a:ext cx="142875" cy="180975"/>
              </a:xfrm>
              <a:custGeom>
                <a:avLst/>
                <a:gdLst>
                  <a:gd name="T0" fmla="*/ 0 w 359"/>
                  <a:gd name="T1" fmla="*/ 0 h 456"/>
                  <a:gd name="T2" fmla="*/ 0 w 359"/>
                  <a:gd name="T3" fmla="*/ 12 h 456"/>
                  <a:gd name="T4" fmla="*/ 0 w 359"/>
                  <a:gd name="T5" fmla="*/ 39 h 456"/>
                  <a:gd name="T6" fmla="*/ 2 w 359"/>
                  <a:gd name="T7" fmla="*/ 64 h 456"/>
                  <a:gd name="T8" fmla="*/ 5 w 359"/>
                  <a:gd name="T9" fmla="*/ 88 h 456"/>
                  <a:gd name="T10" fmla="*/ 10 w 359"/>
                  <a:gd name="T11" fmla="*/ 109 h 456"/>
                  <a:gd name="T12" fmla="*/ 15 w 359"/>
                  <a:gd name="T13" fmla="*/ 130 h 456"/>
                  <a:gd name="T14" fmla="*/ 21 w 359"/>
                  <a:gd name="T15" fmla="*/ 148 h 456"/>
                  <a:gd name="T16" fmla="*/ 29 w 359"/>
                  <a:gd name="T17" fmla="*/ 165 h 456"/>
                  <a:gd name="T18" fmla="*/ 37 w 359"/>
                  <a:gd name="T19" fmla="*/ 180 h 456"/>
                  <a:gd name="T20" fmla="*/ 46 w 359"/>
                  <a:gd name="T21" fmla="*/ 194 h 456"/>
                  <a:gd name="T22" fmla="*/ 54 w 359"/>
                  <a:gd name="T23" fmla="*/ 206 h 456"/>
                  <a:gd name="T24" fmla="*/ 63 w 359"/>
                  <a:gd name="T25" fmla="*/ 217 h 456"/>
                  <a:gd name="T26" fmla="*/ 72 w 359"/>
                  <a:gd name="T27" fmla="*/ 226 h 456"/>
                  <a:gd name="T28" fmla="*/ 82 w 359"/>
                  <a:gd name="T29" fmla="*/ 235 h 456"/>
                  <a:gd name="T30" fmla="*/ 91 w 359"/>
                  <a:gd name="T31" fmla="*/ 243 h 456"/>
                  <a:gd name="T32" fmla="*/ 98 w 359"/>
                  <a:gd name="T33" fmla="*/ 249 h 456"/>
                  <a:gd name="T34" fmla="*/ 107 w 359"/>
                  <a:gd name="T35" fmla="*/ 255 h 456"/>
                  <a:gd name="T36" fmla="*/ 107 w 359"/>
                  <a:gd name="T37" fmla="*/ 456 h 456"/>
                  <a:gd name="T38" fmla="*/ 251 w 359"/>
                  <a:gd name="T39" fmla="*/ 456 h 456"/>
                  <a:gd name="T40" fmla="*/ 251 w 359"/>
                  <a:gd name="T41" fmla="*/ 255 h 456"/>
                  <a:gd name="T42" fmla="*/ 262 w 359"/>
                  <a:gd name="T43" fmla="*/ 248 h 456"/>
                  <a:gd name="T44" fmla="*/ 271 w 359"/>
                  <a:gd name="T45" fmla="*/ 242 h 456"/>
                  <a:gd name="T46" fmla="*/ 281 w 359"/>
                  <a:gd name="T47" fmla="*/ 234 h 456"/>
                  <a:gd name="T48" fmla="*/ 290 w 359"/>
                  <a:gd name="T49" fmla="*/ 225 h 456"/>
                  <a:gd name="T50" fmla="*/ 299 w 359"/>
                  <a:gd name="T51" fmla="*/ 215 h 456"/>
                  <a:gd name="T52" fmla="*/ 308 w 359"/>
                  <a:gd name="T53" fmla="*/ 203 h 456"/>
                  <a:gd name="T54" fmla="*/ 317 w 359"/>
                  <a:gd name="T55" fmla="*/ 192 h 456"/>
                  <a:gd name="T56" fmla="*/ 325 w 359"/>
                  <a:gd name="T57" fmla="*/ 177 h 456"/>
                  <a:gd name="T58" fmla="*/ 332 w 359"/>
                  <a:gd name="T59" fmla="*/ 162 h 456"/>
                  <a:gd name="T60" fmla="*/ 339 w 359"/>
                  <a:gd name="T61" fmla="*/ 145 h 456"/>
                  <a:gd name="T62" fmla="*/ 345 w 359"/>
                  <a:gd name="T63" fmla="*/ 127 h 456"/>
                  <a:gd name="T64" fmla="*/ 350 w 359"/>
                  <a:gd name="T65" fmla="*/ 108 h 456"/>
                  <a:gd name="T66" fmla="*/ 354 w 359"/>
                  <a:gd name="T67" fmla="*/ 86 h 456"/>
                  <a:gd name="T68" fmla="*/ 357 w 359"/>
                  <a:gd name="T69" fmla="*/ 63 h 456"/>
                  <a:gd name="T70" fmla="*/ 359 w 359"/>
                  <a:gd name="T71" fmla="*/ 39 h 456"/>
                  <a:gd name="T72" fmla="*/ 359 w 359"/>
                  <a:gd name="T73" fmla="*/ 12 h 456"/>
                  <a:gd name="T74" fmla="*/ 359 w 359"/>
                  <a:gd name="T75" fmla="*/ 0 h 456"/>
                  <a:gd name="T76" fmla="*/ 0 w 359"/>
                  <a:gd name="T77" fmla="*/ 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9" h="456">
                    <a:moveTo>
                      <a:pt x="0" y="0"/>
                    </a:moveTo>
                    <a:lnTo>
                      <a:pt x="0" y="12"/>
                    </a:lnTo>
                    <a:lnTo>
                      <a:pt x="0" y="39"/>
                    </a:lnTo>
                    <a:lnTo>
                      <a:pt x="2" y="64"/>
                    </a:lnTo>
                    <a:lnTo>
                      <a:pt x="5" y="88"/>
                    </a:lnTo>
                    <a:lnTo>
                      <a:pt x="10" y="109"/>
                    </a:lnTo>
                    <a:lnTo>
                      <a:pt x="15" y="130"/>
                    </a:lnTo>
                    <a:lnTo>
                      <a:pt x="21" y="148"/>
                    </a:lnTo>
                    <a:lnTo>
                      <a:pt x="29" y="165"/>
                    </a:lnTo>
                    <a:lnTo>
                      <a:pt x="37" y="180"/>
                    </a:lnTo>
                    <a:lnTo>
                      <a:pt x="46" y="194"/>
                    </a:lnTo>
                    <a:lnTo>
                      <a:pt x="54" y="206"/>
                    </a:lnTo>
                    <a:lnTo>
                      <a:pt x="63" y="217"/>
                    </a:lnTo>
                    <a:lnTo>
                      <a:pt x="72" y="226"/>
                    </a:lnTo>
                    <a:lnTo>
                      <a:pt x="82" y="235"/>
                    </a:lnTo>
                    <a:lnTo>
                      <a:pt x="91" y="243"/>
                    </a:lnTo>
                    <a:lnTo>
                      <a:pt x="98" y="249"/>
                    </a:lnTo>
                    <a:lnTo>
                      <a:pt x="107" y="255"/>
                    </a:lnTo>
                    <a:lnTo>
                      <a:pt x="107" y="456"/>
                    </a:lnTo>
                    <a:lnTo>
                      <a:pt x="251" y="456"/>
                    </a:lnTo>
                    <a:lnTo>
                      <a:pt x="251" y="255"/>
                    </a:lnTo>
                    <a:lnTo>
                      <a:pt x="262" y="248"/>
                    </a:lnTo>
                    <a:lnTo>
                      <a:pt x="271" y="242"/>
                    </a:lnTo>
                    <a:lnTo>
                      <a:pt x="281" y="234"/>
                    </a:lnTo>
                    <a:lnTo>
                      <a:pt x="290" y="225"/>
                    </a:lnTo>
                    <a:lnTo>
                      <a:pt x="299" y="215"/>
                    </a:lnTo>
                    <a:lnTo>
                      <a:pt x="308" y="203"/>
                    </a:lnTo>
                    <a:lnTo>
                      <a:pt x="317" y="192"/>
                    </a:lnTo>
                    <a:lnTo>
                      <a:pt x="325" y="177"/>
                    </a:lnTo>
                    <a:lnTo>
                      <a:pt x="332" y="162"/>
                    </a:lnTo>
                    <a:lnTo>
                      <a:pt x="339" y="145"/>
                    </a:lnTo>
                    <a:lnTo>
                      <a:pt x="345" y="127"/>
                    </a:lnTo>
                    <a:lnTo>
                      <a:pt x="350" y="108"/>
                    </a:lnTo>
                    <a:lnTo>
                      <a:pt x="354" y="86"/>
                    </a:lnTo>
                    <a:lnTo>
                      <a:pt x="357" y="63"/>
                    </a:lnTo>
                    <a:lnTo>
                      <a:pt x="359" y="39"/>
                    </a:lnTo>
                    <a:lnTo>
                      <a:pt x="359" y="12"/>
                    </a:lnTo>
                    <a:lnTo>
                      <a:pt x="359" y="0"/>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1" name="Group 50">
              <a:extLst>
                <a:ext uri="{FF2B5EF4-FFF2-40B4-BE49-F238E27FC236}">
                  <a16:creationId xmlns:a16="http://schemas.microsoft.com/office/drawing/2014/main" id="{86423F04-D22D-5A12-7107-D0B747011127}"/>
                </a:ext>
              </a:extLst>
            </p:cNvPr>
            <p:cNvGrpSpPr/>
            <p:nvPr/>
          </p:nvGrpSpPr>
          <p:grpSpPr>
            <a:xfrm>
              <a:off x="9480153" y="5365693"/>
              <a:ext cx="1000086" cy="523771"/>
              <a:chOff x="942261" y="6128051"/>
              <a:chExt cx="621858" cy="523771"/>
            </a:xfrm>
          </p:grpSpPr>
          <p:sp>
            <p:nvSpPr>
              <p:cNvPr id="52" name="TextBox 51">
                <a:extLst>
                  <a:ext uri="{FF2B5EF4-FFF2-40B4-BE49-F238E27FC236}">
                    <a16:creationId xmlns:a16="http://schemas.microsoft.com/office/drawing/2014/main" id="{6A432B3A-A919-2960-2469-4CA9C05E3585}"/>
                  </a:ext>
                </a:extLst>
              </p:cNvPr>
              <p:cNvSpPr txBox="1"/>
              <p:nvPr/>
            </p:nvSpPr>
            <p:spPr>
              <a:xfrm>
                <a:off x="942261" y="6128051"/>
                <a:ext cx="621858" cy="215444"/>
              </a:xfrm>
              <a:prstGeom prst="rect">
                <a:avLst/>
              </a:prstGeom>
              <a:noFill/>
              <a:ln w="6350">
                <a:noFill/>
                <a:prstDash val="dash"/>
              </a:ln>
            </p:spPr>
            <p:txBody>
              <a:bodyPr wrap="square" lIns="0" tIns="0" rIns="0" bIns="0" rtlCol="0">
                <a:spAutoFit/>
              </a:bodyPr>
              <a:lstStyle/>
              <a:p>
                <a:r>
                  <a:rPr lang="en-US" sz="1400" b="1" dirty="0">
                    <a:solidFill>
                      <a:schemeClr val="accent3"/>
                    </a:solidFill>
                  </a:rPr>
                  <a:t>Male</a:t>
                </a:r>
              </a:p>
            </p:txBody>
          </p:sp>
          <p:sp>
            <p:nvSpPr>
              <p:cNvPr id="53" name="TextBox 52">
                <a:extLst>
                  <a:ext uri="{FF2B5EF4-FFF2-40B4-BE49-F238E27FC236}">
                    <a16:creationId xmlns:a16="http://schemas.microsoft.com/office/drawing/2014/main" id="{DF25BEED-9BE2-CFB6-00C2-C6121E506A9C}"/>
                  </a:ext>
                </a:extLst>
              </p:cNvPr>
              <p:cNvSpPr txBox="1"/>
              <p:nvPr/>
            </p:nvSpPr>
            <p:spPr>
              <a:xfrm>
                <a:off x="942261" y="6344045"/>
                <a:ext cx="621858" cy="307777"/>
              </a:xfrm>
              <a:prstGeom prst="rect">
                <a:avLst/>
              </a:prstGeom>
              <a:noFill/>
              <a:ln w="6350">
                <a:noFill/>
                <a:prstDash val="dash"/>
              </a:ln>
            </p:spPr>
            <p:txBody>
              <a:bodyPr wrap="square" lIns="0" tIns="0" rIns="0" bIns="0" rtlCol="0">
                <a:spAutoFit/>
              </a:bodyPr>
              <a:lstStyle/>
              <a:p>
                <a:r>
                  <a:rPr lang="en-US" sz="2000" b="1" dirty="0">
                    <a:solidFill>
                      <a:schemeClr val="accent3"/>
                    </a:solidFill>
                    <a:latin typeface="+mj-lt"/>
                  </a:rPr>
                  <a:t>85%</a:t>
                </a:r>
              </a:p>
            </p:txBody>
          </p:sp>
        </p:grpSp>
      </p:grpSp>
      <p:grpSp>
        <p:nvGrpSpPr>
          <p:cNvPr id="4" name="Group 3">
            <a:extLst>
              <a:ext uri="{FF2B5EF4-FFF2-40B4-BE49-F238E27FC236}">
                <a16:creationId xmlns:a16="http://schemas.microsoft.com/office/drawing/2014/main" id="{CAB524FA-4D36-7DB9-E1D9-EDE48AF74535}"/>
              </a:ext>
            </a:extLst>
          </p:cNvPr>
          <p:cNvGrpSpPr/>
          <p:nvPr/>
        </p:nvGrpSpPr>
        <p:grpSpPr>
          <a:xfrm>
            <a:off x="7838128" y="3225330"/>
            <a:ext cx="2371727" cy="1251716"/>
            <a:chOff x="7838128" y="3225330"/>
            <a:chExt cx="2371727" cy="1251716"/>
          </a:xfrm>
        </p:grpSpPr>
        <p:sp>
          <p:nvSpPr>
            <p:cNvPr id="22" name="TextBox 21">
              <a:extLst>
                <a:ext uri="{FF2B5EF4-FFF2-40B4-BE49-F238E27FC236}">
                  <a16:creationId xmlns:a16="http://schemas.microsoft.com/office/drawing/2014/main" id="{6B1239C9-5717-4E17-85FC-199DAFD77729}"/>
                </a:ext>
              </a:extLst>
            </p:cNvPr>
            <p:cNvSpPr txBox="1"/>
            <p:nvPr/>
          </p:nvSpPr>
          <p:spPr>
            <a:xfrm>
              <a:off x="7838128" y="3447962"/>
              <a:ext cx="2371726" cy="430887"/>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Only 4% of the subscribers did not indicate their own gender. </a:t>
              </a:r>
            </a:p>
          </p:txBody>
        </p:sp>
        <p:sp>
          <p:nvSpPr>
            <p:cNvPr id="44" name="TextBox 43">
              <a:extLst>
                <a:ext uri="{FF2B5EF4-FFF2-40B4-BE49-F238E27FC236}">
                  <a16:creationId xmlns:a16="http://schemas.microsoft.com/office/drawing/2014/main" id="{5DA9E6BB-B3A5-4908-AFFD-880D2E72641F}"/>
                </a:ext>
              </a:extLst>
            </p:cNvPr>
            <p:cNvSpPr txBox="1"/>
            <p:nvPr/>
          </p:nvSpPr>
          <p:spPr>
            <a:xfrm>
              <a:off x="7838128" y="3984603"/>
              <a:ext cx="2371727" cy="492443"/>
            </a:xfrm>
            <a:prstGeom prst="rect">
              <a:avLst/>
            </a:prstGeom>
            <a:noFill/>
            <a:ln w="6350">
              <a:noFill/>
              <a:prstDash val="dash"/>
            </a:ln>
          </p:spPr>
          <p:txBody>
            <a:bodyPr wrap="square" lIns="0" tIns="0" rIns="0" bIns="0" rtlCol="0">
              <a:spAutoFit/>
            </a:bodyPr>
            <a:lstStyle/>
            <a:p>
              <a:pPr algn="ctr"/>
              <a:r>
                <a:rPr lang="en-US" sz="3200" b="1" dirty="0">
                  <a:solidFill>
                    <a:schemeClr val="accent5">
                      <a:lumMod val="75000"/>
                    </a:schemeClr>
                  </a:solidFill>
                  <a:latin typeface="+mj-lt"/>
                </a:rPr>
                <a:t>4%</a:t>
              </a:r>
            </a:p>
          </p:txBody>
        </p:sp>
        <p:sp>
          <p:nvSpPr>
            <p:cNvPr id="24" name="TextBox 23">
              <a:extLst>
                <a:ext uri="{FF2B5EF4-FFF2-40B4-BE49-F238E27FC236}">
                  <a16:creationId xmlns:a16="http://schemas.microsoft.com/office/drawing/2014/main" id="{11C1AB1B-B381-4587-189C-84A10DC4C8B0}"/>
                </a:ext>
              </a:extLst>
            </p:cNvPr>
            <p:cNvSpPr txBox="1"/>
            <p:nvPr/>
          </p:nvSpPr>
          <p:spPr>
            <a:xfrm>
              <a:off x="7838129" y="3225330"/>
              <a:ext cx="2371726" cy="215444"/>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Unknown Gender</a:t>
              </a:r>
            </a:p>
          </p:txBody>
        </p:sp>
        <p:grpSp>
          <p:nvGrpSpPr>
            <p:cNvPr id="62" name="Group 61">
              <a:extLst>
                <a:ext uri="{FF2B5EF4-FFF2-40B4-BE49-F238E27FC236}">
                  <a16:creationId xmlns:a16="http://schemas.microsoft.com/office/drawing/2014/main" id="{E32693AB-FB25-EBAD-E8A5-59FAF088818F}"/>
                </a:ext>
              </a:extLst>
            </p:cNvPr>
            <p:cNvGrpSpPr/>
            <p:nvPr/>
          </p:nvGrpSpPr>
          <p:grpSpPr>
            <a:xfrm>
              <a:off x="8249913" y="4000642"/>
              <a:ext cx="299253" cy="460557"/>
              <a:chOff x="8249914" y="3965492"/>
              <a:chExt cx="247856" cy="495708"/>
            </a:xfrm>
          </p:grpSpPr>
          <p:sp>
            <p:nvSpPr>
              <p:cNvPr id="41" name="Freeform 3402">
                <a:extLst>
                  <a:ext uri="{FF2B5EF4-FFF2-40B4-BE49-F238E27FC236}">
                    <a16:creationId xmlns:a16="http://schemas.microsoft.com/office/drawing/2014/main" id="{F8DFE6DB-8B1A-A407-979E-7AC12D14BA6A}"/>
                  </a:ext>
                </a:extLst>
              </p:cNvPr>
              <p:cNvSpPr>
                <a:spLocks/>
              </p:cNvSpPr>
              <p:nvPr/>
            </p:nvSpPr>
            <p:spPr bwMode="auto">
              <a:xfrm>
                <a:off x="8291224" y="3965492"/>
                <a:ext cx="162483" cy="162483"/>
              </a:xfrm>
              <a:custGeom>
                <a:avLst/>
                <a:gdLst>
                  <a:gd name="T0" fmla="*/ 131 w 237"/>
                  <a:gd name="T1" fmla="*/ 235 h 236"/>
                  <a:gd name="T2" fmla="*/ 154 w 237"/>
                  <a:gd name="T3" fmla="*/ 230 h 236"/>
                  <a:gd name="T4" fmla="*/ 175 w 237"/>
                  <a:gd name="T5" fmla="*/ 221 h 236"/>
                  <a:gd name="T6" fmla="*/ 194 w 237"/>
                  <a:gd name="T7" fmla="*/ 209 h 236"/>
                  <a:gd name="T8" fmla="*/ 210 w 237"/>
                  <a:gd name="T9" fmla="*/ 192 h 236"/>
                  <a:gd name="T10" fmla="*/ 222 w 237"/>
                  <a:gd name="T11" fmla="*/ 173 h 236"/>
                  <a:gd name="T12" fmla="*/ 231 w 237"/>
                  <a:gd name="T13" fmla="*/ 153 h 236"/>
                  <a:gd name="T14" fmla="*/ 237 w 237"/>
                  <a:gd name="T15" fmla="*/ 129 h 236"/>
                  <a:gd name="T16" fmla="*/ 237 w 237"/>
                  <a:gd name="T17" fmla="*/ 105 h 236"/>
                  <a:gd name="T18" fmla="*/ 231 w 237"/>
                  <a:gd name="T19" fmla="*/ 82 h 236"/>
                  <a:gd name="T20" fmla="*/ 222 w 237"/>
                  <a:gd name="T21" fmla="*/ 61 h 236"/>
                  <a:gd name="T22" fmla="*/ 210 w 237"/>
                  <a:gd name="T23" fmla="*/ 42 h 236"/>
                  <a:gd name="T24" fmla="*/ 194 w 237"/>
                  <a:gd name="T25" fmla="*/ 27 h 236"/>
                  <a:gd name="T26" fmla="*/ 175 w 237"/>
                  <a:gd name="T27" fmla="*/ 14 h 236"/>
                  <a:gd name="T28" fmla="*/ 153 w 237"/>
                  <a:gd name="T29" fmla="*/ 5 h 236"/>
                  <a:gd name="T30" fmla="*/ 131 w 237"/>
                  <a:gd name="T31" fmla="*/ 0 h 236"/>
                  <a:gd name="T32" fmla="*/ 107 w 237"/>
                  <a:gd name="T33" fmla="*/ 0 h 236"/>
                  <a:gd name="T34" fmla="*/ 84 w 237"/>
                  <a:gd name="T35" fmla="*/ 5 h 236"/>
                  <a:gd name="T36" fmla="*/ 62 w 237"/>
                  <a:gd name="T37" fmla="*/ 14 h 236"/>
                  <a:gd name="T38" fmla="*/ 44 w 237"/>
                  <a:gd name="T39" fmla="*/ 27 h 236"/>
                  <a:gd name="T40" fmla="*/ 27 w 237"/>
                  <a:gd name="T41" fmla="*/ 42 h 236"/>
                  <a:gd name="T42" fmla="*/ 14 w 237"/>
                  <a:gd name="T43" fmla="*/ 61 h 236"/>
                  <a:gd name="T44" fmla="*/ 5 w 237"/>
                  <a:gd name="T45" fmla="*/ 82 h 236"/>
                  <a:gd name="T46" fmla="*/ 2 w 237"/>
                  <a:gd name="T47" fmla="*/ 105 h 236"/>
                  <a:gd name="T48" fmla="*/ 2 w 237"/>
                  <a:gd name="T49" fmla="*/ 129 h 236"/>
                  <a:gd name="T50" fmla="*/ 5 w 237"/>
                  <a:gd name="T51" fmla="*/ 153 h 236"/>
                  <a:gd name="T52" fmla="*/ 14 w 237"/>
                  <a:gd name="T53" fmla="*/ 173 h 236"/>
                  <a:gd name="T54" fmla="*/ 27 w 237"/>
                  <a:gd name="T55" fmla="*/ 192 h 236"/>
                  <a:gd name="T56" fmla="*/ 44 w 237"/>
                  <a:gd name="T57" fmla="*/ 209 h 236"/>
                  <a:gd name="T58" fmla="*/ 62 w 237"/>
                  <a:gd name="T59" fmla="*/ 221 h 236"/>
                  <a:gd name="T60" fmla="*/ 84 w 237"/>
                  <a:gd name="T61" fmla="*/ 230 h 236"/>
                  <a:gd name="T62" fmla="*/ 107 w 237"/>
                  <a:gd name="T63" fmla="*/ 23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7" h="236">
                    <a:moveTo>
                      <a:pt x="118" y="236"/>
                    </a:moveTo>
                    <a:lnTo>
                      <a:pt x="131" y="235"/>
                    </a:lnTo>
                    <a:lnTo>
                      <a:pt x="143" y="233"/>
                    </a:lnTo>
                    <a:lnTo>
                      <a:pt x="154" y="230"/>
                    </a:lnTo>
                    <a:lnTo>
                      <a:pt x="165" y="226"/>
                    </a:lnTo>
                    <a:lnTo>
                      <a:pt x="175" y="221"/>
                    </a:lnTo>
                    <a:lnTo>
                      <a:pt x="185" y="215"/>
                    </a:lnTo>
                    <a:lnTo>
                      <a:pt x="194" y="209"/>
                    </a:lnTo>
                    <a:lnTo>
                      <a:pt x="202" y="201"/>
                    </a:lnTo>
                    <a:lnTo>
                      <a:pt x="210" y="192"/>
                    </a:lnTo>
                    <a:lnTo>
                      <a:pt x="216" y="183"/>
                    </a:lnTo>
                    <a:lnTo>
                      <a:pt x="222" y="173"/>
                    </a:lnTo>
                    <a:lnTo>
                      <a:pt x="228" y="163"/>
                    </a:lnTo>
                    <a:lnTo>
                      <a:pt x="231" y="153"/>
                    </a:lnTo>
                    <a:lnTo>
                      <a:pt x="234" y="141"/>
                    </a:lnTo>
                    <a:lnTo>
                      <a:pt x="237" y="129"/>
                    </a:lnTo>
                    <a:lnTo>
                      <a:pt x="237" y="118"/>
                    </a:lnTo>
                    <a:lnTo>
                      <a:pt x="237" y="105"/>
                    </a:lnTo>
                    <a:lnTo>
                      <a:pt x="234" y="93"/>
                    </a:lnTo>
                    <a:lnTo>
                      <a:pt x="231" y="82"/>
                    </a:lnTo>
                    <a:lnTo>
                      <a:pt x="228" y="72"/>
                    </a:lnTo>
                    <a:lnTo>
                      <a:pt x="222" y="61"/>
                    </a:lnTo>
                    <a:lnTo>
                      <a:pt x="216" y="51"/>
                    </a:lnTo>
                    <a:lnTo>
                      <a:pt x="210" y="42"/>
                    </a:lnTo>
                    <a:lnTo>
                      <a:pt x="202" y="34"/>
                    </a:lnTo>
                    <a:lnTo>
                      <a:pt x="194" y="27"/>
                    </a:lnTo>
                    <a:lnTo>
                      <a:pt x="185" y="19"/>
                    </a:lnTo>
                    <a:lnTo>
                      <a:pt x="175" y="14"/>
                    </a:lnTo>
                    <a:lnTo>
                      <a:pt x="165" y="9"/>
                    </a:lnTo>
                    <a:lnTo>
                      <a:pt x="153" y="5"/>
                    </a:lnTo>
                    <a:lnTo>
                      <a:pt x="143" y="2"/>
                    </a:lnTo>
                    <a:lnTo>
                      <a:pt x="131" y="0"/>
                    </a:lnTo>
                    <a:lnTo>
                      <a:pt x="118" y="0"/>
                    </a:lnTo>
                    <a:lnTo>
                      <a:pt x="107" y="0"/>
                    </a:lnTo>
                    <a:lnTo>
                      <a:pt x="95" y="2"/>
                    </a:lnTo>
                    <a:lnTo>
                      <a:pt x="84" y="5"/>
                    </a:lnTo>
                    <a:lnTo>
                      <a:pt x="72" y="9"/>
                    </a:lnTo>
                    <a:lnTo>
                      <a:pt x="62" y="14"/>
                    </a:lnTo>
                    <a:lnTo>
                      <a:pt x="53" y="19"/>
                    </a:lnTo>
                    <a:lnTo>
                      <a:pt x="44" y="27"/>
                    </a:lnTo>
                    <a:lnTo>
                      <a:pt x="35" y="34"/>
                    </a:lnTo>
                    <a:lnTo>
                      <a:pt x="27" y="42"/>
                    </a:lnTo>
                    <a:lnTo>
                      <a:pt x="21" y="51"/>
                    </a:lnTo>
                    <a:lnTo>
                      <a:pt x="14" y="61"/>
                    </a:lnTo>
                    <a:lnTo>
                      <a:pt x="9" y="72"/>
                    </a:lnTo>
                    <a:lnTo>
                      <a:pt x="5" y="82"/>
                    </a:lnTo>
                    <a:lnTo>
                      <a:pt x="3" y="93"/>
                    </a:lnTo>
                    <a:lnTo>
                      <a:pt x="2" y="105"/>
                    </a:lnTo>
                    <a:lnTo>
                      <a:pt x="0" y="118"/>
                    </a:lnTo>
                    <a:lnTo>
                      <a:pt x="2" y="129"/>
                    </a:lnTo>
                    <a:lnTo>
                      <a:pt x="3" y="141"/>
                    </a:lnTo>
                    <a:lnTo>
                      <a:pt x="5" y="153"/>
                    </a:lnTo>
                    <a:lnTo>
                      <a:pt x="9" y="163"/>
                    </a:lnTo>
                    <a:lnTo>
                      <a:pt x="14" y="173"/>
                    </a:lnTo>
                    <a:lnTo>
                      <a:pt x="21" y="183"/>
                    </a:lnTo>
                    <a:lnTo>
                      <a:pt x="27" y="192"/>
                    </a:lnTo>
                    <a:lnTo>
                      <a:pt x="35" y="201"/>
                    </a:lnTo>
                    <a:lnTo>
                      <a:pt x="44" y="209"/>
                    </a:lnTo>
                    <a:lnTo>
                      <a:pt x="53" y="215"/>
                    </a:lnTo>
                    <a:lnTo>
                      <a:pt x="62" y="221"/>
                    </a:lnTo>
                    <a:lnTo>
                      <a:pt x="72" y="226"/>
                    </a:lnTo>
                    <a:lnTo>
                      <a:pt x="84" y="230"/>
                    </a:lnTo>
                    <a:lnTo>
                      <a:pt x="95" y="233"/>
                    </a:lnTo>
                    <a:lnTo>
                      <a:pt x="107" y="235"/>
                    </a:lnTo>
                    <a:lnTo>
                      <a:pt x="118" y="236"/>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403">
                <a:extLst>
                  <a:ext uri="{FF2B5EF4-FFF2-40B4-BE49-F238E27FC236}">
                    <a16:creationId xmlns:a16="http://schemas.microsoft.com/office/drawing/2014/main" id="{453A4375-2C13-47F3-A88F-C4B79C240475}"/>
                  </a:ext>
                </a:extLst>
              </p:cNvPr>
              <p:cNvSpPr>
                <a:spLocks/>
              </p:cNvSpPr>
              <p:nvPr/>
            </p:nvSpPr>
            <p:spPr bwMode="auto">
              <a:xfrm>
                <a:off x="8249914" y="4152759"/>
                <a:ext cx="247856" cy="308441"/>
              </a:xfrm>
              <a:custGeom>
                <a:avLst/>
                <a:gdLst>
                  <a:gd name="T0" fmla="*/ 178 w 361"/>
                  <a:gd name="T1" fmla="*/ 0 h 448"/>
                  <a:gd name="T2" fmla="*/ 169 w 361"/>
                  <a:gd name="T3" fmla="*/ 0 h 448"/>
                  <a:gd name="T4" fmla="*/ 160 w 361"/>
                  <a:gd name="T5" fmla="*/ 1 h 448"/>
                  <a:gd name="T6" fmla="*/ 150 w 361"/>
                  <a:gd name="T7" fmla="*/ 4 h 448"/>
                  <a:gd name="T8" fmla="*/ 141 w 361"/>
                  <a:gd name="T9" fmla="*/ 5 h 448"/>
                  <a:gd name="T10" fmla="*/ 133 w 361"/>
                  <a:gd name="T11" fmla="*/ 9 h 448"/>
                  <a:gd name="T12" fmla="*/ 124 w 361"/>
                  <a:gd name="T13" fmla="*/ 13 h 448"/>
                  <a:gd name="T14" fmla="*/ 115 w 361"/>
                  <a:gd name="T15" fmla="*/ 17 h 448"/>
                  <a:gd name="T16" fmla="*/ 108 w 361"/>
                  <a:gd name="T17" fmla="*/ 22 h 448"/>
                  <a:gd name="T18" fmla="*/ 92 w 361"/>
                  <a:gd name="T19" fmla="*/ 35 h 448"/>
                  <a:gd name="T20" fmla="*/ 77 w 361"/>
                  <a:gd name="T21" fmla="*/ 49 h 448"/>
                  <a:gd name="T22" fmla="*/ 64 w 361"/>
                  <a:gd name="T23" fmla="*/ 65 h 448"/>
                  <a:gd name="T24" fmla="*/ 51 w 361"/>
                  <a:gd name="T25" fmla="*/ 83 h 448"/>
                  <a:gd name="T26" fmla="*/ 40 w 361"/>
                  <a:gd name="T27" fmla="*/ 104 h 448"/>
                  <a:gd name="T28" fmla="*/ 29 w 361"/>
                  <a:gd name="T29" fmla="*/ 127 h 448"/>
                  <a:gd name="T30" fmla="*/ 20 w 361"/>
                  <a:gd name="T31" fmla="*/ 150 h 448"/>
                  <a:gd name="T32" fmla="*/ 14 w 361"/>
                  <a:gd name="T33" fmla="*/ 176 h 448"/>
                  <a:gd name="T34" fmla="*/ 8 w 361"/>
                  <a:gd name="T35" fmla="*/ 203 h 448"/>
                  <a:gd name="T36" fmla="*/ 4 w 361"/>
                  <a:gd name="T37" fmla="*/ 231 h 448"/>
                  <a:gd name="T38" fmla="*/ 1 w 361"/>
                  <a:gd name="T39" fmla="*/ 262 h 448"/>
                  <a:gd name="T40" fmla="*/ 0 w 361"/>
                  <a:gd name="T41" fmla="*/ 293 h 448"/>
                  <a:gd name="T42" fmla="*/ 0 w 361"/>
                  <a:gd name="T43" fmla="*/ 304 h 448"/>
                  <a:gd name="T44" fmla="*/ 108 w 361"/>
                  <a:gd name="T45" fmla="*/ 304 h 448"/>
                  <a:gd name="T46" fmla="*/ 108 w 361"/>
                  <a:gd name="T47" fmla="*/ 448 h 448"/>
                  <a:gd name="T48" fmla="*/ 253 w 361"/>
                  <a:gd name="T49" fmla="*/ 448 h 448"/>
                  <a:gd name="T50" fmla="*/ 253 w 361"/>
                  <a:gd name="T51" fmla="*/ 304 h 448"/>
                  <a:gd name="T52" fmla="*/ 361 w 361"/>
                  <a:gd name="T53" fmla="*/ 304 h 448"/>
                  <a:gd name="T54" fmla="*/ 361 w 361"/>
                  <a:gd name="T55" fmla="*/ 291 h 448"/>
                  <a:gd name="T56" fmla="*/ 359 w 361"/>
                  <a:gd name="T57" fmla="*/ 262 h 448"/>
                  <a:gd name="T58" fmla="*/ 357 w 361"/>
                  <a:gd name="T59" fmla="*/ 231 h 448"/>
                  <a:gd name="T60" fmla="*/ 353 w 361"/>
                  <a:gd name="T61" fmla="*/ 203 h 448"/>
                  <a:gd name="T62" fmla="*/ 347 w 361"/>
                  <a:gd name="T63" fmla="*/ 176 h 448"/>
                  <a:gd name="T64" fmla="*/ 339 w 361"/>
                  <a:gd name="T65" fmla="*/ 150 h 448"/>
                  <a:gd name="T66" fmla="*/ 330 w 361"/>
                  <a:gd name="T67" fmla="*/ 127 h 448"/>
                  <a:gd name="T68" fmla="*/ 320 w 361"/>
                  <a:gd name="T69" fmla="*/ 104 h 448"/>
                  <a:gd name="T70" fmla="*/ 308 w 361"/>
                  <a:gd name="T71" fmla="*/ 83 h 448"/>
                  <a:gd name="T72" fmla="*/ 295 w 361"/>
                  <a:gd name="T73" fmla="*/ 65 h 448"/>
                  <a:gd name="T74" fmla="*/ 281 w 361"/>
                  <a:gd name="T75" fmla="*/ 49 h 448"/>
                  <a:gd name="T76" fmla="*/ 267 w 361"/>
                  <a:gd name="T77" fmla="*/ 35 h 448"/>
                  <a:gd name="T78" fmla="*/ 250 w 361"/>
                  <a:gd name="T79" fmla="*/ 22 h 448"/>
                  <a:gd name="T80" fmla="*/ 243 w 361"/>
                  <a:gd name="T81" fmla="*/ 17 h 448"/>
                  <a:gd name="T82" fmla="*/ 234 w 361"/>
                  <a:gd name="T83" fmla="*/ 13 h 448"/>
                  <a:gd name="T84" fmla="*/ 225 w 361"/>
                  <a:gd name="T85" fmla="*/ 9 h 448"/>
                  <a:gd name="T86" fmla="*/ 216 w 361"/>
                  <a:gd name="T87" fmla="*/ 5 h 448"/>
                  <a:gd name="T88" fmla="*/ 207 w 361"/>
                  <a:gd name="T89" fmla="*/ 4 h 448"/>
                  <a:gd name="T90" fmla="*/ 198 w 361"/>
                  <a:gd name="T91" fmla="*/ 1 h 448"/>
                  <a:gd name="T92" fmla="*/ 189 w 361"/>
                  <a:gd name="T93" fmla="*/ 0 h 448"/>
                  <a:gd name="T94" fmla="*/ 178 w 361"/>
                  <a:gd name="T95" fmla="*/ 0 h 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61" h="448">
                    <a:moveTo>
                      <a:pt x="178" y="0"/>
                    </a:moveTo>
                    <a:lnTo>
                      <a:pt x="169" y="0"/>
                    </a:lnTo>
                    <a:lnTo>
                      <a:pt x="160" y="1"/>
                    </a:lnTo>
                    <a:lnTo>
                      <a:pt x="150" y="4"/>
                    </a:lnTo>
                    <a:lnTo>
                      <a:pt x="141" y="5"/>
                    </a:lnTo>
                    <a:lnTo>
                      <a:pt x="133" y="9"/>
                    </a:lnTo>
                    <a:lnTo>
                      <a:pt x="124" y="13"/>
                    </a:lnTo>
                    <a:lnTo>
                      <a:pt x="115" y="17"/>
                    </a:lnTo>
                    <a:lnTo>
                      <a:pt x="108" y="22"/>
                    </a:lnTo>
                    <a:lnTo>
                      <a:pt x="92" y="35"/>
                    </a:lnTo>
                    <a:lnTo>
                      <a:pt x="77" y="49"/>
                    </a:lnTo>
                    <a:lnTo>
                      <a:pt x="64" y="65"/>
                    </a:lnTo>
                    <a:lnTo>
                      <a:pt x="51" y="83"/>
                    </a:lnTo>
                    <a:lnTo>
                      <a:pt x="40" y="104"/>
                    </a:lnTo>
                    <a:lnTo>
                      <a:pt x="29" y="127"/>
                    </a:lnTo>
                    <a:lnTo>
                      <a:pt x="20" y="150"/>
                    </a:lnTo>
                    <a:lnTo>
                      <a:pt x="14" y="176"/>
                    </a:lnTo>
                    <a:lnTo>
                      <a:pt x="8" y="203"/>
                    </a:lnTo>
                    <a:lnTo>
                      <a:pt x="4" y="231"/>
                    </a:lnTo>
                    <a:lnTo>
                      <a:pt x="1" y="262"/>
                    </a:lnTo>
                    <a:lnTo>
                      <a:pt x="0" y="293"/>
                    </a:lnTo>
                    <a:lnTo>
                      <a:pt x="0" y="304"/>
                    </a:lnTo>
                    <a:lnTo>
                      <a:pt x="108" y="304"/>
                    </a:lnTo>
                    <a:lnTo>
                      <a:pt x="108" y="448"/>
                    </a:lnTo>
                    <a:lnTo>
                      <a:pt x="253" y="448"/>
                    </a:lnTo>
                    <a:lnTo>
                      <a:pt x="253" y="304"/>
                    </a:lnTo>
                    <a:lnTo>
                      <a:pt x="361" y="304"/>
                    </a:lnTo>
                    <a:lnTo>
                      <a:pt x="361" y="291"/>
                    </a:lnTo>
                    <a:lnTo>
                      <a:pt x="359" y="262"/>
                    </a:lnTo>
                    <a:lnTo>
                      <a:pt x="357" y="231"/>
                    </a:lnTo>
                    <a:lnTo>
                      <a:pt x="353" y="203"/>
                    </a:lnTo>
                    <a:lnTo>
                      <a:pt x="347" y="176"/>
                    </a:lnTo>
                    <a:lnTo>
                      <a:pt x="339" y="150"/>
                    </a:lnTo>
                    <a:lnTo>
                      <a:pt x="330" y="127"/>
                    </a:lnTo>
                    <a:lnTo>
                      <a:pt x="320" y="104"/>
                    </a:lnTo>
                    <a:lnTo>
                      <a:pt x="308" y="83"/>
                    </a:lnTo>
                    <a:lnTo>
                      <a:pt x="295" y="65"/>
                    </a:lnTo>
                    <a:lnTo>
                      <a:pt x="281" y="49"/>
                    </a:lnTo>
                    <a:lnTo>
                      <a:pt x="267" y="35"/>
                    </a:lnTo>
                    <a:lnTo>
                      <a:pt x="250" y="22"/>
                    </a:lnTo>
                    <a:lnTo>
                      <a:pt x="243" y="17"/>
                    </a:lnTo>
                    <a:lnTo>
                      <a:pt x="234" y="13"/>
                    </a:lnTo>
                    <a:lnTo>
                      <a:pt x="225" y="9"/>
                    </a:lnTo>
                    <a:lnTo>
                      <a:pt x="216" y="5"/>
                    </a:lnTo>
                    <a:lnTo>
                      <a:pt x="207" y="4"/>
                    </a:lnTo>
                    <a:lnTo>
                      <a:pt x="198" y="1"/>
                    </a:lnTo>
                    <a:lnTo>
                      <a:pt x="189" y="0"/>
                    </a:lnTo>
                    <a:lnTo>
                      <a:pt x="178"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61" name="Group 60">
              <a:extLst>
                <a:ext uri="{FF2B5EF4-FFF2-40B4-BE49-F238E27FC236}">
                  <a16:creationId xmlns:a16="http://schemas.microsoft.com/office/drawing/2014/main" id="{8A0068A0-9B60-487D-B0C6-800EAB0B9CA5}"/>
                </a:ext>
              </a:extLst>
            </p:cNvPr>
            <p:cNvGrpSpPr/>
            <p:nvPr/>
          </p:nvGrpSpPr>
          <p:grpSpPr>
            <a:xfrm>
              <a:off x="9641712" y="4000643"/>
              <a:ext cx="330423" cy="456504"/>
              <a:chOff x="9641713" y="3961435"/>
              <a:chExt cx="247856" cy="495712"/>
            </a:xfrm>
          </p:grpSpPr>
          <p:sp>
            <p:nvSpPr>
              <p:cNvPr id="58" name="Freeform 3394">
                <a:extLst>
                  <a:ext uri="{FF2B5EF4-FFF2-40B4-BE49-F238E27FC236}">
                    <a16:creationId xmlns:a16="http://schemas.microsoft.com/office/drawing/2014/main" id="{2792D812-4F22-91D7-F65E-07EB290C5B64}"/>
                  </a:ext>
                </a:extLst>
              </p:cNvPr>
              <p:cNvSpPr>
                <a:spLocks/>
              </p:cNvSpPr>
              <p:nvPr/>
            </p:nvSpPr>
            <p:spPr bwMode="auto">
              <a:xfrm>
                <a:off x="9680268" y="3961435"/>
                <a:ext cx="167990" cy="165237"/>
              </a:xfrm>
              <a:custGeom>
                <a:avLst/>
                <a:gdLst>
                  <a:gd name="T0" fmla="*/ 132 w 241"/>
                  <a:gd name="T1" fmla="*/ 239 h 240"/>
                  <a:gd name="T2" fmla="*/ 156 w 241"/>
                  <a:gd name="T3" fmla="*/ 235 h 240"/>
                  <a:gd name="T4" fmla="*/ 177 w 241"/>
                  <a:gd name="T5" fmla="*/ 226 h 240"/>
                  <a:gd name="T6" fmla="*/ 196 w 241"/>
                  <a:gd name="T7" fmla="*/ 212 h 240"/>
                  <a:gd name="T8" fmla="*/ 213 w 241"/>
                  <a:gd name="T9" fmla="*/ 196 h 240"/>
                  <a:gd name="T10" fmla="*/ 226 w 241"/>
                  <a:gd name="T11" fmla="*/ 177 h 240"/>
                  <a:gd name="T12" fmla="*/ 235 w 241"/>
                  <a:gd name="T13" fmla="*/ 155 h 240"/>
                  <a:gd name="T14" fmla="*/ 240 w 241"/>
                  <a:gd name="T15" fmla="*/ 132 h 240"/>
                  <a:gd name="T16" fmla="*/ 240 w 241"/>
                  <a:gd name="T17" fmla="*/ 108 h 240"/>
                  <a:gd name="T18" fmla="*/ 235 w 241"/>
                  <a:gd name="T19" fmla="*/ 83 h 240"/>
                  <a:gd name="T20" fmla="*/ 226 w 241"/>
                  <a:gd name="T21" fmla="*/ 63 h 240"/>
                  <a:gd name="T22" fmla="*/ 213 w 241"/>
                  <a:gd name="T23" fmla="*/ 43 h 240"/>
                  <a:gd name="T24" fmla="*/ 196 w 241"/>
                  <a:gd name="T25" fmla="*/ 27 h 240"/>
                  <a:gd name="T26" fmla="*/ 177 w 241"/>
                  <a:gd name="T27" fmla="*/ 14 h 240"/>
                  <a:gd name="T28" fmla="*/ 156 w 241"/>
                  <a:gd name="T29" fmla="*/ 5 h 240"/>
                  <a:gd name="T30" fmla="*/ 132 w 241"/>
                  <a:gd name="T31" fmla="*/ 0 h 240"/>
                  <a:gd name="T32" fmla="*/ 108 w 241"/>
                  <a:gd name="T33" fmla="*/ 0 h 240"/>
                  <a:gd name="T34" fmla="*/ 84 w 241"/>
                  <a:gd name="T35" fmla="*/ 5 h 240"/>
                  <a:gd name="T36" fmla="*/ 63 w 241"/>
                  <a:gd name="T37" fmla="*/ 14 h 240"/>
                  <a:gd name="T38" fmla="*/ 43 w 241"/>
                  <a:gd name="T39" fmla="*/ 27 h 240"/>
                  <a:gd name="T40" fmla="*/ 28 w 241"/>
                  <a:gd name="T41" fmla="*/ 43 h 240"/>
                  <a:gd name="T42" fmla="*/ 15 w 241"/>
                  <a:gd name="T43" fmla="*/ 63 h 240"/>
                  <a:gd name="T44" fmla="*/ 6 w 241"/>
                  <a:gd name="T45" fmla="*/ 83 h 240"/>
                  <a:gd name="T46" fmla="*/ 1 w 241"/>
                  <a:gd name="T47" fmla="*/ 108 h 240"/>
                  <a:gd name="T48" fmla="*/ 1 w 241"/>
                  <a:gd name="T49" fmla="*/ 132 h 240"/>
                  <a:gd name="T50" fmla="*/ 6 w 241"/>
                  <a:gd name="T51" fmla="*/ 155 h 240"/>
                  <a:gd name="T52" fmla="*/ 15 w 241"/>
                  <a:gd name="T53" fmla="*/ 177 h 240"/>
                  <a:gd name="T54" fmla="*/ 28 w 241"/>
                  <a:gd name="T55" fmla="*/ 196 h 240"/>
                  <a:gd name="T56" fmla="*/ 43 w 241"/>
                  <a:gd name="T57" fmla="*/ 212 h 240"/>
                  <a:gd name="T58" fmla="*/ 63 w 241"/>
                  <a:gd name="T59" fmla="*/ 226 h 240"/>
                  <a:gd name="T60" fmla="*/ 84 w 241"/>
                  <a:gd name="T61" fmla="*/ 235 h 240"/>
                  <a:gd name="T62" fmla="*/ 108 w 241"/>
                  <a:gd name="T63" fmla="*/ 239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41" h="240">
                    <a:moveTo>
                      <a:pt x="120" y="240"/>
                    </a:moveTo>
                    <a:lnTo>
                      <a:pt x="132" y="239"/>
                    </a:lnTo>
                    <a:lnTo>
                      <a:pt x="145" y="237"/>
                    </a:lnTo>
                    <a:lnTo>
                      <a:pt x="156" y="235"/>
                    </a:lnTo>
                    <a:lnTo>
                      <a:pt x="167" y="230"/>
                    </a:lnTo>
                    <a:lnTo>
                      <a:pt x="177" y="226"/>
                    </a:lnTo>
                    <a:lnTo>
                      <a:pt x="187" y="219"/>
                    </a:lnTo>
                    <a:lnTo>
                      <a:pt x="196" y="212"/>
                    </a:lnTo>
                    <a:lnTo>
                      <a:pt x="205" y="204"/>
                    </a:lnTo>
                    <a:lnTo>
                      <a:pt x="213" y="196"/>
                    </a:lnTo>
                    <a:lnTo>
                      <a:pt x="221" y="187"/>
                    </a:lnTo>
                    <a:lnTo>
                      <a:pt x="226" y="177"/>
                    </a:lnTo>
                    <a:lnTo>
                      <a:pt x="231" y="167"/>
                    </a:lnTo>
                    <a:lnTo>
                      <a:pt x="235" y="155"/>
                    </a:lnTo>
                    <a:lnTo>
                      <a:pt x="239" y="144"/>
                    </a:lnTo>
                    <a:lnTo>
                      <a:pt x="240" y="132"/>
                    </a:lnTo>
                    <a:lnTo>
                      <a:pt x="241" y="119"/>
                    </a:lnTo>
                    <a:lnTo>
                      <a:pt x="240" y="108"/>
                    </a:lnTo>
                    <a:lnTo>
                      <a:pt x="239" y="95"/>
                    </a:lnTo>
                    <a:lnTo>
                      <a:pt x="235" y="83"/>
                    </a:lnTo>
                    <a:lnTo>
                      <a:pt x="231" y="73"/>
                    </a:lnTo>
                    <a:lnTo>
                      <a:pt x="226" y="63"/>
                    </a:lnTo>
                    <a:lnTo>
                      <a:pt x="221" y="52"/>
                    </a:lnTo>
                    <a:lnTo>
                      <a:pt x="213" y="43"/>
                    </a:lnTo>
                    <a:lnTo>
                      <a:pt x="205" y="34"/>
                    </a:lnTo>
                    <a:lnTo>
                      <a:pt x="196" y="27"/>
                    </a:lnTo>
                    <a:lnTo>
                      <a:pt x="187" y="20"/>
                    </a:lnTo>
                    <a:lnTo>
                      <a:pt x="177" y="14"/>
                    </a:lnTo>
                    <a:lnTo>
                      <a:pt x="167" y="9"/>
                    </a:lnTo>
                    <a:lnTo>
                      <a:pt x="156" y="5"/>
                    </a:lnTo>
                    <a:lnTo>
                      <a:pt x="145" y="2"/>
                    </a:lnTo>
                    <a:lnTo>
                      <a:pt x="132" y="0"/>
                    </a:lnTo>
                    <a:lnTo>
                      <a:pt x="120" y="0"/>
                    </a:lnTo>
                    <a:lnTo>
                      <a:pt x="108" y="0"/>
                    </a:lnTo>
                    <a:lnTo>
                      <a:pt x="96" y="2"/>
                    </a:lnTo>
                    <a:lnTo>
                      <a:pt x="84" y="5"/>
                    </a:lnTo>
                    <a:lnTo>
                      <a:pt x="74" y="9"/>
                    </a:lnTo>
                    <a:lnTo>
                      <a:pt x="63" y="14"/>
                    </a:lnTo>
                    <a:lnTo>
                      <a:pt x="54" y="20"/>
                    </a:lnTo>
                    <a:lnTo>
                      <a:pt x="43" y="27"/>
                    </a:lnTo>
                    <a:lnTo>
                      <a:pt x="36" y="34"/>
                    </a:lnTo>
                    <a:lnTo>
                      <a:pt x="28" y="43"/>
                    </a:lnTo>
                    <a:lnTo>
                      <a:pt x="20" y="52"/>
                    </a:lnTo>
                    <a:lnTo>
                      <a:pt x="15" y="63"/>
                    </a:lnTo>
                    <a:lnTo>
                      <a:pt x="10" y="73"/>
                    </a:lnTo>
                    <a:lnTo>
                      <a:pt x="6" y="83"/>
                    </a:lnTo>
                    <a:lnTo>
                      <a:pt x="2" y="95"/>
                    </a:lnTo>
                    <a:lnTo>
                      <a:pt x="1" y="108"/>
                    </a:lnTo>
                    <a:lnTo>
                      <a:pt x="0" y="119"/>
                    </a:lnTo>
                    <a:lnTo>
                      <a:pt x="1" y="132"/>
                    </a:lnTo>
                    <a:lnTo>
                      <a:pt x="2" y="144"/>
                    </a:lnTo>
                    <a:lnTo>
                      <a:pt x="6" y="155"/>
                    </a:lnTo>
                    <a:lnTo>
                      <a:pt x="10" y="167"/>
                    </a:lnTo>
                    <a:lnTo>
                      <a:pt x="15" y="177"/>
                    </a:lnTo>
                    <a:lnTo>
                      <a:pt x="20" y="187"/>
                    </a:lnTo>
                    <a:lnTo>
                      <a:pt x="28" y="196"/>
                    </a:lnTo>
                    <a:lnTo>
                      <a:pt x="36" y="204"/>
                    </a:lnTo>
                    <a:lnTo>
                      <a:pt x="43" y="212"/>
                    </a:lnTo>
                    <a:lnTo>
                      <a:pt x="54" y="219"/>
                    </a:lnTo>
                    <a:lnTo>
                      <a:pt x="63" y="226"/>
                    </a:lnTo>
                    <a:lnTo>
                      <a:pt x="74" y="230"/>
                    </a:lnTo>
                    <a:lnTo>
                      <a:pt x="84" y="235"/>
                    </a:lnTo>
                    <a:lnTo>
                      <a:pt x="96" y="237"/>
                    </a:lnTo>
                    <a:lnTo>
                      <a:pt x="108" y="239"/>
                    </a:lnTo>
                    <a:lnTo>
                      <a:pt x="120" y="24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3395">
                <a:extLst>
                  <a:ext uri="{FF2B5EF4-FFF2-40B4-BE49-F238E27FC236}">
                    <a16:creationId xmlns:a16="http://schemas.microsoft.com/office/drawing/2014/main" id="{9989B169-759F-9D1E-C686-6CE1104BCCBE}"/>
                  </a:ext>
                </a:extLst>
              </p:cNvPr>
              <p:cNvSpPr>
                <a:spLocks/>
              </p:cNvSpPr>
              <p:nvPr/>
            </p:nvSpPr>
            <p:spPr bwMode="auto">
              <a:xfrm>
                <a:off x="9641713" y="4143196"/>
                <a:ext cx="247856" cy="313951"/>
              </a:xfrm>
              <a:custGeom>
                <a:avLst/>
                <a:gdLst>
                  <a:gd name="T0" fmla="*/ 0 w 359"/>
                  <a:gd name="T1" fmla="*/ 0 h 456"/>
                  <a:gd name="T2" fmla="*/ 0 w 359"/>
                  <a:gd name="T3" fmla="*/ 12 h 456"/>
                  <a:gd name="T4" fmla="*/ 0 w 359"/>
                  <a:gd name="T5" fmla="*/ 39 h 456"/>
                  <a:gd name="T6" fmla="*/ 2 w 359"/>
                  <a:gd name="T7" fmla="*/ 64 h 456"/>
                  <a:gd name="T8" fmla="*/ 5 w 359"/>
                  <a:gd name="T9" fmla="*/ 88 h 456"/>
                  <a:gd name="T10" fmla="*/ 10 w 359"/>
                  <a:gd name="T11" fmla="*/ 109 h 456"/>
                  <a:gd name="T12" fmla="*/ 15 w 359"/>
                  <a:gd name="T13" fmla="*/ 130 h 456"/>
                  <a:gd name="T14" fmla="*/ 21 w 359"/>
                  <a:gd name="T15" fmla="*/ 148 h 456"/>
                  <a:gd name="T16" fmla="*/ 29 w 359"/>
                  <a:gd name="T17" fmla="*/ 165 h 456"/>
                  <a:gd name="T18" fmla="*/ 37 w 359"/>
                  <a:gd name="T19" fmla="*/ 180 h 456"/>
                  <a:gd name="T20" fmla="*/ 46 w 359"/>
                  <a:gd name="T21" fmla="*/ 194 h 456"/>
                  <a:gd name="T22" fmla="*/ 54 w 359"/>
                  <a:gd name="T23" fmla="*/ 206 h 456"/>
                  <a:gd name="T24" fmla="*/ 63 w 359"/>
                  <a:gd name="T25" fmla="*/ 217 h 456"/>
                  <a:gd name="T26" fmla="*/ 72 w 359"/>
                  <a:gd name="T27" fmla="*/ 226 h 456"/>
                  <a:gd name="T28" fmla="*/ 82 w 359"/>
                  <a:gd name="T29" fmla="*/ 235 h 456"/>
                  <a:gd name="T30" fmla="*/ 91 w 359"/>
                  <a:gd name="T31" fmla="*/ 243 h 456"/>
                  <a:gd name="T32" fmla="*/ 98 w 359"/>
                  <a:gd name="T33" fmla="*/ 249 h 456"/>
                  <a:gd name="T34" fmla="*/ 107 w 359"/>
                  <a:gd name="T35" fmla="*/ 255 h 456"/>
                  <a:gd name="T36" fmla="*/ 107 w 359"/>
                  <a:gd name="T37" fmla="*/ 456 h 456"/>
                  <a:gd name="T38" fmla="*/ 251 w 359"/>
                  <a:gd name="T39" fmla="*/ 456 h 456"/>
                  <a:gd name="T40" fmla="*/ 251 w 359"/>
                  <a:gd name="T41" fmla="*/ 255 h 456"/>
                  <a:gd name="T42" fmla="*/ 262 w 359"/>
                  <a:gd name="T43" fmla="*/ 248 h 456"/>
                  <a:gd name="T44" fmla="*/ 271 w 359"/>
                  <a:gd name="T45" fmla="*/ 242 h 456"/>
                  <a:gd name="T46" fmla="*/ 281 w 359"/>
                  <a:gd name="T47" fmla="*/ 234 h 456"/>
                  <a:gd name="T48" fmla="*/ 290 w 359"/>
                  <a:gd name="T49" fmla="*/ 225 h 456"/>
                  <a:gd name="T50" fmla="*/ 299 w 359"/>
                  <a:gd name="T51" fmla="*/ 215 h 456"/>
                  <a:gd name="T52" fmla="*/ 308 w 359"/>
                  <a:gd name="T53" fmla="*/ 203 h 456"/>
                  <a:gd name="T54" fmla="*/ 317 w 359"/>
                  <a:gd name="T55" fmla="*/ 192 h 456"/>
                  <a:gd name="T56" fmla="*/ 325 w 359"/>
                  <a:gd name="T57" fmla="*/ 177 h 456"/>
                  <a:gd name="T58" fmla="*/ 332 w 359"/>
                  <a:gd name="T59" fmla="*/ 162 h 456"/>
                  <a:gd name="T60" fmla="*/ 339 w 359"/>
                  <a:gd name="T61" fmla="*/ 145 h 456"/>
                  <a:gd name="T62" fmla="*/ 345 w 359"/>
                  <a:gd name="T63" fmla="*/ 127 h 456"/>
                  <a:gd name="T64" fmla="*/ 350 w 359"/>
                  <a:gd name="T65" fmla="*/ 108 h 456"/>
                  <a:gd name="T66" fmla="*/ 354 w 359"/>
                  <a:gd name="T67" fmla="*/ 86 h 456"/>
                  <a:gd name="T68" fmla="*/ 357 w 359"/>
                  <a:gd name="T69" fmla="*/ 63 h 456"/>
                  <a:gd name="T70" fmla="*/ 359 w 359"/>
                  <a:gd name="T71" fmla="*/ 39 h 456"/>
                  <a:gd name="T72" fmla="*/ 359 w 359"/>
                  <a:gd name="T73" fmla="*/ 12 h 456"/>
                  <a:gd name="T74" fmla="*/ 359 w 359"/>
                  <a:gd name="T75" fmla="*/ 0 h 456"/>
                  <a:gd name="T76" fmla="*/ 0 w 359"/>
                  <a:gd name="T77" fmla="*/ 0 h 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359" h="456">
                    <a:moveTo>
                      <a:pt x="0" y="0"/>
                    </a:moveTo>
                    <a:lnTo>
                      <a:pt x="0" y="12"/>
                    </a:lnTo>
                    <a:lnTo>
                      <a:pt x="0" y="39"/>
                    </a:lnTo>
                    <a:lnTo>
                      <a:pt x="2" y="64"/>
                    </a:lnTo>
                    <a:lnTo>
                      <a:pt x="5" y="88"/>
                    </a:lnTo>
                    <a:lnTo>
                      <a:pt x="10" y="109"/>
                    </a:lnTo>
                    <a:lnTo>
                      <a:pt x="15" y="130"/>
                    </a:lnTo>
                    <a:lnTo>
                      <a:pt x="21" y="148"/>
                    </a:lnTo>
                    <a:lnTo>
                      <a:pt x="29" y="165"/>
                    </a:lnTo>
                    <a:lnTo>
                      <a:pt x="37" y="180"/>
                    </a:lnTo>
                    <a:lnTo>
                      <a:pt x="46" y="194"/>
                    </a:lnTo>
                    <a:lnTo>
                      <a:pt x="54" y="206"/>
                    </a:lnTo>
                    <a:lnTo>
                      <a:pt x="63" y="217"/>
                    </a:lnTo>
                    <a:lnTo>
                      <a:pt x="72" y="226"/>
                    </a:lnTo>
                    <a:lnTo>
                      <a:pt x="82" y="235"/>
                    </a:lnTo>
                    <a:lnTo>
                      <a:pt x="91" y="243"/>
                    </a:lnTo>
                    <a:lnTo>
                      <a:pt x="98" y="249"/>
                    </a:lnTo>
                    <a:lnTo>
                      <a:pt x="107" y="255"/>
                    </a:lnTo>
                    <a:lnTo>
                      <a:pt x="107" y="456"/>
                    </a:lnTo>
                    <a:lnTo>
                      <a:pt x="251" y="456"/>
                    </a:lnTo>
                    <a:lnTo>
                      <a:pt x="251" y="255"/>
                    </a:lnTo>
                    <a:lnTo>
                      <a:pt x="262" y="248"/>
                    </a:lnTo>
                    <a:lnTo>
                      <a:pt x="271" y="242"/>
                    </a:lnTo>
                    <a:lnTo>
                      <a:pt x="281" y="234"/>
                    </a:lnTo>
                    <a:lnTo>
                      <a:pt x="290" y="225"/>
                    </a:lnTo>
                    <a:lnTo>
                      <a:pt x="299" y="215"/>
                    </a:lnTo>
                    <a:lnTo>
                      <a:pt x="308" y="203"/>
                    </a:lnTo>
                    <a:lnTo>
                      <a:pt x="317" y="192"/>
                    </a:lnTo>
                    <a:lnTo>
                      <a:pt x="325" y="177"/>
                    </a:lnTo>
                    <a:lnTo>
                      <a:pt x="332" y="162"/>
                    </a:lnTo>
                    <a:lnTo>
                      <a:pt x="339" y="145"/>
                    </a:lnTo>
                    <a:lnTo>
                      <a:pt x="345" y="127"/>
                    </a:lnTo>
                    <a:lnTo>
                      <a:pt x="350" y="108"/>
                    </a:lnTo>
                    <a:lnTo>
                      <a:pt x="354" y="86"/>
                    </a:lnTo>
                    <a:lnTo>
                      <a:pt x="357" y="63"/>
                    </a:lnTo>
                    <a:lnTo>
                      <a:pt x="359" y="39"/>
                    </a:lnTo>
                    <a:lnTo>
                      <a:pt x="359" y="12"/>
                    </a:lnTo>
                    <a:lnTo>
                      <a:pt x="359" y="0"/>
                    </a:lnTo>
                    <a:lnTo>
                      <a:pt x="0" y="0"/>
                    </a:lnTo>
                    <a:close/>
                  </a:path>
                </a:pathLst>
              </a:custGeom>
              <a:solidFill>
                <a:schemeClr val="accent2">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sp>
        <p:nvSpPr>
          <p:cNvPr id="7" name="Title 139">
            <a:extLst>
              <a:ext uri="{FF2B5EF4-FFF2-40B4-BE49-F238E27FC236}">
                <a16:creationId xmlns:a16="http://schemas.microsoft.com/office/drawing/2014/main" id="{714B30F8-F1B7-8873-DFA2-24B4EA1F1BDD}"/>
              </a:ext>
            </a:extLst>
          </p:cNvPr>
          <p:cNvSpPr txBox="1">
            <a:spLocks/>
          </p:cNvSpPr>
          <p:nvPr/>
        </p:nvSpPr>
        <p:spPr>
          <a:xfrm>
            <a:off x="-1" y="365125"/>
            <a:ext cx="12191999" cy="443198"/>
          </a:xfrm>
          <a:prstGeom prst="rect">
            <a:avLst/>
          </a:prstGeom>
        </p:spPr>
        <p:txBody>
          <a:bodyPr vert="horz" wrap="square" lIns="0" tIns="0" rIns="0" bIns="0" rtlCol="0" anchor="t">
            <a:spAutoFit/>
          </a:bodyPr>
          <a:lstStyle>
            <a:lvl1pPr algn="ctr" defTabSz="914400" rtl="0" eaLnBrk="1" latinLnBrk="0" hangingPunct="1">
              <a:lnSpc>
                <a:spcPct val="90000"/>
              </a:lnSpc>
              <a:spcBef>
                <a:spcPct val="0"/>
              </a:spcBef>
              <a:buNone/>
              <a:defRPr sz="3200" kern="1200" cap="all" baseline="0">
                <a:solidFill>
                  <a:schemeClr val="tx1"/>
                </a:solidFill>
                <a:latin typeface="+mj-lt"/>
                <a:ea typeface="+mj-ea"/>
                <a:cs typeface="+mj-cs"/>
              </a:defRPr>
            </a:lvl1pPr>
          </a:lstStyle>
          <a:p>
            <a:r>
              <a:rPr lang="en-US" b="1" dirty="0">
                <a:solidFill>
                  <a:schemeClr val="tx1">
                    <a:lumMod val="75000"/>
                    <a:lumOff val="25000"/>
                  </a:schemeClr>
                </a:solidFill>
              </a:rPr>
              <a:t>Bright tv subscribers</a:t>
            </a:r>
            <a:r>
              <a:rPr lang="en-US" dirty="0">
                <a:solidFill>
                  <a:schemeClr val="tx1">
                    <a:lumMod val="75000"/>
                    <a:lumOff val="25000"/>
                  </a:schemeClr>
                </a:solidFill>
              </a:rPr>
              <a:t> Per Gender</a:t>
            </a:r>
          </a:p>
        </p:txBody>
      </p:sp>
      <p:graphicFrame>
        <p:nvGraphicFramePr>
          <p:cNvPr id="6" name="Chart 5">
            <a:extLst>
              <a:ext uri="{FF2B5EF4-FFF2-40B4-BE49-F238E27FC236}">
                <a16:creationId xmlns:a16="http://schemas.microsoft.com/office/drawing/2014/main" id="{2073A4F3-687D-4F2D-A49F-D244F483079C}"/>
              </a:ext>
            </a:extLst>
          </p:cNvPr>
          <p:cNvGraphicFramePr>
            <a:graphicFrameLocks/>
          </p:cNvGraphicFramePr>
          <p:nvPr>
            <p:extLst>
              <p:ext uri="{D42A27DB-BD31-4B8C-83A1-F6EECF244321}">
                <p14:modId xmlns:p14="http://schemas.microsoft.com/office/powerpoint/2010/main" val="1765842511"/>
              </p:ext>
            </p:extLst>
          </p:nvPr>
        </p:nvGraphicFramePr>
        <p:xfrm>
          <a:off x="776377" y="1302588"/>
          <a:ext cx="5864606" cy="500346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22427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4091ABB0-27B2-FE55-B6DB-67DE9F3DF6B5}"/>
              </a:ext>
            </a:extLst>
          </p:cNvPr>
          <p:cNvSpPr/>
          <p:nvPr/>
        </p:nvSpPr>
        <p:spPr>
          <a:xfrm>
            <a:off x="626626" y="783741"/>
            <a:ext cx="10867797" cy="562291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12" name="Straight Connector 11">
            <a:extLst>
              <a:ext uri="{FF2B5EF4-FFF2-40B4-BE49-F238E27FC236}">
                <a16:creationId xmlns:a16="http://schemas.microsoft.com/office/drawing/2014/main" id="{C6A05D8D-A956-F237-1035-908CFD8627EF}"/>
              </a:ext>
            </a:extLst>
          </p:cNvPr>
          <p:cNvCxnSpPr>
            <a:cxnSpLocks/>
          </p:cNvCxnSpPr>
          <p:nvPr/>
        </p:nvCxnSpPr>
        <p:spPr>
          <a:xfrm>
            <a:off x="759125" y="6069298"/>
            <a:ext cx="10735298" cy="13374"/>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F86F324C-F069-E272-5DDD-A0B8C49EA5AB}"/>
              </a:ext>
            </a:extLst>
          </p:cNvPr>
          <p:cNvCxnSpPr>
            <a:cxnSpLocks/>
          </p:cNvCxnSpPr>
          <p:nvPr/>
        </p:nvCxnSpPr>
        <p:spPr>
          <a:xfrm flipV="1">
            <a:off x="626626" y="4154795"/>
            <a:ext cx="10867797" cy="5489"/>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DEA0557C-90E0-E143-0484-6B38BA86124C}"/>
              </a:ext>
            </a:extLst>
          </p:cNvPr>
          <p:cNvCxnSpPr>
            <a:cxnSpLocks/>
          </p:cNvCxnSpPr>
          <p:nvPr/>
        </p:nvCxnSpPr>
        <p:spPr>
          <a:xfrm flipV="1">
            <a:off x="655608" y="2374852"/>
            <a:ext cx="10838815" cy="496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41" name="Date Placeholder 140">
            <a:extLst>
              <a:ext uri="{FF2B5EF4-FFF2-40B4-BE49-F238E27FC236}">
                <a16:creationId xmlns:a16="http://schemas.microsoft.com/office/drawing/2014/main" id="{5F80FDB6-F97C-4D0F-9303-25473A0C539D}"/>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3" name="Slide Number Placeholder 142">
            <a:extLst>
              <a:ext uri="{FF2B5EF4-FFF2-40B4-BE49-F238E27FC236}">
                <a16:creationId xmlns:a16="http://schemas.microsoft.com/office/drawing/2014/main" id="{F0C912A4-DC8D-4B44-AACF-327C575270BF}"/>
              </a:ext>
            </a:extLst>
          </p:cNvPr>
          <p:cNvSpPr>
            <a:spLocks noGrp="1"/>
          </p:cNvSpPr>
          <p:nvPr>
            <p:ph type="sldNum" sz="quarter" idx="12"/>
          </p:nvPr>
        </p:nvSpPr>
        <p:spPr/>
        <p:txBody>
          <a:bodyPr/>
          <a:lstStyle/>
          <a:p>
            <a:fld id="{9598DBAD-472B-4D31-8670-5164AECB0621}" type="slidenum">
              <a:rPr lang="en-US" smtClean="0"/>
              <a:pPr/>
              <a:t>4</a:t>
            </a:fld>
            <a:endParaRPr lang="en-US"/>
          </a:p>
        </p:txBody>
      </p:sp>
      <p:grpSp>
        <p:nvGrpSpPr>
          <p:cNvPr id="6" name="Group 5">
            <a:extLst>
              <a:ext uri="{FF2B5EF4-FFF2-40B4-BE49-F238E27FC236}">
                <a16:creationId xmlns:a16="http://schemas.microsoft.com/office/drawing/2014/main" id="{F7633524-20E5-BA5D-9767-366D4DD2FE65}"/>
              </a:ext>
            </a:extLst>
          </p:cNvPr>
          <p:cNvGrpSpPr/>
          <p:nvPr/>
        </p:nvGrpSpPr>
        <p:grpSpPr>
          <a:xfrm>
            <a:off x="5900468" y="796559"/>
            <a:ext cx="5426528" cy="1085850"/>
            <a:chOff x="5900468" y="1582086"/>
            <a:chExt cx="5426528" cy="1085850"/>
          </a:xfrm>
        </p:grpSpPr>
        <p:grpSp>
          <p:nvGrpSpPr>
            <p:cNvPr id="3" name="Group 2">
              <a:extLst>
                <a:ext uri="{FF2B5EF4-FFF2-40B4-BE49-F238E27FC236}">
                  <a16:creationId xmlns:a16="http://schemas.microsoft.com/office/drawing/2014/main" id="{CD97B556-BD38-473A-21D3-A9A4FE8C0A01}"/>
                </a:ext>
              </a:extLst>
            </p:cNvPr>
            <p:cNvGrpSpPr/>
            <p:nvPr/>
          </p:nvGrpSpPr>
          <p:grpSpPr>
            <a:xfrm>
              <a:off x="5900468" y="1582086"/>
              <a:ext cx="5426528" cy="1085850"/>
              <a:chOff x="5900468" y="1582086"/>
              <a:chExt cx="5426528" cy="1085850"/>
            </a:xfrm>
          </p:grpSpPr>
          <p:sp>
            <p:nvSpPr>
              <p:cNvPr id="9" name="Parallelogram 8">
                <a:extLst>
                  <a:ext uri="{FF2B5EF4-FFF2-40B4-BE49-F238E27FC236}">
                    <a16:creationId xmlns:a16="http://schemas.microsoft.com/office/drawing/2014/main" id="{075E2362-2438-4FB5-AE62-41592F151462}"/>
                  </a:ext>
                </a:extLst>
              </p:cNvPr>
              <p:cNvSpPr/>
              <p:nvPr/>
            </p:nvSpPr>
            <p:spPr>
              <a:xfrm>
                <a:off x="5900468" y="1582086"/>
                <a:ext cx="5426528" cy="1085850"/>
              </a:xfrm>
              <a:prstGeom prst="parallelogram">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08B83C82-DBFC-4E4E-82C6-7FEB3AF90C11}"/>
                  </a:ext>
                </a:extLst>
              </p:cNvPr>
              <p:cNvSpPr txBox="1"/>
              <p:nvPr/>
            </p:nvSpPr>
            <p:spPr>
              <a:xfrm>
                <a:off x="6214429" y="1801846"/>
                <a:ext cx="4015421" cy="646331"/>
              </a:xfrm>
              <a:prstGeom prst="rect">
                <a:avLst/>
              </a:prstGeom>
              <a:noFill/>
              <a:ln w="6350">
                <a:noFill/>
                <a:prstDash val="dash"/>
              </a:ln>
            </p:spPr>
            <p:txBody>
              <a:bodyPr wrap="square" lIns="0" tIns="0" rIns="0" bIns="0" rtlCol="0" anchor="ctr">
                <a:spAutoFit/>
              </a:bodyPr>
              <a:lstStyle/>
              <a:p>
                <a:r>
                  <a:rPr lang="en-US" sz="1400" dirty="0">
                    <a:solidFill>
                      <a:schemeClr val="bg1"/>
                    </a:solidFill>
                  </a:rPr>
                  <a:t>Gauteng province is leading in terms of the audiences across all province, making up a total number of 1607 audience.</a:t>
                </a:r>
              </a:p>
            </p:txBody>
          </p:sp>
        </p:grpSp>
        <p:grpSp>
          <p:nvGrpSpPr>
            <p:cNvPr id="50" name="Group 49">
              <a:extLst>
                <a:ext uri="{FF2B5EF4-FFF2-40B4-BE49-F238E27FC236}">
                  <a16:creationId xmlns:a16="http://schemas.microsoft.com/office/drawing/2014/main" id="{C3F70A87-6262-4C34-BA16-758E519B76C8}"/>
                </a:ext>
              </a:extLst>
            </p:cNvPr>
            <p:cNvGrpSpPr/>
            <p:nvPr/>
          </p:nvGrpSpPr>
          <p:grpSpPr>
            <a:xfrm>
              <a:off x="10614909" y="1982136"/>
              <a:ext cx="163513" cy="285750"/>
              <a:chOff x="9374188" y="1358900"/>
              <a:chExt cx="163513" cy="285750"/>
            </a:xfrm>
            <a:solidFill>
              <a:schemeClr val="bg1"/>
            </a:solidFill>
          </p:grpSpPr>
          <p:sp>
            <p:nvSpPr>
              <p:cNvPr id="51" name="Freeform 2543">
                <a:extLst>
                  <a:ext uri="{FF2B5EF4-FFF2-40B4-BE49-F238E27FC236}">
                    <a16:creationId xmlns:a16="http://schemas.microsoft.com/office/drawing/2014/main" id="{7242E709-73E2-4372-B2B7-5AEC0C802375}"/>
                  </a:ext>
                </a:extLst>
              </p:cNvPr>
              <p:cNvSpPr>
                <a:spLocks noEditPoints="1"/>
              </p:cNvSpPr>
              <p:nvPr/>
            </p:nvSpPr>
            <p:spPr bwMode="auto">
              <a:xfrm>
                <a:off x="9374188" y="1358900"/>
                <a:ext cx="163513" cy="238125"/>
              </a:xfrm>
              <a:custGeom>
                <a:avLst/>
                <a:gdLst>
                  <a:gd name="T0" fmla="*/ 152 w 511"/>
                  <a:gd name="T1" fmla="*/ 235 h 751"/>
                  <a:gd name="T2" fmla="*/ 163 w 511"/>
                  <a:gd name="T3" fmla="*/ 206 h 751"/>
                  <a:gd name="T4" fmla="*/ 180 w 511"/>
                  <a:gd name="T5" fmla="*/ 182 h 751"/>
                  <a:gd name="T6" fmla="*/ 204 w 511"/>
                  <a:gd name="T7" fmla="*/ 163 h 751"/>
                  <a:gd name="T8" fmla="*/ 233 w 511"/>
                  <a:gd name="T9" fmla="*/ 153 h 751"/>
                  <a:gd name="T10" fmla="*/ 265 w 511"/>
                  <a:gd name="T11" fmla="*/ 151 h 751"/>
                  <a:gd name="T12" fmla="*/ 296 w 511"/>
                  <a:gd name="T13" fmla="*/ 159 h 751"/>
                  <a:gd name="T14" fmla="*/ 321 w 511"/>
                  <a:gd name="T15" fmla="*/ 174 h 751"/>
                  <a:gd name="T16" fmla="*/ 342 w 511"/>
                  <a:gd name="T17" fmla="*/ 197 h 751"/>
                  <a:gd name="T18" fmla="*/ 355 w 511"/>
                  <a:gd name="T19" fmla="*/ 225 h 751"/>
                  <a:gd name="T20" fmla="*/ 360 w 511"/>
                  <a:gd name="T21" fmla="*/ 256 h 751"/>
                  <a:gd name="T22" fmla="*/ 355 w 511"/>
                  <a:gd name="T23" fmla="*/ 287 h 751"/>
                  <a:gd name="T24" fmla="*/ 342 w 511"/>
                  <a:gd name="T25" fmla="*/ 314 h 751"/>
                  <a:gd name="T26" fmla="*/ 321 w 511"/>
                  <a:gd name="T27" fmla="*/ 337 h 751"/>
                  <a:gd name="T28" fmla="*/ 296 w 511"/>
                  <a:gd name="T29" fmla="*/ 353 h 751"/>
                  <a:gd name="T30" fmla="*/ 265 w 511"/>
                  <a:gd name="T31" fmla="*/ 360 h 751"/>
                  <a:gd name="T32" fmla="*/ 233 w 511"/>
                  <a:gd name="T33" fmla="*/ 359 h 751"/>
                  <a:gd name="T34" fmla="*/ 204 w 511"/>
                  <a:gd name="T35" fmla="*/ 348 h 751"/>
                  <a:gd name="T36" fmla="*/ 180 w 511"/>
                  <a:gd name="T37" fmla="*/ 331 h 751"/>
                  <a:gd name="T38" fmla="*/ 163 w 511"/>
                  <a:gd name="T39" fmla="*/ 306 h 751"/>
                  <a:gd name="T40" fmla="*/ 152 w 511"/>
                  <a:gd name="T41" fmla="*/ 277 h 751"/>
                  <a:gd name="T42" fmla="*/ 149 w 511"/>
                  <a:gd name="T43" fmla="*/ 256 h 751"/>
                  <a:gd name="T44" fmla="*/ 262 w 511"/>
                  <a:gd name="T45" fmla="*/ 750 h 751"/>
                  <a:gd name="T46" fmla="*/ 280 w 511"/>
                  <a:gd name="T47" fmla="*/ 725 h 751"/>
                  <a:gd name="T48" fmla="*/ 393 w 511"/>
                  <a:gd name="T49" fmla="*/ 545 h 751"/>
                  <a:gd name="T50" fmla="*/ 456 w 511"/>
                  <a:gd name="T51" fmla="*/ 426 h 751"/>
                  <a:gd name="T52" fmla="*/ 489 w 511"/>
                  <a:gd name="T53" fmla="*/ 351 h 751"/>
                  <a:gd name="T54" fmla="*/ 504 w 511"/>
                  <a:gd name="T55" fmla="*/ 299 h 751"/>
                  <a:gd name="T56" fmla="*/ 511 w 511"/>
                  <a:gd name="T57" fmla="*/ 256 h 751"/>
                  <a:gd name="T58" fmla="*/ 507 w 511"/>
                  <a:gd name="T59" fmla="*/ 217 h 751"/>
                  <a:gd name="T60" fmla="*/ 498 w 511"/>
                  <a:gd name="T61" fmla="*/ 180 h 751"/>
                  <a:gd name="T62" fmla="*/ 485 w 511"/>
                  <a:gd name="T63" fmla="*/ 146 h 751"/>
                  <a:gd name="T64" fmla="*/ 467 w 511"/>
                  <a:gd name="T65" fmla="*/ 113 h 751"/>
                  <a:gd name="T66" fmla="*/ 443 w 511"/>
                  <a:gd name="T67" fmla="*/ 84 h 751"/>
                  <a:gd name="T68" fmla="*/ 417 w 511"/>
                  <a:gd name="T69" fmla="*/ 59 h 751"/>
                  <a:gd name="T70" fmla="*/ 387 w 511"/>
                  <a:gd name="T71" fmla="*/ 38 h 751"/>
                  <a:gd name="T72" fmla="*/ 354 w 511"/>
                  <a:gd name="T73" fmla="*/ 20 h 751"/>
                  <a:gd name="T74" fmla="*/ 319 w 511"/>
                  <a:gd name="T75" fmla="*/ 9 h 751"/>
                  <a:gd name="T76" fmla="*/ 280 w 511"/>
                  <a:gd name="T77" fmla="*/ 2 h 751"/>
                  <a:gd name="T78" fmla="*/ 242 w 511"/>
                  <a:gd name="T79" fmla="*/ 0 h 751"/>
                  <a:gd name="T80" fmla="*/ 203 w 511"/>
                  <a:gd name="T81" fmla="*/ 6 h 751"/>
                  <a:gd name="T82" fmla="*/ 167 w 511"/>
                  <a:gd name="T83" fmla="*/ 16 h 751"/>
                  <a:gd name="T84" fmla="*/ 133 w 511"/>
                  <a:gd name="T85" fmla="*/ 31 h 751"/>
                  <a:gd name="T86" fmla="*/ 102 w 511"/>
                  <a:gd name="T87" fmla="*/ 51 h 751"/>
                  <a:gd name="T88" fmla="*/ 75 w 511"/>
                  <a:gd name="T89" fmla="*/ 75 h 751"/>
                  <a:gd name="T90" fmla="*/ 50 w 511"/>
                  <a:gd name="T91" fmla="*/ 103 h 751"/>
                  <a:gd name="T92" fmla="*/ 31 w 511"/>
                  <a:gd name="T93" fmla="*/ 135 h 751"/>
                  <a:gd name="T94" fmla="*/ 15 w 511"/>
                  <a:gd name="T95" fmla="*/ 168 h 751"/>
                  <a:gd name="T96" fmla="*/ 5 w 511"/>
                  <a:gd name="T97" fmla="*/ 204 h 751"/>
                  <a:gd name="T98" fmla="*/ 0 w 511"/>
                  <a:gd name="T99" fmla="*/ 243 h 751"/>
                  <a:gd name="T100" fmla="*/ 2 w 511"/>
                  <a:gd name="T101" fmla="*/ 283 h 751"/>
                  <a:gd name="T102" fmla="*/ 15 w 511"/>
                  <a:gd name="T103" fmla="*/ 333 h 751"/>
                  <a:gd name="T104" fmla="*/ 36 w 511"/>
                  <a:gd name="T105" fmla="*/ 388 h 751"/>
                  <a:gd name="T106" fmla="*/ 95 w 511"/>
                  <a:gd name="T107" fmla="*/ 507 h 751"/>
                  <a:gd name="T108" fmla="*/ 200 w 511"/>
                  <a:gd name="T109" fmla="*/ 682 h 751"/>
                  <a:gd name="T110" fmla="*/ 245 w 511"/>
                  <a:gd name="T111" fmla="*/ 748 h 751"/>
                  <a:gd name="T112" fmla="*/ 255 w 511"/>
                  <a:gd name="T113" fmla="*/ 751 h 7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11" h="751">
                    <a:moveTo>
                      <a:pt x="149" y="256"/>
                    </a:moveTo>
                    <a:lnTo>
                      <a:pt x="151" y="245"/>
                    </a:lnTo>
                    <a:lnTo>
                      <a:pt x="152" y="235"/>
                    </a:lnTo>
                    <a:lnTo>
                      <a:pt x="154" y="225"/>
                    </a:lnTo>
                    <a:lnTo>
                      <a:pt x="158" y="215"/>
                    </a:lnTo>
                    <a:lnTo>
                      <a:pt x="163" y="206"/>
                    </a:lnTo>
                    <a:lnTo>
                      <a:pt x="168" y="197"/>
                    </a:lnTo>
                    <a:lnTo>
                      <a:pt x="174" y="189"/>
                    </a:lnTo>
                    <a:lnTo>
                      <a:pt x="180" y="182"/>
                    </a:lnTo>
                    <a:lnTo>
                      <a:pt x="188" y="174"/>
                    </a:lnTo>
                    <a:lnTo>
                      <a:pt x="196" y="169"/>
                    </a:lnTo>
                    <a:lnTo>
                      <a:pt x="204" y="163"/>
                    </a:lnTo>
                    <a:lnTo>
                      <a:pt x="214" y="159"/>
                    </a:lnTo>
                    <a:lnTo>
                      <a:pt x="223" y="156"/>
                    </a:lnTo>
                    <a:lnTo>
                      <a:pt x="233" y="153"/>
                    </a:lnTo>
                    <a:lnTo>
                      <a:pt x="244" y="151"/>
                    </a:lnTo>
                    <a:lnTo>
                      <a:pt x="255" y="151"/>
                    </a:lnTo>
                    <a:lnTo>
                      <a:pt x="265" y="151"/>
                    </a:lnTo>
                    <a:lnTo>
                      <a:pt x="276" y="153"/>
                    </a:lnTo>
                    <a:lnTo>
                      <a:pt x="286" y="156"/>
                    </a:lnTo>
                    <a:lnTo>
                      <a:pt x="296" y="159"/>
                    </a:lnTo>
                    <a:lnTo>
                      <a:pt x="305" y="163"/>
                    </a:lnTo>
                    <a:lnTo>
                      <a:pt x="313" y="169"/>
                    </a:lnTo>
                    <a:lnTo>
                      <a:pt x="321" y="174"/>
                    </a:lnTo>
                    <a:lnTo>
                      <a:pt x="329" y="182"/>
                    </a:lnTo>
                    <a:lnTo>
                      <a:pt x="336" y="189"/>
                    </a:lnTo>
                    <a:lnTo>
                      <a:pt x="342" y="197"/>
                    </a:lnTo>
                    <a:lnTo>
                      <a:pt x="348" y="206"/>
                    </a:lnTo>
                    <a:lnTo>
                      <a:pt x="352" y="215"/>
                    </a:lnTo>
                    <a:lnTo>
                      <a:pt x="355" y="225"/>
                    </a:lnTo>
                    <a:lnTo>
                      <a:pt x="358" y="235"/>
                    </a:lnTo>
                    <a:lnTo>
                      <a:pt x="360" y="245"/>
                    </a:lnTo>
                    <a:lnTo>
                      <a:pt x="360" y="256"/>
                    </a:lnTo>
                    <a:lnTo>
                      <a:pt x="360" y="267"/>
                    </a:lnTo>
                    <a:lnTo>
                      <a:pt x="358" y="277"/>
                    </a:lnTo>
                    <a:lnTo>
                      <a:pt x="355" y="287"/>
                    </a:lnTo>
                    <a:lnTo>
                      <a:pt x="352" y="297"/>
                    </a:lnTo>
                    <a:lnTo>
                      <a:pt x="348" y="305"/>
                    </a:lnTo>
                    <a:lnTo>
                      <a:pt x="342" y="314"/>
                    </a:lnTo>
                    <a:lnTo>
                      <a:pt x="336" y="323"/>
                    </a:lnTo>
                    <a:lnTo>
                      <a:pt x="329" y="330"/>
                    </a:lnTo>
                    <a:lnTo>
                      <a:pt x="321" y="337"/>
                    </a:lnTo>
                    <a:lnTo>
                      <a:pt x="313" y="343"/>
                    </a:lnTo>
                    <a:lnTo>
                      <a:pt x="305" y="348"/>
                    </a:lnTo>
                    <a:lnTo>
                      <a:pt x="296" y="353"/>
                    </a:lnTo>
                    <a:lnTo>
                      <a:pt x="286" y="356"/>
                    </a:lnTo>
                    <a:lnTo>
                      <a:pt x="276" y="359"/>
                    </a:lnTo>
                    <a:lnTo>
                      <a:pt x="265" y="360"/>
                    </a:lnTo>
                    <a:lnTo>
                      <a:pt x="255" y="362"/>
                    </a:lnTo>
                    <a:lnTo>
                      <a:pt x="244" y="360"/>
                    </a:lnTo>
                    <a:lnTo>
                      <a:pt x="233" y="359"/>
                    </a:lnTo>
                    <a:lnTo>
                      <a:pt x="223" y="356"/>
                    </a:lnTo>
                    <a:lnTo>
                      <a:pt x="214" y="353"/>
                    </a:lnTo>
                    <a:lnTo>
                      <a:pt x="204" y="348"/>
                    </a:lnTo>
                    <a:lnTo>
                      <a:pt x="196" y="343"/>
                    </a:lnTo>
                    <a:lnTo>
                      <a:pt x="188" y="337"/>
                    </a:lnTo>
                    <a:lnTo>
                      <a:pt x="180" y="331"/>
                    </a:lnTo>
                    <a:lnTo>
                      <a:pt x="174" y="323"/>
                    </a:lnTo>
                    <a:lnTo>
                      <a:pt x="168" y="314"/>
                    </a:lnTo>
                    <a:lnTo>
                      <a:pt x="163" y="306"/>
                    </a:lnTo>
                    <a:lnTo>
                      <a:pt x="158" y="297"/>
                    </a:lnTo>
                    <a:lnTo>
                      <a:pt x="154" y="287"/>
                    </a:lnTo>
                    <a:lnTo>
                      <a:pt x="152" y="277"/>
                    </a:lnTo>
                    <a:lnTo>
                      <a:pt x="151" y="267"/>
                    </a:lnTo>
                    <a:lnTo>
                      <a:pt x="149" y="256"/>
                    </a:lnTo>
                    <a:lnTo>
                      <a:pt x="149" y="256"/>
                    </a:lnTo>
                    <a:close/>
                    <a:moveTo>
                      <a:pt x="255" y="751"/>
                    </a:moveTo>
                    <a:lnTo>
                      <a:pt x="258" y="751"/>
                    </a:lnTo>
                    <a:lnTo>
                      <a:pt x="262" y="750"/>
                    </a:lnTo>
                    <a:lnTo>
                      <a:pt x="265" y="748"/>
                    </a:lnTo>
                    <a:lnTo>
                      <a:pt x="267" y="745"/>
                    </a:lnTo>
                    <a:lnTo>
                      <a:pt x="280" y="725"/>
                    </a:lnTo>
                    <a:lnTo>
                      <a:pt x="309" y="682"/>
                    </a:lnTo>
                    <a:lnTo>
                      <a:pt x="349" y="619"/>
                    </a:lnTo>
                    <a:lnTo>
                      <a:pt x="393" y="545"/>
                    </a:lnTo>
                    <a:lnTo>
                      <a:pt x="415" y="507"/>
                    </a:lnTo>
                    <a:lnTo>
                      <a:pt x="436" y="466"/>
                    </a:lnTo>
                    <a:lnTo>
                      <a:pt x="456" y="426"/>
                    </a:lnTo>
                    <a:lnTo>
                      <a:pt x="473" y="388"/>
                    </a:lnTo>
                    <a:lnTo>
                      <a:pt x="481" y="368"/>
                    </a:lnTo>
                    <a:lnTo>
                      <a:pt x="489" y="351"/>
                    </a:lnTo>
                    <a:lnTo>
                      <a:pt x="495" y="333"/>
                    </a:lnTo>
                    <a:lnTo>
                      <a:pt x="500" y="315"/>
                    </a:lnTo>
                    <a:lnTo>
                      <a:pt x="504" y="299"/>
                    </a:lnTo>
                    <a:lnTo>
                      <a:pt x="507" y="283"/>
                    </a:lnTo>
                    <a:lnTo>
                      <a:pt x="509" y="269"/>
                    </a:lnTo>
                    <a:lnTo>
                      <a:pt x="511" y="256"/>
                    </a:lnTo>
                    <a:lnTo>
                      <a:pt x="509" y="243"/>
                    </a:lnTo>
                    <a:lnTo>
                      <a:pt x="508" y="229"/>
                    </a:lnTo>
                    <a:lnTo>
                      <a:pt x="507" y="217"/>
                    </a:lnTo>
                    <a:lnTo>
                      <a:pt x="505" y="204"/>
                    </a:lnTo>
                    <a:lnTo>
                      <a:pt x="502" y="192"/>
                    </a:lnTo>
                    <a:lnTo>
                      <a:pt x="498" y="180"/>
                    </a:lnTo>
                    <a:lnTo>
                      <a:pt x="494" y="168"/>
                    </a:lnTo>
                    <a:lnTo>
                      <a:pt x="490" y="157"/>
                    </a:lnTo>
                    <a:lnTo>
                      <a:pt x="485" y="146"/>
                    </a:lnTo>
                    <a:lnTo>
                      <a:pt x="479" y="135"/>
                    </a:lnTo>
                    <a:lnTo>
                      <a:pt x="473" y="124"/>
                    </a:lnTo>
                    <a:lnTo>
                      <a:pt x="467" y="113"/>
                    </a:lnTo>
                    <a:lnTo>
                      <a:pt x="459" y="103"/>
                    </a:lnTo>
                    <a:lnTo>
                      <a:pt x="451" y="94"/>
                    </a:lnTo>
                    <a:lnTo>
                      <a:pt x="443" y="84"/>
                    </a:lnTo>
                    <a:lnTo>
                      <a:pt x="436" y="75"/>
                    </a:lnTo>
                    <a:lnTo>
                      <a:pt x="426" y="66"/>
                    </a:lnTo>
                    <a:lnTo>
                      <a:pt x="417" y="59"/>
                    </a:lnTo>
                    <a:lnTo>
                      <a:pt x="407" y="51"/>
                    </a:lnTo>
                    <a:lnTo>
                      <a:pt x="397" y="44"/>
                    </a:lnTo>
                    <a:lnTo>
                      <a:pt x="387" y="38"/>
                    </a:lnTo>
                    <a:lnTo>
                      <a:pt x="376" y="31"/>
                    </a:lnTo>
                    <a:lnTo>
                      <a:pt x="365" y="26"/>
                    </a:lnTo>
                    <a:lnTo>
                      <a:pt x="354" y="20"/>
                    </a:lnTo>
                    <a:lnTo>
                      <a:pt x="342" y="16"/>
                    </a:lnTo>
                    <a:lnTo>
                      <a:pt x="331" y="13"/>
                    </a:lnTo>
                    <a:lnTo>
                      <a:pt x="319" y="9"/>
                    </a:lnTo>
                    <a:lnTo>
                      <a:pt x="306" y="6"/>
                    </a:lnTo>
                    <a:lnTo>
                      <a:pt x="294" y="4"/>
                    </a:lnTo>
                    <a:lnTo>
                      <a:pt x="280" y="2"/>
                    </a:lnTo>
                    <a:lnTo>
                      <a:pt x="268" y="2"/>
                    </a:lnTo>
                    <a:lnTo>
                      <a:pt x="255" y="0"/>
                    </a:lnTo>
                    <a:lnTo>
                      <a:pt x="242" y="0"/>
                    </a:lnTo>
                    <a:lnTo>
                      <a:pt x="229" y="2"/>
                    </a:lnTo>
                    <a:lnTo>
                      <a:pt x="215" y="4"/>
                    </a:lnTo>
                    <a:lnTo>
                      <a:pt x="203" y="6"/>
                    </a:lnTo>
                    <a:lnTo>
                      <a:pt x="191" y="8"/>
                    </a:lnTo>
                    <a:lnTo>
                      <a:pt x="179" y="13"/>
                    </a:lnTo>
                    <a:lnTo>
                      <a:pt x="167" y="16"/>
                    </a:lnTo>
                    <a:lnTo>
                      <a:pt x="156" y="20"/>
                    </a:lnTo>
                    <a:lnTo>
                      <a:pt x="144" y="26"/>
                    </a:lnTo>
                    <a:lnTo>
                      <a:pt x="133" y="31"/>
                    </a:lnTo>
                    <a:lnTo>
                      <a:pt x="123" y="38"/>
                    </a:lnTo>
                    <a:lnTo>
                      <a:pt x="112" y="44"/>
                    </a:lnTo>
                    <a:lnTo>
                      <a:pt x="102" y="51"/>
                    </a:lnTo>
                    <a:lnTo>
                      <a:pt x="92" y="59"/>
                    </a:lnTo>
                    <a:lnTo>
                      <a:pt x="83" y="66"/>
                    </a:lnTo>
                    <a:lnTo>
                      <a:pt x="75" y="75"/>
                    </a:lnTo>
                    <a:lnTo>
                      <a:pt x="66" y="84"/>
                    </a:lnTo>
                    <a:lnTo>
                      <a:pt x="58" y="94"/>
                    </a:lnTo>
                    <a:lnTo>
                      <a:pt x="50" y="103"/>
                    </a:lnTo>
                    <a:lnTo>
                      <a:pt x="43" y="113"/>
                    </a:lnTo>
                    <a:lnTo>
                      <a:pt x="36" y="124"/>
                    </a:lnTo>
                    <a:lnTo>
                      <a:pt x="31" y="135"/>
                    </a:lnTo>
                    <a:lnTo>
                      <a:pt x="25" y="146"/>
                    </a:lnTo>
                    <a:lnTo>
                      <a:pt x="20" y="157"/>
                    </a:lnTo>
                    <a:lnTo>
                      <a:pt x="15" y="168"/>
                    </a:lnTo>
                    <a:lnTo>
                      <a:pt x="11" y="180"/>
                    </a:lnTo>
                    <a:lnTo>
                      <a:pt x="7" y="192"/>
                    </a:lnTo>
                    <a:lnTo>
                      <a:pt x="5" y="204"/>
                    </a:lnTo>
                    <a:lnTo>
                      <a:pt x="2" y="217"/>
                    </a:lnTo>
                    <a:lnTo>
                      <a:pt x="1" y="229"/>
                    </a:lnTo>
                    <a:lnTo>
                      <a:pt x="0" y="243"/>
                    </a:lnTo>
                    <a:lnTo>
                      <a:pt x="0" y="256"/>
                    </a:lnTo>
                    <a:lnTo>
                      <a:pt x="0" y="269"/>
                    </a:lnTo>
                    <a:lnTo>
                      <a:pt x="2" y="283"/>
                    </a:lnTo>
                    <a:lnTo>
                      <a:pt x="5" y="299"/>
                    </a:lnTo>
                    <a:lnTo>
                      <a:pt x="10" y="315"/>
                    </a:lnTo>
                    <a:lnTo>
                      <a:pt x="15" y="333"/>
                    </a:lnTo>
                    <a:lnTo>
                      <a:pt x="21" y="351"/>
                    </a:lnTo>
                    <a:lnTo>
                      <a:pt x="28" y="368"/>
                    </a:lnTo>
                    <a:lnTo>
                      <a:pt x="36" y="388"/>
                    </a:lnTo>
                    <a:lnTo>
                      <a:pt x="54" y="426"/>
                    </a:lnTo>
                    <a:lnTo>
                      <a:pt x="73" y="466"/>
                    </a:lnTo>
                    <a:lnTo>
                      <a:pt x="95" y="507"/>
                    </a:lnTo>
                    <a:lnTo>
                      <a:pt x="118" y="545"/>
                    </a:lnTo>
                    <a:lnTo>
                      <a:pt x="162" y="619"/>
                    </a:lnTo>
                    <a:lnTo>
                      <a:pt x="200" y="682"/>
                    </a:lnTo>
                    <a:lnTo>
                      <a:pt x="229" y="725"/>
                    </a:lnTo>
                    <a:lnTo>
                      <a:pt x="242" y="745"/>
                    </a:lnTo>
                    <a:lnTo>
                      <a:pt x="245" y="748"/>
                    </a:lnTo>
                    <a:lnTo>
                      <a:pt x="247" y="750"/>
                    </a:lnTo>
                    <a:lnTo>
                      <a:pt x="251" y="751"/>
                    </a:lnTo>
                    <a:lnTo>
                      <a:pt x="255" y="751"/>
                    </a:lnTo>
                    <a:lnTo>
                      <a:pt x="255" y="7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2544">
                <a:extLst>
                  <a:ext uri="{FF2B5EF4-FFF2-40B4-BE49-F238E27FC236}">
                    <a16:creationId xmlns:a16="http://schemas.microsoft.com/office/drawing/2014/main" id="{745779E4-C23F-49A0-AC73-4424023C257D}"/>
                  </a:ext>
                </a:extLst>
              </p:cNvPr>
              <p:cNvSpPr>
                <a:spLocks/>
              </p:cNvSpPr>
              <p:nvPr/>
            </p:nvSpPr>
            <p:spPr bwMode="auto">
              <a:xfrm>
                <a:off x="9393238" y="1597025"/>
                <a:ext cx="123825" cy="47625"/>
              </a:xfrm>
              <a:custGeom>
                <a:avLst/>
                <a:gdLst>
                  <a:gd name="T0" fmla="*/ 389 w 391"/>
                  <a:gd name="T1" fmla="*/ 8 h 150"/>
                  <a:gd name="T2" fmla="*/ 386 w 391"/>
                  <a:gd name="T3" fmla="*/ 4 h 150"/>
                  <a:gd name="T4" fmla="*/ 380 w 391"/>
                  <a:gd name="T5" fmla="*/ 1 h 150"/>
                  <a:gd name="T6" fmla="*/ 375 w 391"/>
                  <a:gd name="T7" fmla="*/ 0 h 150"/>
                  <a:gd name="T8" fmla="*/ 196 w 391"/>
                  <a:gd name="T9" fmla="*/ 60 h 150"/>
                  <a:gd name="T10" fmla="*/ 18 w 391"/>
                  <a:gd name="T11" fmla="*/ 0 h 150"/>
                  <a:gd name="T12" fmla="*/ 11 w 391"/>
                  <a:gd name="T13" fmla="*/ 1 h 150"/>
                  <a:gd name="T14" fmla="*/ 7 w 391"/>
                  <a:gd name="T15" fmla="*/ 4 h 150"/>
                  <a:gd name="T16" fmla="*/ 2 w 391"/>
                  <a:gd name="T17" fmla="*/ 8 h 150"/>
                  <a:gd name="T18" fmla="*/ 0 w 391"/>
                  <a:gd name="T19" fmla="*/ 13 h 150"/>
                  <a:gd name="T20" fmla="*/ 1 w 391"/>
                  <a:gd name="T21" fmla="*/ 19 h 150"/>
                  <a:gd name="T22" fmla="*/ 3 w 391"/>
                  <a:gd name="T23" fmla="*/ 24 h 150"/>
                  <a:gd name="T24" fmla="*/ 8 w 391"/>
                  <a:gd name="T25" fmla="*/ 29 h 150"/>
                  <a:gd name="T26" fmla="*/ 149 w 391"/>
                  <a:gd name="T27" fmla="*/ 75 h 150"/>
                  <a:gd name="T28" fmla="*/ 8 w 391"/>
                  <a:gd name="T29" fmla="*/ 122 h 150"/>
                  <a:gd name="T30" fmla="*/ 3 w 391"/>
                  <a:gd name="T31" fmla="*/ 126 h 150"/>
                  <a:gd name="T32" fmla="*/ 1 w 391"/>
                  <a:gd name="T33" fmla="*/ 131 h 150"/>
                  <a:gd name="T34" fmla="*/ 0 w 391"/>
                  <a:gd name="T35" fmla="*/ 137 h 150"/>
                  <a:gd name="T36" fmla="*/ 3 w 391"/>
                  <a:gd name="T37" fmla="*/ 144 h 150"/>
                  <a:gd name="T38" fmla="*/ 11 w 391"/>
                  <a:gd name="T39" fmla="*/ 150 h 150"/>
                  <a:gd name="T40" fmla="*/ 18 w 391"/>
                  <a:gd name="T41" fmla="*/ 150 h 150"/>
                  <a:gd name="T42" fmla="*/ 196 w 391"/>
                  <a:gd name="T43" fmla="*/ 92 h 150"/>
                  <a:gd name="T44" fmla="*/ 373 w 391"/>
                  <a:gd name="T45" fmla="*/ 150 h 150"/>
                  <a:gd name="T46" fmla="*/ 380 w 391"/>
                  <a:gd name="T47" fmla="*/ 150 h 150"/>
                  <a:gd name="T48" fmla="*/ 388 w 391"/>
                  <a:gd name="T49" fmla="*/ 144 h 150"/>
                  <a:gd name="T50" fmla="*/ 391 w 391"/>
                  <a:gd name="T51" fmla="*/ 137 h 150"/>
                  <a:gd name="T52" fmla="*/ 390 w 391"/>
                  <a:gd name="T53" fmla="*/ 131 h 150"/>
                  <a:gd name="T54" fmla="*/ 388 w 391"/>
                  <a:gd name="T55" fmla="*/ 126 h 150"/>
                  <a:gd name="T56" fmla="*/ 383 w 391"/>
                  <a:gd name="T57" fmla="*/ 122 h 150"/>
                  <a:gd name="T58" fmla="*/ 243 w 391"/>
                  <a:gd name="T59" fmla="*/ 75 h 150"/>
                  <a:gd name="T60" fmla="*/ 383 w 391"/>
                  <a:gd name="T61" fmla="*/ 29 h 150"/>
                  <a:gd name="T62" fmla="*/ 388 w 391"/>
                  <a:gd name="T63" fmla="*/ 24 h 150"/>
                  <a:gd name="T64" fmla="*/ 390 w 391"/>
                  <a:gd name="T65" fmla="*/ 19 h 150"/>
                  <a:gd name="T66" fmla="*/ 391 w 391"/>
                  <a:gd name="T67" fmla="*/ 13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91" h="150">
                    <a:moveTo>
                      <a:pt x="390" y="10"/>
                    </a:moveTo>
                    <a:lnTo>
                      <a:pt x="389" y="8"/>
                    </a:lnTo>
                    <a:lnTo>
                      <a:pt x="388" y="6"/>
                    </a:lnTo>
                    <a:lnTo>
                      <a:pt x="386" y="4"/>
                    </a:lnTo>
                    <a:lnTo>
                      <a:pt x="382" y="2"/>
                    </a:lnTo>
                    <a:lnTo>
                      <a:pt x="380" y="1"/>
                    </a:lnTo>
                    <a:lnTo>
                      <a:pt x="377" y="0"/>
                    </a:lnTo>
                    <a:lnTo>
                      <a:pt x="375" y="0"/>
                    </a:lnTo>
                    <a:lnTo>
                      <a:pt x="371" y="1"/>
                    </a:lnTo>
                    <a:lnTo>
                      <a:pt x="196" y="60"/>
                    </a:lnTo>
                    <a:lnTo>
                      <a:pt x="20" y="1"/>
                    </a:lnTo>
                    <a:lnTo>
                      <a:pt x="18" y="0"/>
                    </a:lnTo>
                    <a:lnTo>
                      <a:pt x="14" y="0"/>
                    </a:lnTo>
                    <a:lnTo>
                      <a:pt x="11" y="1"/>
                    </a:lnTo>
                    <a:lnTo>
                      <a:pt x="9" y="2"/>
                    </a:lnTo>
                    <a:lnTo>
                      <a:pt x="7" y="4"/>
                    </a:lnTo>
                    <a:lnTo>
                      <a:pt x="5" y="6"/>
                    </a:lnTo>
                    <a:lnTo>
                      <a:pt x="2" y="8"/>
                    </a:lnTo>
                    <a:lnTo>
                      <a:pt x="1" y="10"/>
                    </a:lnTo>
                    <a:lnTo>
                      <a:pt x="0" y="13"/>
                    </a:lnTo>
                    <a:lnTo>
                      <a:pt x="0" y="17"/>
                    </a:lnTo>
                    <a:lnTo>
                      <a:pt x="1" y="19"/>
                    </a:lnTo>
                    <a:lnTo>
                      <a:pt x="2" y="22"/>
                    </a:lnTo>
                    <a:lnTo>
                      <a:pt x="3" y="24"/>
                    </a:lnTo>
                    <a:lnTo>
                      <a:pt x="6" y="27"/>
                    </a:lnTo>
                    <a:lnTo>
                      <a:pt x="8" y="29"/>
                    </a:lnTo>
                    <a:lnTo>
                      <a:pt x="11" y="30"/>
                    </a:lnTo>
                    <a:lnTo>
                      <a:pt x="149" y="75"/>
                    </a:lnTo>
                    <a:lnTo>
                      <a:pt x="11" y="121"/>
                    </a:lnTo>
                    <a:lnTo>
                      <a:pt x="8" y="122"/>
                    </a:lnTo>
                    <a:lnTo>
                      <a:pt x="6" y="124"/>
                    </a:lnTo>
                    <a:lnTo>
                      <a:pt x="3" y="126"/>
                    </a:lnTo>
                    <a:lnTo>
                      <a:pt x="2" y="129"/>
                    </a:lnTo>
                    <a:lnTo>
                      <a:pt x="1" y="131"/>
                    </a:lnTo>
                    <a:lnTo>
                      <a:pt x="0" y="135"/>
                    </a:lnTo>
                    <a:lnTo>
                      <a:pt x="0" y="137"/>
                    </a:lnTo>
                    <a:lnTo>
                      <a:pt x="1" y="140"/>
                    </a:lnTo>
                    <a:lnTo>
                      <a:pt x="3" y="144"/>
                    </a:lnTo>
                    <a:lnTo>
                      <a:pt x="7" y="148"/>
                    </a:lnTo>
                    <a:lnTo>
                      <a:pt x="11" y="150"/>
                    </a:lnTo>
                    <a:lnTo>
                      <a:pt x="16" y="150"/>
                    </a:lnTo>
                    <a:lnTo>
                      <a:pt x="18" y="150"/>
                    </a:lnTo>
                    <a:lnTo>
                      <a:pt x="20" y="150"/>
                    </a:lnTo>
                    <a:lnTo>
                      <a:pt x="196" y="92"/>
                    </a:lnTo>
                    <a:lnTo>
                      <a:pt x="371" y="150"/>
                    </a:lnTo>
                    <a:lnTo>
                      <a:pt x="373" y="150"/>
                    </a:lnTo>
                    <a:lnTo>
                      <a:pt x="376" y="150"/>
                    </a:lnTo>
                    <a:lnTo>
                      <a:pt x="380" y="150"/>
                    </a:lnTo>
                    <a:lnTo>
                      <a:pt x="384" y="148"/>
                    </a:lnTo>
                    <a:lnTo>
                      <a:pt x="388" y="144"/>
                    </a:lnTo>
                    <a:lnTo>
                      <a:pt x="390" y="140"/>
                    </a:lnTo>
                    <a:lnTo>
                      <a:pt x="391" y="137"/>
                    </a:lnTo>
                    <a:lnTo>
                      <a:pt x="391" y="135"/>
                    </a:lnTo>
                    <a:lnTo>
                      <a:pt x="390" y="131"/>
                    </a:lnTo>
                    <a:lnTo>
                      <a:pt x="390" y="129"/>
                    </a:lnTo>
                    <a:lnTo>
                      <a:pt x="388" y="126"/>
                    </a:lnTo>
                    <a:lnTo>
                      <a:pt x="386" y="125"/>
                    </a:lnTo>
                    <a:lnTo>
                      <a:pt x="383" y="122"/>
                    </a:lnTo>
                    <a:lnTo>
                      <a:pt x="381" y="121"/>
                    </a:lnTo>
                    <a:lnTo>
                      <a:pt x="243" y="75"/>
                    </a:lnTo>
                    <a:lnTo>
                      <a:pt x="381" y="30"/>
                    </a:lnTo>
                    <a:lnTo>
                      <a:pt x="383" y="29"/>
                    </a:lnTo>
                    <a:lnTo>
                      <a:pt x="386" y="27"/>
                    </a:lnTo>
                    <a:lnTo>
                      <a:pt x="388" y="24"/>
                    </a:lnTo>
                    <a:lnTo>
                      <a:pt x="390" y="22"/>
                    </a:lnTo>
                    <a:lnTo>
                      <a:pt x="390" y="19"/>
                    </a:lnTo>
                    <a:lnTo>
                      <a:pt x="391" y="17"/>
                    </a:lnTo>
                    <a:lnTo>
                      <a:pt x="391" y="13"/>
                    </a:lnTo>
                    <a:lnTo>
                      <a:pt x="390" y="1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0" name="Group 9">
            <a:extLst>
              <a:ext uri="{FF2B5EF4-FFF2-40B4-BE49-F238E27FC236}">
                <a16:creationId xmlns:a16="http://schemas.microsoft.com/office/drawing/2014/main" id="{661C47D5-5F38-28B7-EFE7-9F8A7A9DFE82}"/>
              </a:ext>
            </a:extLst>
          </p:cNvPr>
          <p:cNvGrpSpPr/>
          <p:nvPr/>
        </p:nvGrpSpPr>
        <p:grpSpPr>
          <a:xfrm>
            <a:off x="5900468" y="4522146"/>
            <a:ext cx="5426528" cy="1085850"/>
            <a:chOff x="5900468" y="4432666"/>
            <a:chExt cx="5426528" cy="1085850"/>
          </a:xfrm>
        </p:grpSpPr>
        <p:grpSp>
          <p:nvGrpSpPr>
            <p:cNvPr id="5" name="Group 4">
              <a:extLst>
                <a:ext uri="{FF2B5EF4-FFF2-40B4-BE49-F238E27FC236}">
                  <a16:creationId xmlns:a16="http://schemas.microsoft.com/office/drawing/2014/main" id="{0DFF8629-C820-9C02-524D-1758FCA9766D}"/>
                </a:ext>
              </a:extLst>
            </p:cNvPr>
            <p:cNvGrpSpPr/>
            <p:nvPr/>
          </p:nvGrpSpPr>
          <p:grpSpPr>
            <a:xfrm>
              <a:off x="5900468" y="4432666"/>
              <a:ext cx="5426528" cy="1085850"/>
              <a:chOff x="5900468" y="4432666"/>
              <a:chExt cx="5426528" cy="1085850"/>
            </a:xfrm>
          </p:grpSpPr>
          <p:sp>
            <p:nvSpPr>
              <p:cNvPr id="46" name="Parallelogram 45">
                <a:extLst>
                  <a:ext uri="{FF2B5EF4-FFF2-40B4-BE49-F238E27FC236}">
                    <a16:creationId xmlns:a16="http://schemas.microsoft.com/office/drawing/2014/main" id="{040944CF-086E-4C9E-96B1-6A8D82B206AD}"/>
                  </a:ext>
                </a:extLst>
              </p:cNvPr>
              <p:cNvSpPr/>
              <p:nvPr/>
            </p:nvSpPr>
            <p:spPr>
              <a:xfrm>
                <a:off x="5900468" y="4432666"/>
                <a:ext cx="5426528" cy="1085850"/>
              </a:xfrm>
              <a:prstGeom prst="parallelogram">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TextBox 48">
                <a:extLst>
                  <a:ext uri="{FF2B5EF4-FFF2-40B4-BE49-F238E27FC236}">
                    <a16:creationId xmlns:a16="http://schemas.microsoft.com/office/drawing/2014/main" id="{1ED1646D-0E2A-4C8B-9349-00EE0E0FFAE2}"/>
                  </a:ext>
                </a:extLst>
              </p:cNvPr>
              <p:cNvSpPr txBox="1"/>
              <p:nvPr/>
            </p:nvSpPr>
            <p:spPr>
              <a:xfrm>
                <a:off x="6214429" y="4763370"/>
                <a:ext cx="4015421" cy="430887"/>
              </a:xfrm>
              <a:prstGeom prst="rect">
                <a:avLst/>
              </a:prstGeom>
              <a:noFill/>
              <a:ln w="6350">
                <a:noFill/>
                <a:prstDash val="dash"/>
              </a:ln>
            </p:spPr>
            <p:txBody>
              <a:bodyPr wrap="square" lIns="0" tIns="0" rIns="0" bIns="0" rtlCol="0" anchor="ctr">
                <a:spAutoFit/>
              </a:bodyPr>
              <a:lstStyle/>
              <a:p>
                <a:r>
                  <a:rPr lang="en-US" sz="1400" dirty="0">
                    <a:solidFill>
                      <a:schemeClr val="bg1"/>
                    </a:solidFill>
                  </a:rPr>
                  <a:t>Northen Cape is the least province with audience watching Bright TV with a total number of 82 audience.</a:t>
                </a:r>
              </a:p>
            </p:txBody>
          </p:sp>
        </p:grpSp>
        <p:sp>
          <p:nvSpPr>
            <p:cNvPr id="53" name="Freeform 2563">
              <a:extLst>
                <a:ext uri="{FF2B5EF4-FFF2-40B4-BE49-F238E27FC236}">
                  <a16:creationId xmlns:a16="http://schemas.microsoft.com/office/drawing/2014/main" id="{C8F3170C-3328-433E-AA2E-6A3DAA562956}"/>
                </a:ext>
              </a:extLst>
            </p:cNvPr>
            <p:cNvSpPr>
              <a:spLocks/>
            </p:cNvSpPr>
            <p:nvPr/>
          </p:nvSpPr>
          <p:spPr bwMode="auto">
            <a:xfrm>
              <a:off x="10552996" y="4831922"/>
              <a:ext cx="287338" cy="287338"/>
            </a:xfrm>
            <a:custGeom>
              <a:avLst/>
              <a:gdLst>
                <a:gd name="T0" fmla="*/ 778 w 901"/>
                <a:gd name="T1" fmla="*/ 173 h 901"/>
                <a:gd name="T2" fmla="*/ 751 w 901"/>
                <a:gd name="T3" fmla="*/ 234 h 901"/>
                <a:gd name="T4" fmla="*/ 691 w 901"/>
                <a:gd name="T5" fmla="*/ 292 h 901"/>
                <a:gd name="T6" fmla="*/ 610 w 901"/>
                <a:gd name="T7" fmla="*/ 300 h 901"/>
                <a:gd name="T8" fmla="*/ 553 w 901"/>
                <a:gd name="T9" fmla="*/ 325 h 901"/>
                <a:gd name="T10" fmla="*/ 544 w 901"/>
                <a:gd name="T11" fmla="*/ 337 h 901"/>
                <a:gd name="T12" fmla="*/ 566 w 901"/>
                <a:gd name="T13" fmla="*/ 361 h 901"/>
                <a:gd name="T14" fmla="*/ 596 w 901"/>
                <a:gd name="T15" fmla="*/ 420 h 901"/>
                <a:gd name="T16" fmla="*/ 644 w 901"/>
                <a:gd name="T17" fmla="*/ 417 h 901"/>
                <a:gd name="T18" fmla="*/ 650 w 901"/>
                <a:gd name="T19" fmla="*/ 448 h 901"/>
                <a:gd name="T20" fmla="*/ 601 w 901"/>
                <a:gd name="T21" fmla="*/ 521 h 901"/>
                <a:gd name="T22" fmla="*/ 565 w 901"/>
                <a:gd name="T23" fmla="*/ 568 h 901"/>
                <a:gd name="T24" fmla="*/ 587 w 901"/>
                <a:gd name="T25" fmla="*/ 593 h 901"/>
                <a:gd name="T26" fmla="*/ 588 w 901"/>
                <a:gd name="T27" fmla="*/ 616 h 901"/>
                <a:gd name="T28" fmla="*/ 531 w 901"/>
                <a:gd name="T29" fmla="*/ 657 h 901"/>
                <a:gd name="T30" fmla="*/ 517 w 901"/>
                <a:gd name="T31" fmla="*/ 703 h 901"/>
                <a:gd name="T32" fmla="*/ 467 w 901"/>
                <a:gd name="T33" fmla="*/ 746 h 901"/>
                <a:gd name="T34" fmla="*/ 409 w 901"/>
                <a:gd name="T35" fmla="*/ 753 h 901"/>
                <a:gd name="T36" fmla="*/ 369 w 901"/>
                <a:gd name="T37" fmla="*/ 697 h 901"/>
                <a:gd name="T38" fmla="*/ 362 w 901"/>
                <a:gd name="T39" fmla="*/ 638 h 901"/>
                <a:gd name="T40" fmla="*/ 373 w 901"/>
                <a:gd name="T41" fmla="*/ 595 h 901"/>
                <a:gd name="T42" fmla="*/ 336 w 901"/>
                <a:gd name="T43" fmla="*/ 532 h 901"/>
                <a:gd name="T44" fmla="*/ 309 w 901"/>
                <a:gd name="T45" fmla="*/ 491 h 901"/>
                <a:gd name="T46" fmla="*/ 244 w 901"/>
                <a:gd name="T47" fmla="*/ 488 h 901"/>
                <a:gd name="T48" fmla="*/ 185 w 901"/>
                <a:gd name="T49" fmla="*/ 471 h 901"/>
                <a:gd name="T50" fmla="*/ 167 w 901"/>
                <a:gd name="T51" fmla="*/ 416 h 901"/>
                <a:gd name="T52" fmla="*/ 175 w 901"/>
                <a:gd name="T53" fmla="*/ 357 h 901"/>
                <a:gd name="T54" fmla="*/ 211 w 901"/>
                <a:gd name="T55" fmla="*/ 288 h 901"/>
                <a:gd name="T56" fmla="*/ 253 w 901"/>
                <a:gd name="T57" fmla="*/ 263 h 901"/>
                <a:gd name="T58" fmla="*/ 325 w 901"/>
                <a:gd name="T59" fmla="*/ 258 h 901"/>
                <a:gd name="T60" fmla="*/ 353 w 901"/>
                <a:gd name="T61" fmla="*/ 272 h 901"/>
                <a:gd name="T62" fmla="*/ 381 w 901"/>
                <a:gd name="T63" fmla="*/ 294 h 901"/>
                <a:gd name="T64" fmla="*/ 473 w 901"/>
                <a:gd name="T65" fmla="*/ 285 h 901"/>
                <a:gd name="T66" fmla="*/ 510 w 901"/>
                <a:gd name="T67" fmla="*/ 185 h 901"/>
                <a:gd name="T68" fmla="*/ 492 w 901"/>
                <a:gd name="T69" fmla="*/ 165 h 901"/>
                <a:gd name="T70" fmla="*/ 455 w 901"/>
                <a:gd name="T71" fmla="*/ 175 h 901"/>
                <a:gd name="T72" fmla="*/ 425 w 901"/>
                <a:gd name="T73" fmla="*/ 160 h 901"/>
                <a:gd name="T74" fmla="*/ 413 w 901"/>
                <a:gd name="T75" fmla="*/ 124 h 901"/>
                <a:gd name="T76" fmla="*/ 430 w 901"/>
                <a:gd name="T77" fmla="*/ 93 h 901"/>
                <a:gd name="T78" fmla="*/ 510 w 901"/>
                <a:gd name="T79" fmla="*/ 51 h 901"/>
                <a:gd name="T80" fmla="*/ 608 w 901"/>
                <a:gd name="T81" fmla="*/ 31 h 901"/>
                <a:gd name="T82" fmla="*/ 514 w 901"/>
                <a:gd name="T83" fmla="*/ 5 h 901"/>
                <a:gd name="T84" fmla="*/ 382 w 901"/>
                <a:gd name="T85" fmla="*/ 6 h 901"/>
                <a:gd name="T86" fmla="*/ 255 w 901"/>
                <a:gd name="T87" fmla="*/ 44 h 901"/>
                <a:gd name="T88" fmla="*/ 147 w 901"/>
                <a:gd name="T89" fmla="*/ 118 h 901"/>
                <a:gd name="T90" fmla="*/ 65 w 901"/>
                <a:gd name="T91" fmla="*/ 217 h 901"/>
                <a:gd name="T92" fmla="*/ 14 w 901"/>
                <a:gd name="T93" fmla="*/ 338 h 901"/>
                <a:gd name="T94" fmla="*/ 1 w 901"/>
                <a:gd name="T95" fmla="*/ 474 h 901"/>
                <a:gd name="T96" fmla="*/ 27 w 901"/>
                <a:gd name="T97" fmla="*/ 606 h 901"/>
                <a:gd name="T98" fmla="*/ 90 w 901"/>
                <a:gd name="T99" fmla="*/ 720 h 901"/>
                <a:gd name="T100" fmla="*/ 182 w 901"/>
                <a:gd name="T101" fmla="*/ 812 h 901"/>
                <a:gd name="T102" fmla="*/ 296 w 901"/>
                <a:gd name="T103" fmla="*/ 874 h 901"/>
                <a:gd name="T104" fmla="*/ 427 w 901"/>
                <a:gd name="T105" fmla="*/ 901 h 901"/>
                <a:gd name="T106" fmla="*/ 563 w 901"/>
                <a:gd name="T107" fmla="*/ 886 h 901"/>
                <a:gd name="T108" fmla="*/ 684 w 901"/>
                <a:gd name="T109" fmla="*/ 836 h 901"/>
                <a:gd name="T110" fmla="*/ 784 w 901"/>
                <a:gd name="T111" fmla="*/ 753 h 901"/>
                <a:gd name="T112" fmla="*/ 857 w 901"/>
                <a:gd name="T113" fmla="*/ 645 h 901"/>
                <a:gd name="T114" fmla="*/ 896 w 901"/>
                <a:gd name="T115" fmla="*/ 519 h 901"/>
                <a:gd name="T116" fmla="*/ 896 w 901"/>
                <a:gd name="T117" fmla="*/ 386 h 901"/>
                <a:gd name="T118" fmla="*/ 860 w 901"/>
                <a:gd name="T119" fmla="*/ 264 h 901"/>
                <a:gd name="T120" fmla="*/ 794 w 901"/>
                <a:gd name="T121" fmla="*/ 160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1" h="901">
                  <a:moveTo>
                    <a:pt x="781" y="144"/>
                  </a:moveTo>
                  <a:lnTo>
                    <a:pt x="781" y="148"/>
                  </a:lnTo>
                  <a:lnTo>
                    <a:pt x="781" y="150"/>
                  </a:lnTo>
                  <a:lnTo>
                    <a:pt x="781" y="158"/>
                  </a:lnTo>
                  <a:lnTo>
                    <a:pt x="779" y="165"/>
                  </a:lnTo>
                  <a:lnTo>
                    <a:pt x="778" y="173"/>
                  </a:lnTo>
                  <a:lnTo>
                    <a:pt x="775" y="183"/>
                  </a:lnTo>
                  <a:lnTo>
                    <a:pt x="772" y="192"/>
                  </a:lnTo>
                  <a:lnTo>
                    <a:pt x="768" y="203"/>
                  </a:lnTo>
                  <a:lnTo>
                    <a:pt x="763" y="213"/>
                  </a:lnTo>
                  <a:lnTo>
                    <a:pt x="757" y="224"/>
                  </a:lnTo>
                  <a:lnTo>
                    <a:pt x="751" y="234"/>
                  </a:lnTo>
                  <a:lnTo>
                    <a:pt x="744" y="245"/>
                  </a:lnTo>
                  <a:lnTo>
                    <a:pt x="735" y="255"/>
                  </a:lnTo>
                  <a:lnTo>
                    <a:pt x="725" y="264"/>
                  </a:lnTo>
                  <a:lnTo>
                    <a:pt x="716" y="274"/>
                  </a:lnTo>
                  <a:lnTo>
                    <a:pt x="703" y="283"/>
                  </a:lnTo>
                  <a:lnTo>
                    <a:pt x="691" y="292"/>
                  </a:lnTo>
                  <a:lnTo>
                    <a:pt x="678" y="300"/>
                  </a:lnTo>
                  <a:lnTo>
                    <a:pt x="664" y="296"/>
                  </a:lnTo>
                  <a:lnTo>
                    <a:pt x="650" y="295"/>
                  </a:lnTo>
                  <a:lnTo>
                    <a:pt x="636" y="295"/>
                  </a:lnTo>
                  <a:lnTo>
                    <a:pt x="622" y="297"/>
                  </a:lnTo>
                  <a:lnTo>
                    <a:pt x="610" y="300"/>
                  </a:lnTo>
                  <a:lnTo>
                    <a:pt x="598" y="303"/>
                  </a:lnTo>
                  <a:lnTo>
                    <a:pt x="587" y="306"/>
                  </a:lnTo>
                  <a:lnTo>
                    <a:pt x="576" y="311"/>
                  </a:lnTo>
                  <a:lnTo>
                    <a:pt x="567" y="315"/>
                  </a:lnTo>
                  <a:lnTo>
                    <a:pt x="559" y="321"/>
                  </a:lnTo>
                  <a:lnTo>
                    <a:pt x="553" y="325"/>
                  </a:lnTo>
                  <a:lnTo>
                    <a:pt x="547" y="328"/>
                  </a:lnTo>
                  <a:lnTo>
                    <a:pt x="544" y="332"/>
                  </a:lnTo>
                  <a:lnTo>
                    <a:pt x="543" y="335"/>
                  </a:lnTo>
                  <a:lnTo>
                    <a:pt x="543" y="336"/>
                  </a:lnTo>
                  <a:lnTo>
                    <a:pt x="543" y="336"/>
                  </a:lnTo>
                  <a:lnTo>
                    <a:pt x="544" y="337"/>
                  </a:lnTo>
                  <a:lnTo>
                    <a:pt x="545" y="337"/>
                  </a:lnTo>
                  <a:lnTo>
                    <a:pt x="548" y="338"/>
                  </a:lnTo>
                  <a:lnTo>
                    <a:pt x="553" y="340"/>
                  </a:lnTo>
                  <a:lnTo>
                    <a:pt x="556" y="344"/>
                  </a:lnTo>
                  <a:lnTo>
                    <a:pt x="559" y="349"/>
                  </a:lnTo>
                  <a:lnTo>
                    <a:pt x="566" y="361"/>
                  </a:lnTo>
                  <a:lnTo>
                    <a:pt x="571" y="375"/>
                  </a:lnTo>
                  <a:lnTo>
                    <a:pt x="580" y="401"/>
                  </a:lnTo>
                  <a:lnTo>
                    <a:pt x="583" y="413"/>
                  </a:lnTo>
                  <a:lnTo>
                    <a:pt x="587" y="416"/>
                  </a:lnTo>
                  <a:lnTo>
                    <a:pt x="591" y="419"/>
                  </a:lnTo>
                  <a:lnTo>
                    <a:pt x="596" y="420"/>
                  </a:lnTo>
                  <a:lnTo>
                    <a:pt x="600" y="421"/>
                  </a:lnTo>
                  <a:lnTo>
                    <a:pt x="610" y="421"/>
                  </a:lnTo>
                  <a:lnTo>
                    <a:pt x="619" y="420"/>
                  </a:lnTo>
                  <a:lnTo>
                    <a:pt x="634" y="415"/>
                  </a:lnTo>
                  <a:lnTo>
                    <a:pt x="640" y="413"/>
                  </a:lnTo>
                  <a:lnTo>
                    <a:pt x="644" y="417"/>
                  </a:lnTo>
                  <a:lnTo>
                    <a:pt x="647" y="422"/>
                  </a:lnTo>
                  <a:lnTo>
                    <a:pt x="650" y="427"/>
                  </a:lnTo>
                  <a:lnTo>
                    <a:pt x="651" y="432"/>
                  </a:lnTo>
                  <a:lnTo>
                    <a:pt x="651" y="437"/>
                  </a:lnTo>
                  <a:lnTo>
                    <a:pt x="651" y="443"/>
                  </a:lnTo>
                  <a:lnTo>
                    <a:pt x="650" y="448"/>
                  </a:lnTo>
                  <a:lnTo>
                    <a:pt x="648" y="454"/>
                  </a:lnTo>
                  <a:lnTo>
                    <a:pt x="643" y="465"/>
                  </a:lnTo>
                  <a:lnTo>
                    <a:pt x="636" y="477"/>
                  </a:lnTo>
                  <a:lnTo>
                    <a:pt x="629" y="488"/>
                  </a:lnTo>
                  <a:lnTo>
                    <a:pt x="620" y="499"/>
                  </a:lnTo>
                  <a:lnTo>
                    <a:pt x="601" y="521"/>
                  </a:lnTo>
                  <a:lnTo>
                    <a:pt x="582" y="540"/>
                  </a:lnTo>
                  <a:lnTo>
                    <a:pt x="576" y="547"/>
                  </a:lnTo>
                  <a:lnTo>
                    <a:pt x="569" y="554"/>
                  </a:lnTo>
                  <a:lnTo>
                    <a:pt x="566" y="559"/>
                  </a:lnTo>
                  <a:lnTo>
                    <a:pt x="565" y="564"/>
                  </a:lnTo>
                  <a:lnTo>
                    <a:pt x="565" y="568"/>
                  </a:lnTo>
                  <a:lnTo>
                    <a:pt x="566" y="572"/>
                  </a:lnTo>
                  <a:lnTo>
                    <a:pt x="568" y="574"/>
                  </a:lnTo>
                  <a:lnTo>
                    <a:pt x="571" y="577"/>
                  </a:lnTo>
                  <a:lnTo>
                    <a:pt x="578" y="584"/>
                  </a:lnTo>
                  <a:lnTo>
                    <a:pt x="585" y="589"/>
                  </a:lnTo>
                  <a:lnTo>
                    <a:pt x="587" y="593"/>
                  </a:lnTo>
                  <a:lnTo>
                    <a:pt x="590" y="596"/>
                  </a:lnTo>
                  <a:lnTo>
                    <a:pt x="591" y="599"/>
                  </a:lnTo>
                  <a:lnTo>
                    <a:pt x="592" y="602"/>
                  </a:lnTo>
                  <a:lnTo>
                    <a:pt x="592" y="607"/>
                  </a:lnTo>
                  <a:lnTo>
                    <a:pt x="590" y="611"/>
                  </a:lnTo>
                  <a:lnTo>
                    <a:pt x="588" y="616"/>
                  </a:lnTo>
                  <a:lnTo>
                    <a:pt x="583" y="621"/>
                  </a:lnTo>
                  <a:lnTo>
                    <a:pt x="572" y="631"/>
                  </a:lnTo>
                  <a:lnTo>
                    <a:pt x="563" y="639"/>
                  </a:lnTo>
                  <a:lnTo>
                    <a:pt x="553" y="645"/>
                  </a:lnTo>
                  <a:lnTo>
                    <a:pt x="544" y="651"/>
                  </a:lnTo>
                  <a:lnTo>
                    <a:pt x="531" y="657"/>
                  </a:lnTo>
                  <a:lnTo>
                    <a:pt x="526" y="659"/>
                  </a:lnTo>
                  <a:lnTo>
                    <a:pt x="526" y="667"/>
                  </a:lnTo>
                  <a:lnTo>
                    <a:pt x="525" y="676"/>
                  </a:lnTo>
                  <a:lnTo>
                    <a:pt x="524" y="683"/>
                  </a:lnTo>
                  <a:lnTo>
                    <a:pt x="522" y="690"/>
                  </a:lnTo>
                  <a:lnTo>
                    <a:pt x="517" y="703"/>
                  </a:lnTo>
                  <a:lnTo>
                    <a:pt x="511" y="714"/>
                  </a:lnTo>
                  <a:lnTo>
                    <a:pt x="504" y="722"/>
                  </a:lnTo>
                  <a:lnTo>
                    <a:pt x="495" y="730"/>
                  </a:lnTo>
                  <a:lnTo>
                    <a:pt x="487" y="737"/>
                  </a:lnTo>
                  <a:lnTo>
                    <a:pt x="477" y="742"/>
                  </a:lnTo>
                  <a:lnTo>
                    <a:pt x="467" y="746"/>
                  </a:lnTo>
                  <a:lnTo>
                    <a:pt x="457" y="749"/>
                  </a:lnTo>
                  <a:lnTo>
                    <a:pt x="447" y="751"/>
                  </a:lnTo>
                  <a:lnTo>
                    <a:pt x="438" y="752"/>
                  </a:lnTo>
                  <a:lnTo>
                    <a:pt x="423" y="753"/>
                  </a:lnTo>
                  <a:lnTo>
                    <a:pt x="413" y="753"/>
                  </a:lnTo>
                  <a:lnTo>
                    <a:pt x="409" y="753"/>
                  </a:lnTo>
                  <a:lnTo>
                    <a:pt x="405" y="750"/>
                  </a:lnTo>
                  <a:lnTo>
                    <a:pt x="401" y="747"/>
                  </a:lnTo>
                  <a:lnTo>
                    <a:pt x="396" y="741"/>
                  </a:lnTo>
                  <a:lnTo>
                    <a:pt x="386" y="729"/>
                  </a:lnTo>
                  <a:lnTo>
                    <a:pt x="378" y="714"/>
                  </a:lnTo>
                  <a:lnTo>
                    <a:pt x="369" y="697"/>
                  </a:lnTo>
                  <a:lnTo>
                    <a:pt x="362" y="682"/>
                  </a:lnTo>
                  <a:lnTo>
                    <a:pt x="358" y="668"/>
                  </a:lnTo>
                  <a:lnTo>
                    <a:pt x="356" y="659"/>
                  </a:lnTo>
                  <a:lnTo>
                    <a:pt x="357" y="652"/>
                  </a:lnTo>
                  <a:lnTo>
                    <a:pt x="359" y="645"/>
                  </a:lnTo>
                  <a:lnTo>
                    <a:pt x="362" y="638"/>
                  </a:lnTo>
                  <a:lnTo>
                    <a:pt x="365" y="631"/>
                  </a:lnTo>
                  <a:lnTo>
                    <a:pt x="369" y="623"/>
                  </a:lnTo>
                  <a:lnTo>
                    <a:pt x="372" y="617"/>
                  </a:lnTo>
                  <a:lnTo>
                    <a:pt x="374" y="609"/>
                  </a:lnTo>
                  <a:lnTo>
                    <a:pt x="375" y="602"/>
                  </a:lnTo>
                  <a:lnTo>
                    <a:pt x="373" y="595"/>
                  </a:lnTo>
                  <a:lnTo>
                    <a:pt x="369" y="586"/>
                  </a:lnTo>
                  <a:lnTo>
                    <a:pt x="363" y="576"/>
                  </a:lnTo>
                  <a:lnTo>
                    <a:pt x="356" y="567"/>
                  </a:lnTo>
                  <a:lnTo>
                    <a:pt x="342" y="552"/>
                  </a:lnTo>
                  <a:lnTo>
                    <a:pt x="337" y="545"/>
                  </a:lnTo>
                  <a:lnTo>
                    <a:pt x="336" y="532"/>
                  </a:lnTo>
                  <a:lnTo>
                    <a:pt x="335" y="521"/>
                  </a:lnTo>
                  <a:lnTo>
                    <a:pt x="331" y="512"/>
                  </a:lnTo>
                  <a:lnTo>
                    <a:pt x="327" y="504"/>
                  </a:lnTo>
                  <a:lnTo>
                    <a:pt x="323" y="499"/>
                  </a:lnTo>
                  <a:lnTo>
                    <a:pt x="316" y="495"/>
                  </a:lnTo>
                  <a:lnTo>
                    <a:pt x="309" y="491"/>
                  </a:lnTo>
                  <a:lnTo>
                    <a:pt x="302" y="489"/>
                  </a:lnTo>
                  <a:lnTo>
                    <a:pt x="293" y="487"/>
                  </a:lnTo>
                  <a:lnTo>
                    <a:pt x="284" y="487"/>
                  </a:lnTo>
                  <a:lnTo>
                    <a:pt x="275" y="487"/>
                  </a:lnTo>
                  <a:lnTo>
                    <a:pt x="265" y="487"/>
                  </a:lnTo>
                  <a:lnTo>
                    <a:pt x="244" y="488"/>
                  </a:lnTo>
                  <a:lnTo>
                    <a:pt x="223" y="489"/>
                  </a:lnTo>
                  <a:lnTo>
                    <a:pt x="214" y="488"/>
                  </a:lnTo>
                  <a:lnTo>
                    <a:pt x="205" y="486"/>
                  </a:lnTo>
                  <a:lnTo>
                    <a:pt x="197" y="481"/>
                  </a:lnTo>
                  <a:lnTo>
                    <a:pt x="190" y="477"/>
                  </a:lnTo>
                  <a:lnTo>
                    <a:pt x="185" y="471"/>
                  </a:lnTo>
                  <a:lnTo>
                    <a:pt x="180" y="465"/>
                  </a:lnTo>
                  <a:lnTo>
                    <a:pt x="177" y="458"/>
                  </a:lnTo>
                  <a:lnTo>
                    <a:pt x="174" y="450"/>
                  </a:lnTo>
                  <a:lnTo>
                    <a:pt x="169" y="437"/>
                  </a:lnTo>
                  <a:lnTo>
                    <a:pt x="167" y="425"/>
                  </a:lnTo>
                  <a:lnTo>
                    <a:pt x="167" y="416"/>
                  </a:lnTo>
                  <a:lnTo>
                    <a:pt x="166" y="413"/>
                  </a:lnTo>
                  <a:lnTo>
                    <a:pt x="167" y="408"/>
                  </a:lnTo>
                  <a:lnTo>
                    <a:pt x="168" y="392"/>
                  </a:lnTo>
                  <a:lnTo>
                    <a:pt x="169" y="381"/>
                  </a:lnTo>
                  <a:lnTo>
                    <a:pt x="172" y="370"/>
                  </a:lnTo>
                  <a:lnTo>
                    <a:pt x="175" y="357"/>
                  </a:lnTo>
                  <a:lnTo>
                    <a:pt x="178" y="344"/>
                  </a:lnTo>
                  <a:lnTo>
                    <a:pt x="184" y="330"/>
                  </a:lnTo>
                  <a:lnTo>
                    <a:pt x="189" y="317"/>
                  </a:lnTo>
                  <a:lnTo>
                    <a:pt x="197" y="305"/>
                  </a:lnTo>
                  <a:lnTo>
                    <a:pt x="207" y="293"/>
                  </a:lnTo>
                  <a:lnTo>
                    <a:pt x="211" y="288"/>
                  </a:lnTo>
                  <a:lnTo>
                    <a:pt x="218" y="282"/>
                  </a:lnTo>
                  <a:lnTo>
                    <a:pt x="223" y="278"/>
                  </a:lnTo>
                  <a:lnTo>
                    <a:pt x="230" y="273"/>
                  </a:lnTo>
                  <a:lnTo>
                    <a:pt x="237" y="270"/>
                  </a:lnTo>
                  <a:lnTo>
                    <a:pt x="244" y="267"/>
                  </a:lnTo>
                  <a:lnTo>
                    <a:pt x="253" y="263"/>
                  </a:lnTo>
                  <a:lnTo>
                    <a:pt x="261" y="261"/>
                  </a:lnTo>
                  <a:lnTo>
                    <a:pt x="277" y="259"/>
                  </a:lnTo>
                  <a:lnTo>
                    <a:pt x="293" y="257"/>
                  </a:lnTo>
                  <a:lnTo>
                    <a:pt x="305" y="256"/>
                  </a:lnTo>
                  <a:lnTo>
                    <a:pt x="316" y="257"/>
                  </a:lnTo>
                  <a:lnTo>
                    <a:pt x="325" y="258"/>
                  </a:lnTo>
                  <a:lnTo>
                    <a:pt x="332" y="259"/>
                  </a:lnTo>
                  <a:lnTo>
                    <a:pt x="339" y="261"/>
                  </a:lnTo>
                  <a:lnTo>
                    <a:pt x="345" y="263"/>
                  </a:lnTo>
                  <a:lnTo>
                    <a:pt x="348" y="267"/>
                  </a:lnTo>
                  <a:lnTo>
                    <a:pt x="351" y="269"/>
                  </a:lnTo>
                  <a:lnTo>
                    <a:pt x="353" y="272"/>
                  </a:lnTo>
                  <a:lnTo>
                    <a:pt x="354" y="274"/>
                  </a:lnTo>
                  <a:lnTo>
                    <a:pt x="356" y="279"/>
                  </a:lnTo>
                  <a:lnTo>
                    <a:pt x="356" y="280"/>
                  </a:lnTo>
                  <a:lnTo>
                    <a:pt x="363" y="286"/>
                  </a:lnTo>
                  <a:lnTo>
                    <a:pt x="372" y="291"/>
                  </a:lnTo>
                  <a:lnTo>
                    <a:pt x="381" y="294"/>
                  </a:lnTo>
                  <a:lnTo>
                    <a:pt x="390" y="296"/>
                  </a:lnTo>
                  <a:lnTo>
                    <a:pt x="401" y="297"/>
                  </a:lnTo>
                  <a:lnTo>
                    <a:pt x="411" y="297"/>
                  </a:lnTo>
                  <a:lnTo>
                    <a:pt x="421" y="296"/>
                  </a:lnTo>
                  <a:lnTo>
                    <a:pt x="432" y="294"/>
                  </a:lnTo>
                  <a:lnTo>
                    <a:pt x="473" y="285"/>
                  </a:lnTo>
                  <a:lnTo>
                    <a:pt x="507" y="280"/>
                  </a:lnTo>
                  <a:lnTo>
                    <a:pt x="510" y="260"/>
                  </a:lnTo>
                  <a:lnTo>
                    <a:pt x="512" y="216"/>
                  </a:lnTo>
                  <a:lnTo>
                    <a:pt x="512" y="205"/>
                  </a:lnTo>
                  <a:lnTo>
                    <a:pt x="511" y="194"/>
                  </a:lnTo>
                  <a:lnTo>
                    <a:pt x="510" y="185"/>
                  </a:lnTo>
                  <a:lnTo>
                    <a:pt x="507" y="176"/>
                  </a:lnTo>
                  <a:lnTo>
                    <a:pt x="504" y="170"/>
                  </a:lnTo>
                  <a:lnTo>
                    <a:pt x="500" y="166"/>
                  </a:lnTo>
                  <a:lnTo>
                    <a:pt x="498" y="165"/>
                  </a:lnTo>
                  <a:lnTo>
                    <a:pt x="495" y="165"/>
                  </a:lnTo>
                  <a:lnTo>
                    <a:pt x="492" y="165"/>
                  </a:lnTo>
                  <a:lnTo>
                    <a:pt x="489" y="166"/>
                  </a:lnTo>
                  <a:lnTo>
                    <a:pt x="481" y="170"/>
                  </a:lnTo>
                  <a:lnTo>
                    <a:pt x="474" y="172"/>
                  </a:lnTo>
                  <a:lnTo>
                    <a:pt x="468" y="174"/>
                  </a:lnTo>
                  <a:lnTo>
                    <a:pt x="461" y="175"/>
                  </a:lnTo>
                  <a:lnTo>
                    <a:pt x="455" y="175"/>
                  </a:lnTo>
                  <a:lnTo>
                    <a:pt x="449" y="174"/>
                  </a:lnTo>
                  <a:lnTo>
                    <a:pt x="444" y="173"/>
                  </a:lnTo>
                  <a:lnTo>
                    <a:pt x="438" y="171"/>
                  </a:lnTo>
                  <a:lnTo>
                    <a:pt x="433" y="168"/>
                  </a:lnTo>
                  <a:lnTo>
                    <a:pt x="428" y="164"/>
                  </a:lnTo>
                  <a:lnTo>
                    <a:pt x="425" y="160"/>
                  </a:lnTo>
                  <a:lnTo>
                    <a:pt x="421" y="155"/>
                  </a:lnTo>
                  <a:lnTo>
                    <a:pt x="418" y="150"/>
                  </a:lnTo>
                  <a:lnTo>
                    <a:pt x="416" y="143"/>
                  </a:lnTo>
                  <a:lnTo>
                    <a:pt x="414" y="137"/>
                  </a:lnTo>
                  <a:lnTo>
                    <a:pt x="413" y="129"/>
                  </a:lnTo>
                  <a:lnTo>
                    <a:pt x="413" y="124"/>
                  </a:lnTo>
                  <a:lnTo>
                    <a:pt x="414" y="118"/>
                  </a:lnTo>
                  <a:lnTo>
                    <a:pt x="415" y="112"/>
                  </a:lnTo>
                  <a:lnTo>
                    <a:pt x="418" y="108"/>
                  </a:lnTo>
                  <a:lnTo>
                    <a:pt x="422" y="103"/>
                  </a:lnTo>
                  <a:lnTo>
                    <a:pt x="425" y="98"/>
                  </a:lnTo>
                  <a:lnTo>
                    <a:pt x="430" y="93"/>
                  </a:lnTo>
                  <a:lnTo>
                    <a:pt x="436" y="88"/>
                  </a:lnTo>
                  <a:lnTo>
                    <a:pt x="448" y="79"/>
                  </a:lnTo>
                  <a:lnTo>
                    <a:pt x="462" y="72"/>
                  </a:lnTo>
                  <a:lnTo>
                    <a:pt x="477" y="64"/>
                  </a:lnTo>
                  <a:lnTo>
                    <a:pt x="493" y="57"/>
                  </a:lnTo>
                  <a:lnTo>
                    <a:pt x="510" y="51"/>
                  </a:lnTo>
                  <a:lnTo>
                    <a:pt x="526" y="45"/>
                  </a:lnTo>
                  <a:lnTo>
                    <a:pt x="543" y="41"/>
                  </a:lnTo>
                  <a:lnTo>
                    <a:pt x="558" y="38"/>
                  </a:lnTo>
                  <a:lnTo>
                    <a:pt x="583" y="32"/>
                  </a:lnTo>
                  <a:lnTo>
                    <a:pt x="601" y="30"/>
                  </a:lnTo>
                  <a:lnTo>
                    <a:pt x="608" y="31"/>
                  </a:lnTo>
                  <a:lnTo>
                    <a:pt x="614" y="31"/>
                  </a:lnTo>
                  <a:lnTo>
                    <a:pt x="594" y="24"/>
                  </a:lnTo>
                  <a:lnTo>
                    <a:pt x="575" y="18"/>
                  </a:lnTo>
                  <a:lnTo>
                    <a:pt x="555" y="12"/>
                  </a:lnTo>
                  <a:lnTo>
                    <a:pt x="535" y="8"/>
                  </a:lnTo>
                  <a:lnTo>
                    <a:pt x="514" y="5"/>
                  </a:lnTo>
                  <a:lnTo>
                    <a:pt x="493" y="2"/>
                  </a:lnTo>
                  <a:lnTo>
                    <a:pt x="472" y="1"/>
                  </a:lnTo>
                  <a:lnTo>
                    <a:pt x="450" y="0"/>
                  </a:lnTo>
                  <a:lnTo>
                    <a:pt x="427" y="1"/>
                  </a:lnTo>
                  <a:lnTo>
                    <a:pt x="405" y="2"/>
                  </a:lnTo>
                  <a:lnTo>
                    <a:pt x="382" y="6"/>
                  </a:lnTo>
                  <a:lnTo>
                    <a:pt x="360" y="9"/>
                  </a:lnTo>
                  <a:lnTo>
                    <a:pt x="338" y="15"/>
                  </a:lnTo>
                  <a:lnTo>
                    <a:pt x="317" y="21"/>
                  </a:lnTo>
                  <a:lnTo>
                    <a:pt x="296" y="28"/>
                  </a:lnTo>
                  <a:lnTo>
                    <a:pt x="275" y="35"/>
                  </a:lnTo>
                  <a:lnTo>
                    <a:pt x="255" y="44"/>
                  </a:lnTo>
                  <a:lnTo>
                    <a:pt x="236" y="55"/>
                  </a:lnTo>
                  <a:lnTo>
                    <a:pt x="217" y="65"/>
                  </a:lnTo>
                  <a:lnTo>
                    <a:pt x="199" y="77"/>
                  </a:lnTo>
                  <a:lnTo>
                    <a:pt x="182" y="89"/>
                  </a:lnTo>
                  <a:lnTo>
                    <a:pt x="164" y="104"/>
                  </a:lnTo>
                  <a:lnTo>
                    <a:pt x="147" y="118"/>
                  </a:lnTo>
                  <a:lnTo>
                    <a:pt x="132" y="132"/>
                  </a:lnTo>
                  <a:lnTo>
                    <a:pt x="118" y="148"/>
                  </a:lnTo>
                  <a:lnTo>
                    <a:pt x="103" y="164"/>
                  </a:lnTo>
                  <a:lnTo>
                    <a:pt x="90" y="182"/>
                  </a:lnTo>
                  <a:lnTo>
                    <a:pt x="77" y="199"/>
                  </a:lnTo>
                  <a:lnTo>
                    <a:pt x="65" y="217"/>
                  </a:lnTo>
                  <a:lnTo>
                    <a:pt x="55" y="236"/>
                  </a:lnTo>
                  <a:lnTo>
                    <a:pt x="45" y="256"/>
                  </a:lnTo>
                  <a:lnTo>
                    <a:pt x="35" y="275"/>
                  </a:lnTo>
                  <a:lnTo>
                    <a:pt x="27" y="296"/>
                  </a:lnTo>
                  <a:lnTo>
                    <a:pt x="21" y="317"/>
                  </a:lnTo>
                  <a:lnTo>
                    <a:pt x="14" y="338"/>
                  </a:lnTo>
                  <a:lnTo>
                    <a:pt x="9" y="360"/>
                  </a:lnTo>
                  <a:lnTo>
                    <a:pt x="5" y="382"/>
                  </a:lnTo>
                  <a:lnTo>
                    <a:pt x="2" y="404"/>
                  </a:lnTo>
                  <a:lnTo>
                    <a:pt x="1" y="427"/>
                  </a:lnTo>
                  <a:lnTo>
                    <a:pt x="0" y="450"/>
                  </a:lnTo>
                  <a:lnTo>
                    <a:pt x="1" y="474"/>
                  </a:lnTo>
                  <a:lnTo>
                    <a:pt x="2" y="497"/>
                  </a:lnTo>
                  <a:lnTo>
                    <a:pt x="5" y="519"/>
                  </a:lnTo>
                  <a:lnTo>
                    <a:pt x="10" y="542"/>
                  </a:lnTo>
                  <a:lnTo>
                    <a:pt x="14" y="563"/>
                  </a:lnTo>
                  <a:lnTo>
                    <a:pt x="21" y="585"/>
                  </a:lnTo>
                  <a:lnTo>
                    <a:pt x="27" y="606"/>
                  </a:lnTo>
                  <a:lnTo>
                    <a:pt x="35" y="626"/>
                  </a:lnTo>
                  <a:lnTo>
                    <a:pt x="45" y="645"/>
                  </a:lnTo>
                  <a:lnTo>
                    <a:pt x="55" y="665"/>
                  </a:lnTo>
                  <a:lnTo>
                    <a:pt x="65" y="684"/>
                  </a:lnTo>
                  <a:lnTo>
                    <a:pt x="77" y="703"/>
                  </a:lnTo>
                  <a:lnTo>
                    <a:pt x="90" y="720"/>
                  </a:lnTo>
                  <a:lnTo>
                    <a:pt x="103" y="737"/>
                  </a:lnTo>
                  <a:lnTo>
                    <a:pt x="118" y="753"/>
                  </a:lnTo>
                  <a:lnTo>
                    <a:pt x="132" y="769"/>
                  </a:lnTo>
                  <a:lnTo>
                    <a:pt x="147" y="784"/>
                  </a:lnTo>
                  <a:lnTo>
                    <a:pt x="164" y="798"/>
                  </a:lnTo>
                  <a:lnTo>
                    <a:pt x="182" y="812"/>
                  </a:lnTo>
                  <a:lnTo>
                    <a:pt x="199" y="824"/>
                  </a:lnTo>
                  <a:lnTo>
                    <a:pt x="217" y="836"/>
                  </a:lnTo>
                  <a:lnTo>
                    <a:pt x="236" y="847"/>
                  </a:lnTo>
                  <a:lnTo>
                    <a:pt x="255" y="857"/>
                  </a:lnTo>
                  <a:lnTo>
                    <a:pt x="275" y="866"/>
                  </a:lnTo>
                  <a:lnTo>
                    <a:pt x="296" y="874"/>
                  </a:lnTo>
                  <a:lnTo>
                    <a:pt x="317" y="881"/>
                  </a:lnTo>
                  <a:lnTo>
                    <a:pt x="338" y="886"/>
                  </a:lnTo>
                  <a:lnTo>
                    <a:pt x="360" y="892"/>
                  </a:lnTo>
                  <a:lnTo>
                    <a:pt x="382" y="896"/>
                  </a:lnTo>
                  <a:lnTo>
                    <a:pt x="405" y="899"/>
                  </a:lnTo>
                  <a:lnTo>
                    <a:pt x="427" y="901"/>
                  </a:lnTo>
                  <a:lnTo>
                    <a:pt x="450" y="901"/>
                  </a:lnTo>
                  <a:lnTo>
                    <a:pt x="473" y="901"/>
                  </a:lnTo>
                  <a:lnTo>
                    <a:pt x="496" y="899"/>
                  </a:lnTo>
                  <a:lnTo>
                    <a:pt x="520" y="896"/>
                  </a:lnTo>
                  <a:lnTo>
                    <a:pt x="542" y="892"/>
                  </a:lnTo>
                  <a:lnTo>
                    <a:pt x="563" y="886"/>
                  </a:lnTo>
                  <a:lnTo>
                    <a:pt x="585" y="881"/>
                  </a:lnTo>
                  <a:lnTo>
                    <a:pt x="605" y="874"/>
                  </a:lnTo>
                  <a:lnTo>
                    <a:pt x="625" y="866"/>
                  </a:lnTo>
                  <a:lnTo>
                    <a:pt x="646" y="857"/>
                  </a:lnTo>
                  <a:lnTo>
                    <a:pt x="665" y="847"/>
                  </a:lnTo>
                  <a:lnTo>
                    <a:pt x="684" y="836"/>
                  </a:lnTo>
                  <a:lnTo>
                    <a:pt x="702" y="824"/>
                  </a:lnTo>
                  <a:lnTo>
                    <a:pt x="720" y="812"/>
                  </a:lnTo>
                  <a:lnTo>
                    <a:pt x="737" y="798"/>
                  </a:lnTo>
                  <a:lnTo>
                    <a:pt x="753" y="784"/>
                  </a:lnTo>
                  <a:lnTo>
                    <a:pt x="768" y="769"/>
                  </a:lnTo>
                  <a:lnTo>
                    <a:pt x="784" y="753"/>
                  </a:lnTo>
                  <a:lnTo>
                    <a:pt x="798" y="737"/>
                  </a:lnTo>
                  <a:lnTo>
                    <a:pt x="811" y="720"/>
                  </a:lnTo>
                  <a:lnTo>
                    <a:pt x="823" y="703"/>
                  </a:lnTo>
                  <a:lnTo>
                    <a:pt x="836" y="684"/>
                  </a:lnTo>
                  <a:lnTo>
                    <a:pt x="847" y="665"/>
                  </a:lnTo>
                  <a:lnTo>
                    <a:pt x="857" y="645"/>
                  </a:lnTo>
                  <a:lnTo>
                    <a:pt x="865" y="626"/>
                  </a:lnTo>
                  <a:lnTo>
                    <a:pt x="874" y="606"/>
                  </a:lnTo>
                  <a:lnTo>
                    <a:pt x="881" y="585"/>
                  </a:lnTo>
                  <a:lnTo>
                    <a:pt x="887" y="563"/>
                  </a:lnTo>
                  <a:lnTo>
                    <a:pt x="892" y="542"/>
                  </a:lnTo>
                  <a:lnTo>
                    <a:pt x="896" y="519"/>
                  </a:lnTo>
                  <a:lnTo>
                    <a:pt x="898" y="497"/>
                  </a:lnTo>
                  <a:lnTo>
                    <a:pt x="901" y="474"/>
                  </a:lnTo>
                  <a:lnTo>
                    <a:pt x="901" y="450"/>
                  </a:lnTo>
                  <a:lnTo>
                    <a:pt x="901" y="428"/>
                  </a:lnTo>
                  <a:lnTo>
                    <a:pt x="899" y="406"/>
                  </a:lnTo>
                  <a:lnTo>
                    <a:pt x="896" y="386"/>
                  </a:lnTo>
                  <a:lnTo>
                    <a:pt x="893" y="365"/>
                  </a:lnTo>
                  <a:lnTo>
                    <a:pt x="888" y="344"/>
                  </a:lnTo>
                  <a:lnTo>
                    <a:pt x="883" y="323"/>
                  </a:lnTo>
                  <a:lnTo>
                    <a:pt x="876" y="303"/>
                  </a:lnTo>
                  <a:lnTo>
                    <a:pt x="869" y="283"/>
                  </a:lnTo>
                  <a:lnTo>
                    <a:pt x="860" y="264"/>
                  </a:lnTo>
                  <a:lnTo>
                    <a:pt x="851" y="246"/>
                  </a:lnTo>
                  <a:lnTo>
                    <a:pt x="841" y="227"/>
                  </a:lnTo>
                  <a:lnTo>
                    <a:pt x="830" y="209"/>
                  </a:lnTo>
                  <a:lnTo>
                    <a:pt x="819" y="192"/>
                  </a:lnTo>
                  <a:lnTo>
                    <a:pt x="807" y="175"/>
                  </a:lnTo>
                  <a:lnTo>
                    <a:pt x="794" y="160"/>
                  </a:lnTo>
                  <a:lnTo>
                    <a:pt x="781" y="144"/>
                  </a:lnTo>
                  <a:lnTo>
                    <a:pt x="781" y="144"/>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8" name="Group 7">
            <a:extLst>
              <a:ext uri="{FF2B5EF4-FFF2-40B4-BE49-F238E27FC236}">
                <a16:creationId xmlns:a16="http://schemas.microsoft.com/office/drawing/2014/main" id="{0765B927-68C9-9C0C-BE1D-B40E28C81ABE}"/>
              </a:ext>
            </a:extLst>
          </p:cNvPr>
          <p:cNvGrpSpPr/>
          <p:nvPr/>
        </p:nvGrpSpPr>
        <p:grpSpPr>
          <a:xfrm>
            <a:off x="5900468" y="2594056"/>
            <a:ext cx="5426528" cy="1085850"/>
            <a:chOff x="5900468" y="3007376"/>
            <a:chExt cx="5426528" cy="1085850"/>
          </a:xfrm>
        </p:grpSpPr>
        <p:grpSp>
          <p:nvGrpSpPr>
            <p:cNvPr id="4" name="Group 3">
              <a:extLst>
                <a:ext uri="{FF2B5EF4-FFF2-40B4-BE49-F238E27FC236}">
                  <a16:creationId xmlns:a16="http://schemas.microsoft.com/office/drawing/2014/main" id="{90BC8A0B-2AC0-6469-1D41-BA43101712BF}"/>
                </a:ext>
              </a:extLst>
            </p:cNvPr>
            <p:cNvGrpSpPr/>
            <p:nvPr/>
          </p:nvGrpSpPr>
          <p:grpSpPr>
            <a:xfrm>
              <a:off x="5900468" y="3007376"/>
              <a:ext cx="5426528" cy="1085850"/>
              <a:chOff x="5900468" y="3007376"/>
              <a:chExt cx="5426528" cy="1085850"/>
            </a:xfrm>
          </p:grpSpPr>
          <p:sp>
            <p:nvSpPr>
              <p:cNvPr id="45" name="Parallelogram 44">
                <a:extLst>
                  <a:ext uri="{FF2B5EF4-FFF2-40B4-BE49-F238E27FC236}">
                    <a16:creationId xmlns:a16="http://schemas.microsoft.com/office/drawing/2014/main" id="{1C4590A3-D344-4733-96F0-F01B49F63CB3}"/>
                  </a:ext>
                </a:extLst>
              </p:cNvPr>
              <p:cNvSpPr/>
              <p:nvPr/>
            </p:nvSpPr>
            <p:spPr>
              <a:xfrm>
                <a:off x="5900468" y="3007376"/>
                <a:ext cx="5426528" cy="1085850"/>
              </a:xfrm>
              <a:prstGeom prst="parallelogram">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9AB44567-747F-471B-B451-E58A5B525EFD}"/>
                  </a:ext>
                </a:extLst>
              </p:cNvPr>
              <p:cNvSpPr txBox="1"/>
              <p:nvPr/>
            </p:nvSpPr>
            <p:spPr>
              <a:xfrm>
                <a:off x="6214429" y="3259171"/>
                <a:ext cx="4015421" cy="646331"/>
              </a:xfrm>
              <a:prstGeom prst="rect">
                <a:avLst/>
              </a:prstGeom>
              <a:noFill/>
              <a:ln w="6350">
                <a:noFill/>
                <a:prstDash val="dash"/>
              </a:ln>
            </p:spPr>
            <p:txBody>
              <a:bodyPr wrap="square" lIns="0" tIns="0" rIns="0" bIns="0" rtlCol="0" anchor="ctr">
                <a:spAutoFit/>
              </a:bodyPr>
              <a:lstStyle/>
              <a:p>
                <a:r>
                  <a:rPr lang="en-US" sz="1400" dirty="0">
                    <a:solidFill>
                      <a:schemeClr val="bg1"/>
                    </a:solidFill>
                  </a:rPr>
                  <a:t>Audience with unclassified province makes up a total of 176 audience watching Bright TV and are leading the 3 province which are NC, FS and NW.</a:t>
                </a:r>
              </a:p>
            </p:txBody>
          </p:sp>
        </p:grpSp>
        <p:sp>
          <p:nvSpPr>
            <p:cNvPr id="54" name="Freeform 2572">
              <a:extLst>
                <a:ext uri="{FF2B5EF4-FFF2-40B4-BE49-F238E27FC236}">
                  <a16:creationId xmlns:a16="http://schemas.microsoft.com/office/drawing/2014/main" id="{F834A67C-0B11-4930-BC86-E58E2F1F0D46}"/>
                </a:ext>
              </a:extLst>
            </p:cNvPr>
            <p:cNvSpPr>
              <a:spLocks noEditPoints="1"/>
            </p:cNvSpPr>
            <p:nvPr/>
          </p:nvSpPr>
          <p:spPr bwMode="auto">
            <a:xfrm>
              <a:off x="10553790" y="3421714"/>
              <a:ext cx="285750" cy="257175"/>
            </a:xfrm>
            <a:custGeom>
              <a:avLst/>
              <a:gdLst>
                <a:gd name="T0" fmla="*/ 335 w 901"/>
                <a:gd name="T1" fmla="*/ 206 h 812"/>
                <a:gd name="T2" fmla="*/ 332 w 901"/>
                <a:gd name="T3" fmla="*/ 190 h 812"/>
                <a:gd name="T4" fmla="*/ 345 w 901"/>
                <a:gd name="T5" fmla="*/ 181 h 812"/>
                <a:gd name="T6" fmla="*/ 568 w 901"/>
                <a:gd name="T7" fmla="*/ 187 h 812"/>
                <a:gd name="T8" fmla="*/ 568 w 901"/>
                <a:gd name="T9" fmla="*/ 204 h 812"/>
                <a:gd name="T10" fmla="*/ 555 w 901"/>
                <a:gd name="T11" fmla="*/ 211 h 812"/>
                <a:gd name="T12" fmla="*/ 335 w 901"/>
                <a:gd name="T13" fmla="*/ 296 h 812"/>
                <a:gd name="T14" fmla="*/ 332 w 901"/>
                <a:gd name="T15" fmla="*/ 280 h 812"/>
                <a:gd name="T16" fmla="*/ 345 w 901"/>
                <a:gd name="T17" fmla="*/ 271 h 812"/>
                <a:gd name="T18" fmla="*/ 568 w 901"/>
                <a:gd name="T19" fmla="*/ 278 h 812"/>
                <a:gd name="T20" fmla="*/ 568 w 901"/>
                <a:gd name="T21" fmla="*/ 294 h 812"/>
                <a:gd name="T22" fmla="*/ 555 w 901"/>
                <a:gd name="T23" fmla="*/ 391 h 812"/>
                <a:gd name="T24" fmla="*/ 333 w 901"/>
                <a:gd name="T25" fmla="*/ 384 h 812"/>
                <a:gd name="T26" fmla="*/ 333 w 901"/>
                <a:gd name="T27" fmla="*/ 368 h 812"/>
                <a:gd name="T28" fmla="*/ 555 w 901"/>
                <a:gd name="T29" fmla="*/ 361 h 812"/>
                <a:gd name="T30" fmla="*/ 570 w 901"/>
                <a:gd name="T31" fmla="*/ 370 h 812"/>
                <a:gd name="T32" fmla="*/ 566 w 901"/>
                <a:gd name="T33" fmla="*/ 387 h 812"/>
                <a:gd name="T34" fmla="*/ 555 w 901"/>
                <a:gd name="T35" fmla="*/ 481 h 812"/>
                <a:gd name="T36" fmla="*/ 333 w 901"/>
                <a:gd name="T37" fmla="*/ 475 h 812"/>
                <a:gd name="T38" fmla="*/ 333 w 901"/>
                <a:gd name="T39" fmla="*/ 458 h 812"/>
                <a:gd name="T40" fmla="*/ 555 w 901"/>
                <a:gd name="T41" fmla="*/ 451 h 812"/>
                <a:gd name="T42" fmla="*/ 570 w 901"/>
                <a:gd name="T43" fmla="*/ 460 h 812"/>
                <a:gd name="T44" fmla="*/ 566 w 901"/>
                <a:gd name="T45" fmla="*/ 477 h 812"/>
                <a:gd name="T46" fmla="*/ 555 w 901"/>
                <a:gd name="T47" fmla="*/ 572 h 812"/>
                <a:gd name="T48" fmla="*/ 333 w 901"/>
                <a:gd name="T49" fmla="*/ 565 h 812"/>
                <a:gd name="T50" fmla="*/ 333 w 901"/>
                <a:gd name="T51" fmla="*/ 547 h 812"/>
                <a:gd name="T52" fmla="*/ 555 w 901"/>
                <a:gd name="T53" fmla="*/ 541 h 812"/>
                <a:gd name="T54" fmla="*/ 570 w 901"/>
                <a:gd name="T55" fmla="*/ 551 h 812"/>
                <a:gd name="T56" fmla="*/ 566 w 901"/>
                <a:gd name="T57" fmla="*/ 567 h 812"/>
                <a:gd name="T58" fmla="*/ 345 w 901"/>
                <a:gd name="T59" fmla="*/ 661 h 812"/>
                <a:gd name="T60" fmla="*/ 332 w 901"/>
                <a:gd name="T61" fmla="*/ 652 h 812"/>
                <a:gd name="T62" fmla="*/ 335 w 901"/>
                <a:gd name="T63" fmla="*/ 635 h 812"/>
                <a:gd name="T64" fmla="*/ 559 w 901"/>
                <a:gd name="T65" fmla="*/ 631 h 812"/>
                <a:gd name="T66" fmla="*/ 571 w 901"/>
                <a:gd name="T67" fmla="*/ 643 h 812"/>
                <a:gd name="T68" fmla="*/ 564 w 901"/>
                <a:gd name="T69" fmla="*/ 659 h 812"/>
                <a:gd name="T70" fmla="*/ 871 w 901"/>
                <a:gd name="T71" fmla="*/ 781 h 812"/>
                <a:gd name="T72" fmla="*/ 865 w 901"/>
                <a:gd name="T73" fmla="*/ 424 h 812"/>
                <a:gd name="T74" fmla="*/ 750 w 901"/>
                <a:gd name="T75" fmla="*/ 372 h 812"/>
                <a:gd name="T76" fmla="*/ 739 w 901"/>
                <a:gd name="T77" fmla="*/ 361 h 812"/>
                <a:gd name="T78" fmla="*/ 724 w 901"/>
                <a:gd name="T79" fmla="*/ 368 h 812"/>
                <a:gd name="T80" fmla="*/ 703 w 901"/>
                <a:gd name="T81" fmla="*/ 421 h 812"/>
                <a:gd name="T82" fmla="*/ 691 w 901"/>
                <a:gd name="T83" fmla="*/ 433 h 812"/>
                <a:gd name="T84" fmla="*/ 629 w 901"/>
                <a:gd name="T85" fmla="*/ 99 h 812"/>
                <a:gd name="T86" fmla="*/ 616 w 901"/>
                <a:gd name="T87" fmla="*/ 91 h 812"/>
                <a:gd name="T88" fmla="*/ 537 w 901"/>
                <a:gd name="T89" fmla="*/ 5 h 812"/>
                <a:gd name="T90" fmla="*/ 372 w 901"/>
                <a:gd name="T91" fmla="*/ 1 h 812"/>
                <a:gd name="T92" fmla="*/ 360 w 901"/>
                <a:gd name="T93" fmla="*/ 12 h 812"/>
                <a:gd name="T94" fmla="*/ 277 w 901"/>
                <a:gd name="T95" fmla="*/ 93 h 812"/>
                <a:gd name="T96" fmla="*/ 270 w 901"/>
                <a:gd name="T97" fmla="*/ 781 h 812"/>
                <a:gd name="T98" fmla="*/ 206 w 901"/>
                <a:gd name="T99" fmla="*/ 425 h 812"/>
                <a:gd name="T100" fmla="*/ 180 w 901"/>
                <a:gd name="T101" fmla="*/ 376 h 812"/>
                <a:gd name="T102" fmla="*/ 171 w 901"/>
                <a:gd name="T103" fmla="*/ 362 h 812"/>
                <a:gd name="T104" fmla="*/ 154 w 901"/>
                <a:gd name="T105" fmla="*/ 366 h 812"/>
                <a:gd name="T106" fmla="*/ 45 w 901"/>
                <a:gd name="T107" fmla="*/ 421 h 812"/>
                <a:gd name="T108" fmla="*/ 31 w 901"/>
                <a:gd name="T109" fmla="*/ 431 h 812"/>
                <a:gd name="T110" fmla="*/ 9 w 901"/>
                <a:gd name="T111" fmla="*/ 783 h 812"/>
                <a:gd name="T112" fmla="*/ 0 w 901"/>
                <a:gd name="T113" fmla="*/ 796 h 812"/>
                <a:gd name="T114" fmla="*/ 9 w 901"/>
                <a:gd name="T115" fmla="*/ 811 h 812"/>
                <a:gd name="T116" fmla="*/ 616 w 901"/>
                <a:gd name="T117" fmla="*/ 812 h 812"/>
                <a:gd name="T118" fmla="*/ 894 w 901"/>
                <a:gd name="T119" fmla="*/ 808 h 812"/>
                <a:gd name="T120" fmla="*/ 901 w 901"/>
                <a:gd name="T121" fmla="*/ 793 h 812"/>
                <a:gd name="T122" fmla="*/ 889 w 901"/>
                <a:gd name="T123" fmla="*/ 782 h 8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901" h="812">
                  <a:moveTo>
                    <a:pt x="555" y="211"/>
                  </a:moveTo>
                  <a:lnTo>
                    <a:pt x="345" y="211"/>
                  </a:lnTo>
                  <a:lnTo>
                    <a:pt x="343" y="211"/>
                  </a:lnTo>
                  <a:lnTo>
                    <a:pt x="339" y="209"/>
                  </a:lnTo>
                  <a:lnTo>
                    <a:pt x="337" y="208"/>
                  </a:lnTo>
                  <a:lnTo>
                    <a:pt x="335" y="206"/>
                  </a:lnTo>
                  <a:lnTo>
                    <a:pt x="333" y="204"/>
                  </a:lnTo>
                  <a:lnTo>
                    <a:pt x="332" y="202"/>
                  </a:lnTo>
                  <a:lnTo>
                    <a:pt x="331" y="198"/>
                  </a:lnTo>
                  <a:lnTo>
                    <a:pt x="331" y="196"/>
                  </a:lnTo>
                  <a:lnTo>
                    <a:pt x="331" y="193"/>
                  </a:lnTo>
                  <a:lnTo>
                    <a:pt x="332" y="190"/>
                  </a:lnTo>
                  <a:lnTo>
                    <a:pt x="333" y="187"/>
                  </a:lnTo>
                  <a:lnTo>
                    <a:pt x="335" y="185"/>
                  </a:lnTo>
                  <a:lnTo>
                    <a:pt x="337" y="183"/>
                  </a:lnTo>
                  <a:lnTo>
                    <a:pt x="339" y="182"/>
                  </a:lnTo>
                  <a:lnTo>
                    <a:pt x="343" y="181"/>
                  </a:lnTo>
                  <a:lnTo>
                    <a:pt x="345" y="181"/>
                  </a:lnTo>
                  <a:lnTo>
                    <a:pt x="555" y="181"/>
                  </a:lnTo>
                  <a:lnTo>
                    <a:pt x="559" y="181"/>
                  </a:lnTo>
                  <a:lnTo>
                    <a:pt x="562" y="182"/>
                  </a:lnTo>
                  <a:lnTo>
                    <a:pt x="564" y="183"/>
                  </a:lnTo>
                  <a:lnTo>
                    <a:pt x="566" y="185"/>
                  </a:lnTo>
                  <a:lnTo>
                    <a:pt x="568" y="187"/>
                  </a:lnTo>
                  <a:lnTo>
                    <a:pt x="570" y="190"/>
                  </a:lnTo>
                  <a:lnTo>
                    <a:pt x="571" y="193"/>
                  </a:lnTo>
                  <a:lnTo>
                    <a:pt x="571" y="196"/>
                  </a:lnTo>
                  <a:lnTo>
                    <a:pt x="571" y="198"/>
                  </a:lnTo>
                  <a:lnTo>
                    <a:pt x="570" y="202"/>
                  </a:lnTo>
                  <a:lnTo>
                    <a:pt x="568" y="204"/>
                  </a:lnTo>
                  <a:lnTo>
                    <a:pt x="566" y="206"/>
                  </a:lnTo>
                  <a:lnTo>
                    <a:pt x="564" y="208"/>
                  </a:lnTo>
                  <a:lnTo>
                    <a:pt x="562" y="209"/>
                  </a:lnTo>
                  <a:lnTo>
                    <a:pt x="559" y="211"/>
                  </a:lnTo>
                  <a:lnTo>
                    <a:pt x="555" y="211"/>
                  </a:lnTo>
                  <a:lnTo>
                    <a:pt x="555" y="211"/>
                  </a:lnTo>
                  <a:close/>
                  <a:moveTo>
                    <a:pt x="555" y="301"/>
                  </a:moveTo>
                  <a:lnTo>
                    <a:pt x="345" y="301"/>
                  </a:lnTo>
                  <a:lnTo>
                    <a:pt x="343" y="301"/>
                  </a:lnTo>
                  <a:lnTo>
                    <a:pt x="339" y="300"/>
                  </a:lnTo>
                  <a:lnTo>
                    <a:pt x="337" y="299"/>
                  </a:lnTo>
                  <a:lnTo>
                    <a:pt x="335" y="296"/>
                  </a:lnTo>
                  <a:lnTo>
                    <a:pt x="333" y="294"/>
                  </a:lnTo>
                  <a:lnTo>
                    <a:pt x="332" y="292"/>
                  </a:lnTo>
                  <a:lnTo>
                    <a:pt x="331" y="289"/>
                  </a:lnTo>
                  <a:lnTo>
                    <a:pt x="331" y="285"/>
                  </a:lnTo>
                  <a:lnTo>
                    <a:pt x="331" y="283"/>
                  </a:lnTo>
                  <a:lnTo>
                    <a:pt x="332" y="280"/>
                  </a:lnTo>
                  <a:lnTo>
                    <a:pt x="333" y="278"/>
                  </a:lnTo>
                  <a:lnTo>
                    <a:pt x="335" y="275"/>
                  </a:lnTo>
                  <a:lnTo>
                    <a:pt x="337" y="273"/>
                  </a:lnTo>
                  <a:lnTo>
                    <a:pt x="339" y="272"/>
                  </a:lnTo>
                  <a:lnTo>
                    <a:pt x="343" y="271"/>
                  </a:lnTo>
                  <a:lnTo>
                    <a:pt x="345" y="271"/>
                  </a:lnTo>
                  <a:lnTo>
                    <a:pt x="555" y="271"/>
                  </a:lnTo>
                  <a:lnTo>
                    <a:pt x="559" y="271"/>
                  </a:lnTo>
                  <a:lnTo>
                    <a:pt x="562" y="272"/>
                  </a:lnTo>
                  <a:lnTo>
                    <a:pt x="564" y="273"/>
                  </a:lnTo>
                  <a:lnTo>
                    <a:pt x="566" y="275"/>
                  </a:lnTo>
                  <a:lnTo>
                    <a:pt x="568" y="278"/>
                  </a:lnTo>
                  <a:lnTo>
                    <a:pt x="570" y="280"/>
                  </a:lnTo>
                  <a:lnTo>
                    <a:pt x="571" y="283"/>
                  </a:lnTo>
                  <a:lnTo>
                    <a:pt x="571" y="285"/>
                  </a:lnTo>
                  <a:lnTo>
                    <a:pt x="571" y="289"/>
                  </a:lnTo>
                  <a:lnTo>
                    <a:pt x="570" y="292"/>
                  </a:lnTo>
                  <a:lnTo>
                    <a:pt x="568" y="294"/>
                  </a:lnTo>
                  <a:lnTo>
                    <a:pt x="566" y="296"/>
                  </a:lnTo>
                  <a:lnTo>
                    <a:pt x="564" y="299"/>
                  </a:lnTo>
                  <a:lnTo>
                    <a:pt x="562" y="300"/>
                  </a:lnTo>
                  <a:lnTo>
                    <a:pt x="559" y="301"/>
                  </a:lnTo>
                  <a:lnTo>
                    <a:pt x="555" y="301"/>
                  </a:lnTo>
                  <a:close/>
                  <a:moveTo>
                    <a:pt x="555" y="391"/>
                  </a:moveTo>
                  <a:lnTo>
                    <a:pt x="345" y="391"/>
                  </a:lnTo>
                  <a:lnTo>
                    <a:pt x="343" y="391"/>
                  </a:lnTo>
                  <a:lnTo>
                    <a:pt x="339" y="390"/>
                  </a:lnTo>
                  <a:lnTo>
                    <a:pt x="337" y="389"/>
                  </a:lnTo>
                  <a:lnTo>
                    <a:pt x="335" y="387"/>
                  </a:lnTo>
                  <a:lnTo>
                    <a:pt x="333" y="384"/>
                  </a:lnTo>
                  <a:lnTo>
                    <a:pt x="332" y="382"/>
                  </a:lnTo>
                  <a:lnTo>
                    <a:pt x="331" y="379"/>
                  </a:lnTo>
                  <a:lnTo>
                    <a:pt x="331" y="376"/>
                  </a:lnTo>
                  <a:lnTo>
                    <a:pt x="331" y="373"/>
                  </a:lnTo>
                  <a:lnTo>
                    <a:pt x="332" y="370"/>
                  </a:lnTo>
                  <a:lnTo>
                    <a:pt x="333" y="368"/>
                  </a:lnTo>
                  <a:lnTo>
                    <a:pt x="335" y="366"/>
                  </a:lnTo>
                  <a:lnTo>
                    <a:pt x="337" y="364"/>
                  </a:lnTo>
                  <a:lnTo>
                    <a:pt x="339" y="362"/>
                  </a:lnTo>
                  <a:lnTo>
                    <a:pt x="343" y="361"/>
                  </a:lnTo>
                  <a:lnTo>
                    <a:pt x="345" y="361"/>
                  </a:lnTo>
                  <a:lnTo>
                    <a:pt x="555" y="361"/>
                  </a:lnTo>
                  <a:lnTo>
                    <a:pt x="559" y="361"/>
                  </a:lnTo>
                  <a:lnTo>
                    <a:pt x="562" y="362"/>
                  </a:lnTo>
                  <a:lnTo>
                    <a:pt x="564" y="364"/>
                  </a:lnTo>
                  <a:lnTo>
                    <a:pt x="566" y="366"/>
                  </a:lnTo>
                  <a:lnTo>
                    <a:pt x="568" y="368"/>
                  </a:lnTo>
                  <a:lnTo>
                    <a:pt x="570" y="370"/>
                  </a:lnTo>
                  <a:lnTo>
                    <a:pt x="571" y="373"/>
                  </a:lnTo>
                  <a:lnTo>
                    <a:pt x="571" y="376"/>
                  </a:lnTo>
                  <a:lnTo>
                    <a:pt x="571" y="379"/>
                  </a:lnTo>
                  <a:lnTo>
                    <a:pt x="570" y="382"/>
                  </a:lnTo>
                  <a:lnTo>
                    <a:pt x="568" y="384"/>
                  </a:lnTo>
                  <a:lnTo>
                    <a:pt x="566" y="387"/>
                  </a:lnTo>
                  <a:lnTo>
                    <a:pt x="564" y="389"/>
                  </a:lnTo>
                  <a:lnTo>
                    <a:pt x="562" y="390"/>
                  </a:lnTo>
                  <a:lnTo>
                    <a:pt x="559" y="391"/>
                  </a:lnTo>
                  <a:lnTo>
                    <a:pt x="555" y="391"/>
                  </a:lnTo>
                  <a:lnTo>
                    <a:pt x="555" y="391"/>
                  </a:lnTo>
                  <a:close/>
                  <a:moveTo>
                    <a:pt x="555" y="481"/>
                  </a:moveTo>
                  <a:lnTo>
                    <a:pt x="345" y="481"/>
                  </a:lnTo>
                  <a:lnTo>
                    <a:pt x="343" y="480"/>
                  </a:lnTo>
                  <a:lnTo>
                    <a:pt x="339" y="480"/>
                  </a:lnTo>
                  <a:lnTo>
                    <a:pt x="337" y="478"/>
                  </a:lnTo>
                  <a:lnTo>
                    <a:pt x="335" y="477"/>
                  </a:lnTo>
                  <a:lnTo>
                    <a:pt x="333" y="475"/>
                  </a:lnTo>
                  <a:lnTo>
                    <a:pt x="332" y="471"/>
                  </a:lnTo>
                  <a:lnTo>
                    <a:pt x="331" y="469"/>
                  </a:lnTo>
                  <a:lnTo>
                    <a:pt x="331" y="466"/>
                  </a:lnTo>
                  <a:lnTo>
                    <a:pt x="331" y="463"/>
                  </a:lnTo>
                  <a:lnTo>
                    <a:pt x="332" y="460"/>
                  </a:lnTo>
                  <a:lnTo>
                    <a:pt x="333" y="458"/>
                  </a:lnTo>
                  <a:lnTo>
                    <a:pt x="335" y="455"/>
                  </a:lnTo>
                  <a:lnTo>
                    <a:pt x="337" y="454"/>
                  </a:lnTo>
                  <a:lnTo>
                    <a:pt x="339" y="453"/>
                  </a:lnTo>
                  <a:lnTo>
                    <a:pt x="343" y="452"/>
                  </a:lnTo>
                  <a:lnTo>
                    <a:pt x="345" y="451"/>
                  </a:lnTo>
                  <a:lnTo>
                    <a:pt x="555" y="451"/>
                  </a:lnTo>
                  <a:lnTo>
                    <a:pt x="559" y="452"/>
                  </a:lnTo>
                  <a:lnTo>
                    <a:pt x="562" y="453"/>
                  </a:lnTo>
                  <a:lnTo>
                    <a:pt x="564" y="454"/>
                  </a:lnTo>
                  <a:lnTo>
                    <a:pt x="566" y="455"/>
                  </a:lnTo>
                  <a:lnTo>
                    <a:pt x="568" y="458"/>
                  </a:lnTo>
                  <a:lnTo>
                    <a:pt x="570" y="460"/>
                  </a:lnTo>
                  <a:lnTo>
                    <a:pt x="571" y="463"/>
                  </a:lnTo>
                  <a:lnTo>
                    <a:pt x="571" y="466"/>
                  </a:lnTo>
                  <a:lnTo>
                    <a:pt x="571" y="469"/>
                  </a:lnTo>
                  <a:lnTo>
                    <a:pt x="570" y="471"/>
                  </a:lnTo>
                  <a:lnTo>
                    <a:pt x="568" y="475"/>
                  </a:lnTo>
                  <a:lnTo>
                    <a:pt x="566" y="477"/>
                  </a:lnTo>
                  <a:lnTo>
                    <a:pt x="564" y="478"/>
                  </a:lnTo>
                  <a:lnTo>
                    <a:pt x="562" y="480"/>
                  </a:lnTo>
                  <a:lnTo>
                    <a:pt x="559" y="480"/>
                  </a:lnTo>
                  <a:lnTo>
                    <a:pt x="555" y="481"/>
                  </a:lnTo>
                  <a:lnTo>
                    <a:pt x="555" y="481"/>
                  </a:lnTo>
                  <a:close/>
                  <a:moveTo>
                    <a:pt x="555" y="572"/>
                  </a:moveTo>
                  <a:lnTo>
                    <a:pt x="345" y="572"/>
                  </a:lnTo>
                  <a:lnTo>
                    <a:pt x="343" y="571"/>
                  </a:lnTo>
                  <a:lnTo>
                    <a:pt x="339" y="571"/>
                  </a:lnTo>
                  <a:lnTo>
                    <a:pt x="337" y="568"/>
                  </a:lnTo>
                  <a:lnTo>
                    <a:pt x="335" y="567"/>
                  </a:lnTo>
                  <a:lnTo>
                    <a:pt x="333" y="565"/>
                  </a:lnTo>
                  <a:lnTo>
                    <a:pt x="332" y="562"/>
                  </a:lnTo>
                  <a:lnTo>
                    <a:pt x="331" y="560"/>
                  </a:lnTo>
                  <a:lnTo>
                    <a:pt x="331" y="556"/>
                  </a:lnTo>
                  <a:lnTo>
                    <a:pt x="331" y="553"/>
                  </a:lnTo>
                  <a:lnTo>
                    <a:pt x="332" y="551"/>
                  </a:lnTo>
                  <a:lnTo>
                    <a:pt x="333" y="547"/>
                  </a:lnTo>
                  <a:lnTo>
                    <a:pt x="335" y="545"/>
                  </a:lnTo>
                  <a:lnTo>
                    <a:pt x="337" y="544"/>
                  </a:lnTo>
                  <a:lnTo>
                    <a:pt x="339" y="542"/>
                  </a:lnTo>
                  <a:lnTo>
                    <a:pt x="343" y="542"/>
                  </a:lnTo>
                  <a:lnTo>
                    <a:pt x="345" y="541"/>
                  </a:lnTo>
                  <a:lnTo>
                    <a:pt x="555" y="541"/>
                  </a:lnTo>
                  <a:lnTo>
                    <a:pt x="559" y="541"/>
                  </a:lnTo>
                  <a:lnTo>
                    <a:pt x="562" y="542"/>
                  </a:lnTo>
                  <a:lnTo>
                    <a:pt x="564" y="544"/>
                  </a:lnTo>
                  <a:lnTo>
                    <a:pt x="566" y="545"/>
                  </a:lnTo>
                  <a:lnTo>
                    <a:pt x="568" y="547"/>
                  </a:lnTo>
                  <a:lnTo>
                    <a:pt x="570" y="551"/>
                  </a:lnTo>
                  <a:lnTo>
                    <a:pt x="571" y="553"/>
                  </a:lnTo>
                  <a:lnTo>
                    <a:pt x="571" y="556"/>
                  </a:lnTo>
                  <a:lnTo>
                    <a:pt x="571" y="560"/>
                  </a:lnTo>
                  <a:lnTo>
                    <a:pt x="570" y="562"/>
                  </a:lnTo>
                  <a:lnTo>
                    <a:pt x="568" y="565"/>
                  </a:lnTo>
                  <a:lnTo>
                    <a:pt x="566" y="567"/>
                  </a:lnTo>
                  <a:lnTo>
                    <a:pt x="564" y="568"/>
                  </a:lnTo>
                  <a:lnTo>
                    <a:pt x="562" y="571"/>
                  </a:lnTo>
                  <a:lnTo>
                    <a:pt x="559" y="571"/>
                  </a:lnTo>
                  <a:lnTo>
                    <a:pt x="555" y="572"/>
                  </a:lnTo>
                  <a:close/>
                  <a:moveTo>
                    <a:pt x="555" y="661"/>
                  </a:moveTo>
                  <a:lnTo>
                    <a:pt x="345" y="661"/>
                  </a:lnTo>
                  <a:lnTo>
                    <a:pt x="343" y="661"/>
                  </a:lnTo>
                  <a:lnTo>
                    <a:pt x="339" y="660"/>
                  </a:lnTo>
                  <a:lnTo>
                    <a:pt x="337" y="659"/>
                  </a:lnTo>
                  <a:lnTo>
                    <a:pt x="335" y="656"/>
                  </a:lnTo>
                  <a:lnTo>
                    <a:pt x="333" y="654"/>
                  </a:lnTo>
                  <a:lnTo>
                    <a:pt x="332" y="652"/>
                  </a:lnTo>
                  <a:lnTo>
                    <a:pt x="331" y="650"/>
                  </a:lnTo>
                  <a:lnTo>
                    <a:pt x="331" y="646"/>
                  </a:lnTo>
                  <a:lnTo>
                    <a:pt x="331" y="643"/>
                  </a:lnTo>
                  <a:lnTo>
                    <a:pt x="332" y="640"/>
                  </a:lnTo>
                  <a:lnTo>
                    <a:pt x="333" y="638"/>
                  </a:lnTo>
                  <a:lnTo>
                    <a:pt x="335" y="635"/>
                  </a:lnTo>
                  <a:lnTo>
                    <a:pt x="337" y="633"/>
                  </a:lnTo>
                  <a:lnTo>
                    <a:pt x="339" y="632"/>
                  </a:lnTo>
                  <a:lnTo>
                    <a:pt x="343" y="631"/>
                  </a:lnTo>
                  <a:lnTo>
                    <a:pt x="345" y="631"/>
                  </a:lnTo>
                  <a:lnTo>
                    <a:pt x="555" y="631"/>
                  </a:lnTo>
                  <a:lnTo>
                    <a:pt x="559" y="631"/>
                  </a:lnTo>
                  <a:lnTo>
                    <a:pt x="562" y="632"/>
                  </a:lnTo>
                  <a:lnTo>
                    <a:pt x="564" y="633"/>
                  </a:lnTo>
                  <a:lnTo>
                    <a:pt x="566" y="635"/>
                  </a:lnTo>
                  <a:lnTo>
                    <a:pt x="568" y="638"/>
                  </a:lnTo>
                  <a:lnTo>
                    <a:pt x="570" y="640"/>
                  </a:lnTo>
                  <a:lnTo>
                    <a:pt x="571" y="643"/>
                  </a:lnTo>
                  <a:lnTo>
                    <a:pt x="571" y="646"/>
                  </a:lnTo>
                  <a:lnTo>
                    <a:pt x="571" y="649"/>
                  </a:lnTo>
                  <a:lnTo>
                    <a:pt x="570" y="652"/>
                  </a:lnTo>
                  <a:lnTo>
                    <a:pt x="568" y="654"/>
                  </a:lnTo>
                  <a:lnTo>
                    <a:pt x="566" y="656"/>
                  </a:lnTo>
                  <a:lnTo>
                    <a:pt x="564" y="659"/>
                  </a:lnTo>
                  <a:lnTo>
                    <a:pt x="562" y="660"/>
                  </a:lnTo>
                  <a:lnTo>
                    <a:pt x="559" y="661"/>
                  </a:lnTo>
                  <a:lnTo>
                    <a:pt x="555" y="661"/>
                  </a:lnTo>
                  <a:lnTo>
                    <a:pt x="555" y="661"/>
                  </a:lnTo>
                  <a:close/>
                  <a:moveTo>
                    <a:pt x="886" y="781"/>
                  </a:moveTo>
                  <a:lnTo>
                    <a:pt x="871" y="781"/>
                  </a:lnTo>
                  <a:lnTo>
                    <a:pt x="871" y="436"/>
                  </a:lnTo>
                  <a:lnTo>
                    <a:pt x="870" y="433"/>
                  </a:lnTo>
                  <a:lnTo>
                    <a:pt x="870" y="431"/>
                  </a:lnTo>
                  <a:lnTo>
                    <a:pt x="868" y="427"/>
                  </a:lnTo>
                  <a:lnTo>
                    <a:pt x="867" y="425"/>
                  </a:lnTo>
                  <a:lnTo>
                    <a:pt x="865" y="424"/>
                  </a:lnTo>
                  <a:lnTo>
                    <a:pt x="861" y="422"/>
                  </a:lnTo>
                  <a:lnTo>
                    <a:pt x="859" y="421"/>
                  </a:lnTo>
                  <a:lnTo>
                    <a:pt x="856" y="421"/>
                  </a:lnTo>
                  <a:lnTo>
                    <a:pt x="751" y="421"/>
                  </a:lnTo>
                  <a:lnTo>
                    <a:pt x="751" y="376"/>
                  </a:lnTo>
                  <a:lnTo>
                    <a:pt x="750" y="372"/>
                  </a:lnTo>
                  <a:lnTo>
                    <a:pt x="750" y="370"/>
                  </a:lnTo>
                  <a:lnTo>
                    <a:pt x="748" y="368"/>
                  </a:lnTo>
                  <a:lnTo>
                    <a:pt x="747" y="366"/>
                  </a:lnTo>
                  <a:lnTo>
                    <a:pt x="745" y="364"/>
                  </a:lnTo>
                  <a:lnTo>
                    <a:pt x="741" y="362"/>
                  </a:lnTo>
                  <a:lnTo>
                    <a:pt x="739" y="361"/>
                  </a:lnTo>
                  <a:lnTo>
                    <a:pt x="736" y="361"/>
                  </a:lnTo>
                  <a:lnTo>
                    <a:pt x="733" y="361"/>
                  </a:lnTo>
                  <a:lnTo>
                    <a:pt x="730" y="362"/>
                  </a:lnTo>
                  <a:lnTo>
                    <a:pt x="727" y="364"/>
                  </a:lnTo>
                  <a:lnTo>
                    <a:pt x="725" y="366"/>
                  </a:lnTo>
                  <a:lnTo>
                    <a:pt x="724" y="368"/>
                  </a:lnTo>
                  <a:lnTo>
                    <a:pt x="722" y="370"/>
                  </a:lnTo>
                  <a:lnTo>
                    <a:pt x="722" y="373"/>
                  </a:lnTo>
                  <a:lnTo>
                    <a:pt x="720" y="376"/>
                  </a:lnTo>
                  <a:lnTo>
                    <a:pt x="720" y="421"/>
                  </a:lnTo>
                  <a:lnTo>
                    <a:pt x="706" y="421"/>
                  </a:lnTo>
                  <a:lnTo>
                    <a:pt x="703" y="421"/>
                  </a:lnTo>
                  <a:lnTo>
                    <a:pt x="700" y="422"/>
                  </a:lnTo>
                  <a:lnTo>
                    <a:pt x="697" y="424"/>
                  </a:lnTo>
                  <a:lnTo>
                    <a:pt x="695" y="425"/>
                  </a:lnTo>
                  <a:lnTo>
                    <a:pt x="693" y="427"/>
                  </a:lnTo>
                  <a:lnTo>
                    <a:pt x="692" y="431"/>
                  </a:lnTo>
                  <a:lnTo>
                    <a:pt x="691" y="433"/>
                  </a:lnTo>
                  <a:lnTo>
                    <a:pt x="691" y="436"/>
                  </a:lnTo>
                  <a:lnTo>
                    <a:pt x="691" y="781"/>
                  </a:lnTo>
                  <a:lnTo>
                    <a:pt x="631" y="781"/>
                  </a:lnTo>
                  <a:lnTo>
                    <a:pt x="631" y="106"/>
                  </a:lnTo>
                  <a:lnTo>
                    <a:pt x="630" y="103"/>
                  </a:lnTo>
                  <a:lnTo>
                    <a:pt x="629" y="99"/>
                  </a:lnTo>
                  <a:lnTo>
                    <a:pt x="628" y="97"/>
                  </a:lnTo>
                  <a:lnTo>
                    <a:pt x="627" y="95"/>
                  </a:lnTo>
                  <a:lnTo>
                    <a:pt x="624" y="93"/>
                  </a:lnTo>
                  <a:lnTo>
                    <a:pt x="621" y="92"/>
                  </a:lnTo>
                  <a:lnTo>
                    <a:pt x="619" y="91"/>
                  </a:lnTo>
                  <a:lnTo>
                    <a:pt x="616" y="91"/>
                  </a:lnTo>
                  <a:lnTo>
                    <a:pt x="541" y="91"/>
                  </a:lnTo>
                  <a:lnTo>
                    <a:pt x="541" y="16"/>
                  </a:lnTo>
                  <a:lnTo>
                    <a:pt x="540" y="12"/>
                  </a:lnTo>
                  <a:lnTo>
                    <a:pt x="540" y="10"/>
                  </a:lnTo>
                  <a:lnTo>
                    <a:pt x="538" y="7"/>
                  </a:lnTo>
                  <a:lnTo>
                    <a:pt x="537" y="5"/>
                  </a:lnTo>
                  <a:lnTo>
                    <a:pt x="534" y="4"/>
                  </a:lnTo>
                  <a:lnTo>
                    <a:pt x="531" y="1"/>
                  </a:lnTo>
                  <a:lnTo>
                    <a:pt x="529" y="1"/>
                  </a:lnTo>
                  <a:lnTo>
                    <a:pt x="526" y="0"/>
                  </a:lnTo>
                  <a:lnTo>
                    <a:pt x="376" y="0"/>
                  </a:lnTo>
                  <a:lnTo>
                    <a:pt x="372" y="1"/>
                  </a:lnTo>
                  <a:lnTo>
                    <a:pt x="369" y="1"/>
                  </a:lnTo>
                  <a:lnTo>
                    <a:pt x="367" y="4"/>
                  </a:lnTo>
                  <a:lnTo>
                    <a:pt x="365" y="5"/>
                  </a:lnTo>
                  <a:lnTo>
                    <a:pt x="363" y="7"/>
                  </a:lnTo>
                  <a:lnTo>
                    <a:pt x="361" y="10"/>
                  </a:lnTo>
                  <a:lnTo>
                    <a:pt x="360" y="12"/>
                  </a:lnTo>
                  <a:lnTo>
                    <a:pt x="360" y="16"/>
                  </a:lnTo>
                  <a:lnTo>
                    <a:pt x="360" y="91"/>
                  </a:lnTo>
                  <a:lnTo>
                    <a:pt x="286" y="91"/>
                  </a:lnTo>
                  <a:lnTo>
                    <a:pt x="282" y="91"/>
                  </a:lnTo>
                  <a:lnTo>
                    <a:pt x="280" y="92"/>
                  </a:lnTo>
                  <a:lnTo>
                    <a:pt x="277" y="93"/>
                  </a:lnTo>
                  <a:lnTo>
                    <a:pt x="274" y="95"/>
                  </a:lnTo>
                  <a:lnTo>
                    <a:pt x="273" y="97"/>
                  </a:lnTo>
                  <a:lnTo>
                    <a:pt x="271" y="99"/>
                  </a:lnTo>
                  <a:lnTo>
                    <a:pt x="270" y="103"/>
                  </a:lnTo>
                  <a:lnTo>
                    <a:pt x="270" y="106"/>
                  </a:lnTo>
                  <a:lnTo>
                    <a:pt x="270" y="781"/>
                  </a:lnTo>
                  <a:lnTo>
                    <a:pt x="211" y="781"/>
                  </a:lnTo>
                  <a:lnTo>
                    <a:pt x="211" y="436"/>
                  </a:lnTo>
                  <a:lnTo>
                    <a:pt x="210" y="433"/>
                  </a:lnTo>
                  <a:lnTo>
                    <a:pt x="210" y="431"/>
                  </a:lnTo>
                  <a:lnTo>
                    <a:pt x="207" y="427"/>
                  </a:lnTo>
                  <a:lnTo>
                    <a:pt x="206" y="425"/>
                  </a:lnTo>
                  <a:lnTo>
                    <a:pt x="204" y="424"/>
                  </a:lnTo>
                  <a:lnTo>
                    <a:pt x="201" y="422"/>
                  </a:lnTo>
                  <a:lnTo>
                    <a:pt x="199" y="421"/>
                  </a:lnTo>
                  <a:lnTo>
                    <a:pt x="195" y="421"/>
                  </a:lnTo>
                  <a:lnTo>
                    <a:pt x="180" y="421"/>
                  </a:lnTo>
                  <a:lnTo>
                    <a:pt x="180" y="376"/>
                  </a:lnTo>
                  <a:lnTo>
                    <a:pt x="180" y="372"/>
                  </a:lnTo>
                  <a:lnTo>
                    <a:pt x="179" y="370"/>
                  </a:lnTo>
                  <a:lnTo>
                    <a:pt x="178" y="368"/>
                  </a:lnTo>
                  <a:lnTo>
                    <a:pt x="175" y="366"/>
                  </a:lnTo>
                  <a:lnTo>
                    <a:pt x="173" y="364"/>
                  </a:lnTo>
                  <a:lnTo>
                    <a:pt x="171" y="362"/>
                  </a:lnTo>
                  <a:lnTo>
                    <a:pt x="168" y="361"/>
                  </a:lnTo>
                  <a:lnTo>
                    <a:pt x="165" y="361"/>
                  </a:lnTo>
                  <a:lnTo>
                    <a:pt x="162" y="361"/>
                  </a:lnTo>
                  <a:lnTo>
                    <a:pt x="159" y="362"/>
                  </a:lnTo>
                  <a:lnTo>
                    <a:pt x="157" y="364"/>
                  </a:lnTo>
                  <a:lnTo>
                    <a:pt x="154" y="366"/>
                  </a:lnTo>
                  <a:lnTo>
                    <a:pt x="152" y="368"/>
                  </a:lnTo>
                  <a:lnTo>
                    <a:pt x="151" y="370"/>
                  </a:lnTo>
                  <a:lnTo>
                    <a:pt x="150" y="373"/>
                  </a:lnTo>
                  <a:lnTo>
                    <a:pt x="150" y="376"/>
                  </a:lnTo>
                  <a:lnTo>
                    <a:pt x="150" y="421"/>
                  </a:lnTo>
                  <a:lnTo>
                    <a:pt x="45" y="421"/>
                  </a:lnTo>
                  <a:lnTo>
                    <a:pt x="42" y="421"/>
                  </a:lnTo>
                  <a:lnTo>
                    <a:pt x="39" y="422"/>
                  </a:lnTo>
                  <a:lnTo>
                    <a:pt x="37" y="424"/>
                  </a:lnTo>
                  <a:lnTo>
                    <a:pt x="34" y="425"/>
                  </a:lnTo>
                  <a:lnTo>
                    <a:pt x="32" y="427"/>
                  </a:lnTo>
                  <a:lnTo>
                    <a:pt x="31" y="431"/>
                  </a:lnTo>
                  <a:lnTo>
                    <a:pt x="30" y="433"/>
                  </a:lnTo>
                  <a:lnTo>
                    <a:pt x="30" y="436"/>
                  </a:lnTo>
                  <a:lnTo>
                    <a:pt x="30" y="781"/>
                  </a:lnTo>
                  <a:lnTo>
                    <a:pt x="15" y="781"/>
                  </a:lnTo>
                  <a:lnTo>
                    <a:pt x="12" y="782"/>
                  </a:lnTo>
                  <a:lnTo>
                    <a:pt x="9" y="783"/>
                  </a:lnTo>
                  <a:lnTo>
                    <a:pt x="7" y="784"/>
                  </a:lnTo>
                  <a:lnTo>
                    <a:pt x="5" y="786"/>
                  </a:lnTo>
                  <a:lnTo>
                    <a:pt x="3" y="789"/>
                  </a:lnTo>
                  <a:lnTo>
                    <a:pt x="1" y="791"/>
                  </a:lnTo>
                  <a:lnTo>
                    <a:pt x="0" y="793"/>
                  </a:lnTo>
                  <a:lnTo>
                    <a:pt x="0" y="796"/>
                  </a:lnTo>
                  <a:lnTo>
                    <a:pt x="0" y="800"/>
                  </a:lnTo>
                  <a:lnTo>
                    <a:pt x="1" y="802"/>
                  </a:lnTo>
                  <a:lnTo>
                    <a:pt x="3" y="805"/>
                  </a:lnTo>
                  <a:lnTo>
                    <a:pt x="5" y="807"/>
                  </a:lnTo>
                  <a:lnTo>
                    <a:pt x="7" y="808"/>
                  </a:lnTo>
                  <a:lnTo>
                    <a:pt x="9" y="811"/>
                  </a:lnTo>
                  <a:lnTo>
                    <a:pt x="12" y="812"/>
                  </a:lnTo>
                  <a:lnTo>
                    <a:pt x="15" y="812"/>
                  </a:lnTo>
                  <a:lnTo>
                    <a:pt x="45" y="812"/>
                  </a:lnTo>
                  <a:lnTo>
                    <a:pt x="195" y="812"/>
                  </a:lnTo>
                  <a:lnTo>
                    <a:pt x="286" y="812"/>
                  </a:lnTo>
                  <a:lnTo>
                    <a:pt x="616" y="812"/>
                  </a:lnTo>
                  <a:lnTo>
                    <a:pt x="706" y="812"/>
                  </a:lnTo>
                  <a:lnTo>
                    <a:pt x="856" y="812"/>
                  </a:lnTo>
                  <a:lnTo>
                    <a:pt x="886" y="812"/>
                  </a:lnTo>
                  <a:lnTo>
                    <a:pt x="889" y="811"/>
                  </a:lnTo>
                  <a:lnTo>
                    <a:pt x="892" y="811"/>
                  </a:lnTo>
                  <a:lnTo>
                    <a:pt x="894" y="808"/>
                  </a:lnTo>
                  <a:lnTo>
                    <a:pt x="897" y="807"/>
                  </a:lnTo>
                  <a:lnTo>
                    <a:pt x="899" y="805"/>
                  </a:lnTo>
                  <a:lnTo>
                    <a:pt x="900" y="802"/>
                  </a:lnTo>
                  <a:lnTo>
                    <a:pt x="901" y="800"/>
                  </a:lnTo>
                  <a:lnTo>
                    <a:pt x="901" y="796"/>
                  </a:lnTo>
                  <a:lnTo>
                    <a:pt x="901" y="793"/>
                  </a:lnTo>
                  <a:lnTo>
                    <a:pt x="900" y="791"/>
                  </a:lnTo>
                  <a:lnTo>
                    <a:pt x="899" y="789"/>
                  </a:lnTo>
                  <a:lnTo>
                    <a:pt x="897" y="786"/>
                  </a:lnTo>
                  <a:lnTo>
                    <a:pt x="894" y="784"/>
                  </a:lnTo>
                  <a:lnTo>
                    <a:pt x="892" y="783"/>
                  </a:lnTo>
                  <a:lnTo>
                    <a:pt x="889" y="782"/>
                  </a:lnTo>
                  <a:lnTo>
                    <a:pt x="886" y="782"/>
                  </a:lnTo>
                  <a:lnTo>
                    <a:pt x="886" y="781"/>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grpSp>
      <p:graphicFrame>
        <p:nvGraphicFramePr>
          <p:cNvPr id="2" name="Chart 1">
            <a:extLst>
              <a:ext uri="{FF2B5EF4-FFF2-40B4-BE49-F238E27FC236}">
                <a16:creationId xmlns:a16="http://schemas.microsoft.com/office/drawing/2014/main" id="{292E5C25-71C1-4819-8CC4-698F9191486B}"/>
              </a:ext>
            </a:extLst>
          </p:cNvPr>
          <p:cNvGraphicFramePr>
            <a:graphicFrameLocks/>
          </p:cNvGraphicFramePr>
          <p:nvPr>
            <p:extLst>
              <p:ext uri="{D42A27DB-BD31-4B8C-83A1-F6EECF244321}">
                <p14:modId xmlns:p14="http://schemas.microsoft.com/office/powerpoint/2010/main" val="2342287978"/>
              </p:ext>
            </p:extLst>
          </p:nvPr>
        </p:nvGraphicFramePr>
        <p:xfrm>
          <a:off x="626626" y="1016319"/>
          <a:ext cx="4949901" cy="5185232"/>
        </p:xfrm>
        <a:graphic>
          <a:graphicData uri="http://schemas.openxmlformats.org/drawingml/2006/chart">
            <c:chart xmlns:c="http://schemas.openxmlformats.org/drawingml/2006/chart" xmlns:r="http://schemas.openxmlformats.org/officeDocument/2006/relationships" r:id="rId2"/>
          </a:graphicData>
        </a:graphic>
      </p:graphicFrame>
      <p:sp>
        <p:nvSpPr>
          <p:cNvPr id="15" name="TextBox 14">
            <a:extLst>
              <a:ext uri="{FF2B5EF4-FFF2-40B4-BE49-F238E27FC236}">
                <a16:creationId xmlns:a16="http://schemas.microsoft.com/office/drawing/2014/main" id="{E3D17DE7-18AB-50D6-FC4E-595888B07561}"/>
              </a:ext>
            </a:extLst>
          </p:cNvPr>
          <p:cNvSpPr txBox="1"/>
          <p:nvPr/>
        </p:nvSpPr>
        <p:spPr>
          <a:xfrm>
            <a:off x="5900468" y="5590229"/>
            <a:ext cx="2371726" cy="492443"/>
          </a:xfrm>
          <a:prstGeom prst="rect">
            <a:avLst/>
          </a:prstGeom>
          <a:solidFill>
            <a:schemeClr val="accent3"/>
          </a:solidFill>
          <a:ln w="6350">
            <a:noFill/>
            <a:prstDash val="dash"/>
          </a:ln>
        </p:spPr>
        <p:txBody>
          <a:bodyPr wrap="square" lIns="0" tIns="0" rIns="0" bIns="0" rtlCol="0">
            <a:spAutoFit/>
          </a:bodyPr>
          <a:lstStyle/>
          <a:p>
            <a:pPr algn="ctr"/>
            <a:endParaRPr lang="en-US" sz="3200" b="1" dirty="0">
              <a:solidFill>
                <a:schemeClr val="bg1"/>
              </a:solidFill>
              <a:latin typeface="+mj-lt"/>
            </a:endParaRPr>
          </a:p>
        </p:txBody>
      </p:sp>
      <p:sp>
        <p:nvSpPr>
          <p:cNvPr id="17" name="TextBox 16">
            <a:extLst>
              <a:ext uri="{FF2B5EF4-FFF2-40B4-BE49-F238E27FC236}">
                <a16:creationId xmlns:a16="http://schemas.microsoft.com/office/drawing/2014/main" id="{8579DD5C-10A5-5F5D-C076-135C29F5B270}"/>
              </a:ext>
            </a:extLst>
          </p:cNvPr>
          <p:cNvSpPr txBox="1"/>
          <p:nvPr/>
        </p:nvSpPr>
        <p:spPr>
          <a:xfrm>
            <a:off x="5900468" y="1882409"/>
            <a:ext cx="2216990" cy="492443"/>
          </a:xfrm>
          <a:prstGeom prst="rect">
            <a:avLst/>
          </a:prstGeom>
          <a:solidFill>
            <a:schemeClr val="accent4"/>
          </a:solidFill>
          <a:ln w="6350">
            <a:noFill/>
            <a:prstDash val="dash"/>
          </a:ln>
        </p:spPr>
        <p:txBody>
          <a:bodyPr wrap="square" lIns="0" tIns="0" rIns="0" bIns="0" rtlCol="0">
            <a:spAutoFit/>
          </a:bodyPr>
          <a:lstStyle/>
          <a:p>
            <a:pPr algn="ctr"/>
            <a:endParaRPr lang="en-US" sz="3200" b="1" dirty="0">
              <a:solidFill>
                <a:schemeClr val="bg1"/>
              </a:solidFill>
              <a:latin typeface="+mj-lt"/>
            </a:endParaRPr>
          </a:p>
        </p:txBody>
      </p:sp>
      <p:sp>
        <p:nvSpPr>
          <p:cNvPr id="19" name="TextBox 18">
            <a:extLst>
              <a:ext uri="{FF2B5EF4-FFF2-40B4-BE49-F238E27FC236}">
                <a16:creationId xmlns:a16="http://schemas.microsoft.com/office/drawing/2014/main" id="{10999BD2-7B84-E8E1-0C48-A0BB3A88EA69}"/>
              </a:ext>
            </a:extLst>
          </p:cNvPr>
          <p:cNvSpPr txBox="1"/>
          <p:nvPr/>
        </p:nvSpPr>
        <p:spPr>
          <a:xfrm>
            <a:off x="5900468" y="3662352"/>
            <a:ext cx="2096219" cy="492443"/>
          </a:xfrm>
          <a:prstGeom prst="rect">
            <a:avLst/>
          </a:prstGeom>
          <a:solidFill>
            <a:schemeClr val="accent5"/>
          </a:solidFill>
          <a:ln w="6350">
            <a:noFill/>
            <a:prstDash val="dash"/>
          </a:ln>
        </p:spPr>
        <p:txBody>
          <a:bodyPr wrap="square" lIns="0" tIns="0" rIns="0" bIns="0" rtlCol="0">
            <a:spAutoFit/>
          </a:bodyPr>
          <a:lstStyle/>
          <a:p>
            <a:pPr algn="ctr"/>
            <a:endParaRPr lang="en-US" sz="3200" b="1" dirty="0">
              <a:solidFill>
                <a:schemeClr val="bg1"/>
              </a:solidFill>
              <a:latin typeface="+mj-lt"/>
            </a:endParaRPr>
          </a:p>
        </p:txBody>
      </p:sp>
      <p:sp>
        <p:nvSpPr>
          <p:cNvPr id="18" name="Title 139">
            <a:extLst>
              <a:ext uri="{FF2B5EF4-FFF2-40B4-BE49-F238E27FC236}">
                <a16:creationId xmlns:a16="http://schemas.microsoft.com/office/drawing/2014/main" id="{BD4E6B4B-9C0A-F4CC-CDD1-EFE36938E330}"/>
              </a:ext>
            </a:extLst>
          </p:cNvPr>
          <p:cNvSpPr>
            <a:spLocks noGrp="1"/>
          </p:cNvSpPr>
          <p:nvPr>
            <p:ph type="title"/>
          </p:nvPr>
        </p:nvSpPr>
        <p:spPr>
          <a:xfrm>
            <a:off x="838200" y="365125"/>
            <a:ext cx="10515600" cy="443198"/>
          </a:xfrm>
        </p:spPr>
        <p:txBody>
          <a:bodyPr/>
          <a:lstStyle/>
          <a:p>
            <a:r>
              <a:rPr lang="en-US" b="1" dirty="0">
                <a:solidFill>
                  <a:schemeClr val="tx1">
                    <a:lumMod val="75000"/>
                    <a:lumOff val="25000"/>
                  </a:schemeClr>
                </a:solidFill>
              </a:rPr>
              <a:t>BRIGHT TV subscribers </a:t>
            </a:r>
            <a:r>
              <a:rPr lang="en-US" dirty="0">
                <a:solidFill>
                  <a:schemeClr val="tx1">
                    <a:lumMod val="75000"/>
                    <a:lumOff val="25000"/>
                  </a:schemeClr>
                </a:solidFill>
              </a:rPr>
              <a:t>per province</a:t>
            </a:r>
          </a:p>
        </p:txBody>
      </p:sp>
    </p:spTree>
    <p:extLst>
      <p:ext uri="{BB962C8B-B14F-4D97-AF65-F5344CB8AC3E}">
        <p14:creationId xmlns:p14="http://schemas.microsoft.com/office/powerpoint/2010/main" val="1068968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054B1-1198-B499-3AAE-4B67C4906A06}"/>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714A6EAE-D5A2-757B-50A4-EC57D2A3B20D}"/>
              </a:ext>
            </a:extLst>
          </p:cNvPr>
          <p:cNvSpPr/>
          <p:nvPr/>
        </p:nvSpPr>
        <p:spPr>
          <a:xfrm>
            <a:off x="459430" y="835686"/>
            <a:ext cx="11085589" cy="5570967"/>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8" name="Rectangle 17">
            <a:extLst>
              <a:ext uri="{FF2B5EF4-FFF2-40B4-BE49-F238E27FC236}">
                <a16:creationId xmlns:a16="http://schemas.microsoft.com/office/drawing/2014/main" id="{0B90F7BA-4942-D806-F635-2F2F8FE90165}"/>
              </a:ext>
            </a:extLst>
          </p:cNvPr>
          <p:cNvSpPr/>
          <p:nvPr/>
        </p:nvSpPr>
        <p:spPr>
          <a:xfrm>
            <a:off x="7134896" y="2550999"/>
            <a:ext cx="2810234" cy="1307242"/>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24" name="Rectangle 23">
            <a:extLst>
              <a:ext uri="{FF2B5EF4-FFF2-40B4-BE49-F238E27FC236}">
                <a16:creationId xmlns:a16="http://schemas.microsoft.com/office/drawing/2014/main" id="{7B28C7C9-0614-5222-5837-D6690021EF68}"/>
              </a:ext>
            </a:extLst>
          </p:cNvPr>
          <p:cNvSpPr/>
          <p:nvPr/>
        </p:nvSpPr>
        <p:spPr>
          <a:xfrm>
            <a:off x="7211097" y="4008941"/>
            <a:ext cx="2749340" cy="1595766"/>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6" name="Rectangle 5">
            <a:extLst>
              <a:ext uri="{FF2B5EF4-FFF2-40B4-BE49-F238E27FC236}">
                <a16:creationId xmlns:a16="http://schemas.microsoft.com/office/drawing/2014/main" id="{D85387AC-1280-44E7-9B58-1984E599D2EA}"/>
              </a:ext>
            </a:extLst>
          </p:cNvPr>
          <p:cNvSpPr/>
          <p:nvPr/>
        </p:nvSpPr>
        <p:spPr>
          <a:xfrm>
            <a:off x="7150203" y="1142513"/>
            <a:ext cx="2810234" cy="1256139"/>
          </a:xfrm>
          <a:prstGeom prst="rect">
            <a:avLst/>
          </a:prstGeom>
          <a:solidFill>
            <a:schemeClr val="accent5">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3" name="Date Placeholder 2">
            <a:extLst>
              <a:ext uri="{FF2B5EF4-FFF2-40B4-BE49-F238E27FC236}">
                <a16:creationId xmlns:a16="http://schemas.microsoft.com/office/drawing/2014/main" id="{76610686-9674-5D1E-B0F7-26C6527E9B4A}"/>
              </a:ext>
            </a:extLst>
          </p:cNvPr>
          <p:cNvSpPr>
            <a:spLocks noGrp="1"/>
          </p:cNvSpPr>
          <p:nvPr>
            <p:ph type="dt" sz="half" idx="10"/>
          </p:nvPr>
        </p:nvSpPr>
        <p:spPr/>
        <p:txBody>
          <a:bodyPr/>
          <a:lstStyle/>
          <a:p>
            <a:fld id="{E12D76FC-EB8E-4992-B39A-5265103F8BBB}" type="datetime1">
              <a:rPr lang="en-US" smtClean="0"/>
              <a:t>9/30/2026</a:t>
            </a:fld>
            <a:endParaRPr lang="en-US"/>
          </a:p>
        </p:txBody>
      </p:sp>
      <p:sp>
        <p:nvSpPr>
          <p:cNvPr id="5" name="Slide Number Placeholder 4">
            <a:extLst>
              <a:ext uri="{FF2B5EF4-FFF2-40B4-BE49-F238E27FC236}">
                <a16:creationId xmlns:a16="http://schemas.microsoft.com/office/drawing/2014/main" id="{03F3FF38-2FE4-F938-B1AE-0BD66BC367C6}"/>
              </a:ext>
            </a:extLst>
          </p:cNvPr>
          <p:cNvSpPr>
            <a:spLocks noGrp="1"/>
          </p:cNvSpPr>
          <p:nvPr>
            <p:ph type="sldNum" sz="quarter" idx="12"/>
          </p:nvPr>
        </p:nvSpPr>
        <p:spPr/>
        <p:txBody>
          <a:bodyPr/>
          <a:lstStyle/>
          <a:p>
            <a:fld id="{9598DBAD-472B-4D31-8670-5164AECB0621}" type="slidenum">
              <a:rPr lang="en-US" smtClean="0"/>
              <a:pPr/>
              <a:t>5</a:t>
            </a:fld>
            <a:endParaRPr lang="en-US"/>
          </a:p>
        </p:txBody>
      </p:sp>
      <p:sp>
        <p:nvSpPr>
          <p:cNvPr id="17" name="TextBox 16">
            <a:extLst>
              <a:ext uri="{FF2B5EF4-FFF2-40B4-BE49-F238E27FC236}">
                <a16:creationId xmlns:a16="http://schemas.microsoft.com/office/drawing/2014/main" id="{A3DA4B7E-30C1-94D9-BFF4-88CEE6CA7395}"/>
              </a:ext>
            </a:extLst>
          </p:cNvPr>
          <p:cNvSpPr txBox="1"/>
          <p:nvPr/>
        </p:nvSpPr>
        <p:spPr>
          <a:xfrm>
            <a:off x="9412993" y="163976"/>
            <a:ext cx="2371726" cy="215444"/>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BRIGHT TV VIEWERSHIP</a:t>
            </a:r>
          </a:p>
        </p:txBody>
      </p:sp>
      <p:grpSp>
        <p:nvGrpSpPr>
          <p:cNvPr id="34" name="Group 33">
            <a:extLst>
              <a:ext uri="{FF2B5EF4-FFF2-40B4-BE49-F238E27FC236}">
                <a16:creationId xmlns:a16="http://schemas.microsoft.com/office/drawing/2014/main" id="{6B0A1190-0E23-12EC-F4F9-F7B7E33571EA}"/>
              </a:ext>
            </a:extLst>
          </p:cNvPr>
          <p:cNvGrpSpPr/>
          <p:nvPr/>
        </p:nvGrpSpPr>
        <p:grpSpPr>
          <a:xfrm>
            <a:off x="7134896" y="1183640"/>
            <a:ext cx="2810234" cy="1216660"/>
            <a:chOff x="7035046" y="1046235"/>
            <a:chExt cx="2810234" cy="1216660"/>
          </a:xfrm>
        </p:grpSpPr>
        <p:sp>
          <p:nvSpPr>
            <p:cNvPr id="23" name="TextBox 22">
              <a:extLst>
                <a:ext uri="{FF2B5EF4-FFF2-40B4-BE49-F238E27FC236}">
                  <a16:creationId xmlns:a16="http://schemas.microsoft.com/office/drawing/2014/main" id="{D10A2BA4-E9CA-9436-F002-D5252F2486C0}"/>
                </a:ext>
              </a:extLst>
            </p:cNvPr>
            <p:cNvSpPr txBox="1"/>
            <p:nvPr/>
          </p:nvSpPr>
          <p:spPr>
            <a:xfrm>
              <a:off x="7035046" y="1046235"/>
              <a:ext cx="2371726" cy="215444"/>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04.Youth adults</a:t>
              </a:r>
            </a:p>
          </p:txBody>
        </p:sp>
        <p:grpSp>
          <p:nvGrpSpPr>
            <p:cNvPr id="30" name="Group 29">
              <a:extLst>
                <a:ext uri="{FF2B5EF4-FFF2-40B4-BE49-F238E27FC236}">
                  <a16:creationId xmlns:a16="http://schemas.microsoft.com/office/drawing/2014/main" id="{174649BD-FF80-C206-4A2C-277F72C8069E}"/>
                </a:ext>
              </a:extLst>
            </p:cNvPr>
            <p:cNvGrpSpPr/>
            <p:nvPr/>
          </p:nvGrpSpPr>
          <p:grpSpPr>
            <a:xfrm>
              <a:off x="7068116" y="1357090"/>
              <a:ext cx="2777164" cy="905805"/>
              <a:chOff x="7838128" y="4039480"/>
              <a:chExt cx="2777164" cy="886502"/>
            </a:xfrm>
          </p:grpSpPr>
          <p:sp>
            <p:nvSpPr>
              <p:cNvPr id="10" name="TextBox 9">
                <a:extLst>
                  <a:ext uri="{FF2B5EF4-FFF2-40B4-BE49-F238E27FC236}">
                    <a16:creationId xmlns:a16="http://schemas.microsoft.com/office/drawing/2014/main" id="{3D215CDE-06EA-DCEB-A58E-F7361F0CEA68}"/>
                  </a:ext>
                </a:extLst>
              </p:cNvPr>
              <p:cNvSpPr txBox="1"/>
              <p:nvPr/>
            </p:nvSpPr>
            <p:spPr>
              <a:xfrm>
                <a:off x="7838128" y="4039480"/>
                <a:ext cx="2544368" cy="421705"/>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Youth adults are leading In the age group backet with 2521 viewers</a:t>
                </a:r>
              </a:p>
            </p:txBody>
          </p:sp>
          <p:sp>
            <p:nvSpPr>
              <p:cNvPr id="43" name="TextBox 42">
                <a:extLst>
                  <a:ext uri="{FF2B5EF4-FFF2-40B4-BE49-F238E27FC236}">
                    <a16:creationId xmlns:a16="http://schemas.microsoft.com/office/drawing/2014/main" id="{5E883172-C1AA-DB87-B3B0-69C940615A99}"/>
                  </a:ext>
                </a:extLst>
              </p:cNvPr>
              <p:cNvSpPr txBox="1"/>
              <p:nvPr/>
            </p:nvSpPr>
            <p:spPr>
              <a:xfrm>
                <a:off x="7838128" y="4564521"/>
                <a:ext cx="2777164" cy="361461"/>
              </a:xfrm>
              <a:prstGeom prst="rect">
                <a:avLst/>
              </a:prstGeom>
              <a:solidFill>
                <a:schemeClr val="accent1"/>
              </a:solidFill>
              <a:ln w="6350">
                <a:noFill/>
                <a:prstDash val="dash"/>
              </a:ln>
            </p:spPr>
            <p:txBody>
              <a:bodyPr wrap="square" lIns="0" tIns="0" rIns="0" bIns="0" rtlCol="0">
                <a:spAutoFit/>
              </a:bodyPr>
              <a:lstStyle/>
              <a:p>
                <a:pPr algn="ctr"/>
                <a:r>
                  <a:rPr lang="en-US" sz="2400" b="1" dirty="0">
                    <a:solidFill>
                      <a:schemeClr val="bg1"/>
                    </a:solidFill>
                    <a:latin typeface="+mj-lt"/>
                  </a:rPr>
                  <a:t>57%</a:t>
                </a:r>
              </a:p>
            </p:txBody>
          </p:sp>
        </p:grpSp>
      </p:grpSp>
      <p:grpSp>
        <p:nvGrpSpPr>
          <p:cNvPr id="8" name="Group 7">
            <a:extLst>
              <a:ext uri="{FF2B5EF4-FFF2-40B4-BE49-F238E27FC236}">
                <a16:creationId xmlns:a16="http://schemas.microsoft.com/office/drawing/2014/main" id="{B1B9E1A8-D242-0E06-7456-C06862303834}"/>
              </a:ext>
            </a:extLst>
          </p:cNvPr>
          <p:cNvGrpSpPr/>
          <p:nvPr/>
        </p:nvGrpSpPr>
        <p:grpSpPr>
          <a:xfrm>
            <a:off x="646981" y="991752"/>
            <a:ext cx="5671627" cy="5281835"/>
            <a:chOff x="838200" y="954072"/>
            <a:chExt cx="6004390" cy="5281835"/>
          </a:xfrm>
          <a:solidFill>
            <a:schemeClr val="bg1">
              <a:lumMod val="85000"/>
            </a:schemeClr>
          </a:solidFill>
        </p:grpSpPr>
        <p:sp>
          <p:nvSpPr>
            <p:cNvPr id="4" name="Rectangle 3">
              <a:extLst>
                <a:ext uri="{FF2B5EF4-FFF2-40B4-BE49-F238E27FC236}">
                  <a16:creationId xmlns:a16="http://schemas.microsoft.com/office/drawing/2014/main" id="{6EB5A8AC-A7AF-E01A-F985-6F87661CDEE3}"/>
                </a:ext>
              </a:extLst>
            </p:cNvPr>
            <p:cNvSpPr/>
            <p:nvPr/>
          </p:nvSpPr>
          <p:spPr>
            <a:xfrm>
              <a:off x="983412" y="954072"/>
              <a:ext cx="5859178" cy="5281835"/>
            </a:xfrm>
            <a:prstGeom prst="rect">
              <a:avLst/>
            </a:prstGeom>
            <a:grp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graphicFrame>
          <p:nvGraphicFramePr>
            <p:cNvPr id="7" name="Chart 6">
              <a:extLst>
                <a:ext uri="{FF2B5EF4-FFF2-40B4-BE49-F238E27FC236}">
                  <a16:creationId xmlns:a16="http://schemas.microsoft.com/office/drawing/2014/main" id="{F7243D6D-EA7B-4481-BC5A-0610C4FB6434}"/>
                </a:ext>
              </a:extLst>
            </p:cNvPr>
            <p:cNvGraphicFramePr>
              <a:graphicFrameLocks/>
            </p:cNvGraphicFramePr>
            <p:nvPr>
              <p:extLst>
                <p:ext uri="{D42A27DB-BD31-4B8C-83A1-F6EECF244321}">
                  <p14:modId xmlns:p14="http://schemas.microsoft.com/office/powerpoint/2010/main" val="1241876862"/>
                </p:ext>
              </p:extLst>
            </p:nvPr>
          </p:nvGraphicFramePr>
          <p:xfrm>
            <a:off x="838200" y="1246389"/>
            <a:ext cx="5944273" cy="4657539"/>
          </p:xfrm>
          <a:graphic>
            <a:graphicData uri="http://schemas.openxmlformats.org/drawingml/2006/chart">
              <c:chart xmlns:c="http://schemas.openxmlformats.org/drawingml/2006/chart" xmlns:r="http://schemas.openxmlformats.org/officeDocument/2006/relationships" r:id="rId2"/>
            </a:graphicData>
          </a:graphic>
        </p:graphicFrame>
      </p:grpSp>
      <p:grpSp>
        <p:nvGrpSpPr>
          <p:cNvPr id="36" name="Group 35">
            <a:extLst>
              <a:ext uri="{FF2B5EF4-FFF2-40B4-BE49-F238E27FC236}">
                <a16:creationId xmlns:a16="http://schemas.microsoft.com/office/drawing/2014/main" id="{589E1B7E-FAEC-3662-8A72-F3F8D3D9A588}"/>
              </a:ext>
            </a:extLst>
          </p:cNvPr>
          <p:cNvGrpSpPr/>
          <p:nvPr/>
        </p:nvGrpSpPr>
        <p:grpSpPr>
          <a:xfrm>
            <a:off x="7134896" y="2547452"/>
            <a:ext cx="2810236" cy="1310789"/>
            <a:chOff x="6866624" y="2294722"/>
            <a:chExt cx="2810236" cy="1310789"/>
          </a:xfrm>
        </p:grpSpPr>
        <p:sp>
          <p:nvSpPr>
            <p:cNvPr id="14" name="TextBox 13">
              <a:extLst>
                <a:ext uri="{FF2B5EF4-FFF2-40B4-BE49-F238E27FC236}">
                  <a16:creationId xmlns:a16="http://schemas.microsoft.com/office/drawing/2014/main" id="{11A5F39C-EFF6-3562-7667-E99E5A3F01E3}"/>
                </a:ext>
              </a:extLst>
            </p:cNvPr>
            <p:cNvSpPr txBox="1"/>
            <p:nvPr/>
          </p:nvSpPr>
          <p:spPr>
            <a:xfrm>
              <a:off x="7101185" y="2294722"/>
              <a:ext cx="2371726" cy="259753"/>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05.Adults</a:t>
              </a:r>
            </a:p>
          </p:txBody>
        </p:sp>
        <p:grpSp>
          <p:nvGrpSpPr>
            <p:cNvPr id="15" name="Group 14">
              <a:extLst>
                <a:ext uri="{FF2B5EF4-FFF2-40B4-BE49-F238E27FC236}">
                  <a16:creationId xmlns:a16="http://schemas.microsoft.com/office/drawing/2014/main" id="{DB28288A-FFF3-B976-A43C-0CB84E363754}"/>
                </a:ext>
              </a:extLst>
            </p:cNvPr>
            <p:cNvGrpSpPr/>
            <p:nvPr/>
          </p:nvGrpSpPr>
          <p:grpSpPr>
            <a:xfrm>
              <a:off x="6866624" y="2561855"/>
              <a:ext cx="2810236" cy="1043656"/>
              <a:chOff x="7570496" y="3953517"/>
              <a:chExt cx="2810236" cy="847179"/>
            </a:xfrm>
          </p:grpSpPr>
          <p:sp>
            <p:nvSpPr>
              <p:cNvPr id="19" name="TextBox 18">
                <a:extLst>
                  <a:ext uri="{FF2B5EF4-FFF2-40B4-BE49-F238E27FC236}">
                    <a16:creationId xmlns:a16="http://schemas.microsoft.com/office/drawing/2014/main" id="{9F3E7D48-6597-B68F-BF26-6885C3FA6C7E}"/>
                  </a:ext>
                </a:extLst>
              </p:cNvPr>
              <p:cNvSpPr txBox="1"/>
              <p:nvPr/>
            </p:nvSpPr>
            <p:spPr>
              <a:xfrm>
                <a:off x="7630882" y="3953517"/>
                <a:ext cx="2749850" cy="524654"/>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Adults are second in having most viewers In the age group backet with 1346 viewers</a:t>
                </a:r>
              </a:p>
            </p:txBody>
          </p:sp>
          <p:sp>
            <p:nvSpPr>
              <p:cNvPr id="20" name="TextBox 19">
                <a:extLst>
                  <a:ext uri="{FF2B5EF4-FFF2-40B4-BE49-F238E27FC236}">
                    <a16:creationId xmlns:a16="http://schemas.microsoft.com/office/drawing/2014/main" id="{5EB461CF-6829-ADDE-C8D6-6EA543FE5D86}"/>
                  </a:ext>
                </a:extLst>
              </p:cNvPr>
              <p:cNvSpPr txBox="1"/>
              <p:nvPr/>
            </p:nvSpPr>
            <p:spPr>
              <a:xfrm>
                <a:off x="7570496" y="4500894"/>
                <a:ext cx="2810235" cy="299802"/>
              </a:xfrm>
              <a:prstGeom prst="rect">
                <a:avLst/>
              </a:prstGeom>
              <a:solidFill>
                <a:schemeClr val="accent1"/>
              </a:solidFill>
              <a:ln w="6350">
                <a:noFill/>
                <a:prstDash val="dash"/>
              </a:ln>
            </p:spPr>
            <p:txBody>
              <a:bodyPr wrap="square" lIns="0" tIns="0" rIns="0" bIns="0" rtlCol="0">
                <a:spAutoFit/>
              </a:bodyPr>
              <a:lstStyle/>
              <a:p>
                <a:pPr algn="ctr"/>
                <a:r>
                  <a:rPr lang="en-US" sz="2400" b="1" dirty="0">
                    <a:solidFill>
                      <a:schemeClr val="bg1"/>
                    </a:solidFill>
                    <a:latin typeface="+mj-lt"/>
                  </a:rPr>
                  <a:t>31%</a:t>
                </a:r>
              </a:p>
            </p:txBody>
          </p:sp>
        </p:grpSp>
      </p:grpSp>
      <p:grpSp>
        <p:nvGrpSpPr>
          <p:cNvPr id="21" name="Group 20">
            <a:extLst>
              <a:ext uri="{FF2B5EF4-FFF2-40B4-BE49-F238E27FC236}">
                <a16:creationId xmlns:a16="http://schemas.microsoft.com/office/drawing/2014/main" id="{DEF47681-43E6-7B47-EBC1-EC35E61F294B}"/>
              </a:ext>
            </a:extLst>
          </p:cNvPr>
          <p:cNvGrpSpPr/>
          <p:nvPr/>
        </p:nvGrpSpPr>
        <p:grpSpPr>
          <a:xfrm>
            <a:off x="7211098" y="4103493"/>
            <a:ext cx="2734032" cy="1555324"/>
            <a:chOff x="7922613" y="4866847"/>
            <a:chExt cx="2734032" cy="1087856"/>
          </a:xfrm>
        </p:grpSpPr>
        <p:sp>
          <p:nvSpPr>
            <p:cNvPr id="26" name="TextBox 25">
              <a:extLst>
                <a:ext uri="{FF2B5EF4-FFF2-40B4-BE49-F238E27FC236}">
                  <a16:creationId xmlns:a16="http://schemas.microsoft.com/office/drawing/2014/main" id="{A32120B0-9663-953E-0A8B-6587E2650686}"/>
                </a:ext>
              </a:extLst>
            </p:cNvPr>
            <p:cNvSpPr txBox="1"/>
            <p:nvPr/>
          </p:nvSpPr>
          <p:spPr>
            <a:xfrm>
              <a:off x="7941260" y="4866847"/>
              <a:ext cx="2371726" cy="215444"/>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07.Pensioners &amp; 02.kids </a:t>
              </a:r>
            </a:p>
          </p:txBody>
        </p:sp>
        <p:grpSp>
          <p:nvGrpSpPr>
            <p:cNvPr id="27" name="Group 26">
              <a:extLst>
                <a:ext uri="{FF2B5EF4-FFF2-40B4-BE49-F238E27FC236}">
                  <a16:creationId xmlns:a16="http://schemas.microsoft.com/office/drawing/2014/main" id="{94D713B7-7A4D-1D4F-44A0-997B5FA519B3}"/>
                </a:ext>
              </a:extLst>
            </p:cNvPr>
            <p:cNvGrpSpPr/>
            <p:nvPr/>
          </p:nvGrpSpPr>
          <p:grpSpPr>
            <a:xfrm>
              <a:off x="7922613" y="5064494"/>
              <a:ext cx="2734032" cy="890209"/>
              <a:chOff x="7922613" y="4258436"/>
              <a:chExt cx="2734032" cy="871240"/>
            </a:xfrm>
          </p:grpSpPr>
          <p:sp>
            <p:nvSpPr>
              <p:cNvPr id="31" name="TextBox 30">
                <a:extLst>
                  <a:ext uri="{FF2B5EF4-FFF2-40B4-BE49-F238E27FC236}">
                    <a16:creationId xmlns:a16="http://schemas.microsoft.com/office/drawing/2014/main" id="{20EE3160-5F35-36C8-84EA-8061CC3914BA}"/>
                  </a:ext>
                </a:extLst>
              </p:cNvPr>
              <p:cNvSpPr txBox="1"/>
              <p:nvPr/>
            </p:nvSpPr>
            <p:spPr>
              <a:xfrm>
                <a:off x="8036081" y="4258436"/>
                <a:ext cx="2620564" cy="442436"/>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l07.Pensioners &amp; 02.kids are the least with viewers in age backet with 49 and 37 viewers respectively</a:t>
                </a:r>
              </a:p>
            </p:txBody>
          </p:sp>
          <p:sp>
            <p:nvSpPr>
              <p:cNvPr id="32" name="TextBox 31">
                <a:extLst>
                  <a:ext uri="{FF2B5EF4-FFF2-40B4-BE49-F238E27FC236}">
                    <a16:creationId xmlns:a16="http://schemas.microsoft.com/office/drawing/2014/main" id="{F4FB0466-C2B2-5BAB-2B25-12E027D8B1F7}"/>
                  </a:ext>
                </a:extLst>
              </p:cNvPr>
              <p:cNvSpPr txBox="1"/>
              <p:nvPr/>
            </p:nvSpPr>
            <p:spPr>
              <a:xfrm>
                <a:off x="7922613" y="4876855"/>
                <a:ext cx="2657835" cy="252821"/>
              </a:xfrm>
              <a:prstGeom prst="rect">
                <a:avLst/>
              </a:prstGeom>
              <a:solidFill>
                <a:schemeClr val="accent1"/>
              </a:solidFill>
              <a:ln w="6350">
                <a:noFill/>
                <a:prstDash val="dash"/>
              </a:ln>
            </p:spPr>
            <p:txBody>
              <a:bodyPr wrap="square" lIns="0" tIns="0" rIns="0" bIns="0" rtlCol="0">
                <a:spAutoFit/>
              </a:bodyPr>
              <a:lstStyle/>
              <a:p>
                <a:pPr algn="ctr"/>
                <a:r>
                  <a:rPr lang="en-US" sz="2400" b="1" dirty="0">
                    <a:solidFill>
                      <a:schemeClr val="bg1"/>
                    </a:solidFill>
                    <a:latin typeface="+mj-lt"/>
                  </a:rPr>
                  <a:t>1%</a:t>
                </a:r>
              </a:p>
            </p:txBody>
          </p:sp>
        </p:grpSp>
      </p:grpSp>
      <p:sp>
        <p:nvSpPr>
          <p:cNvPr id="22" name="Title 139">
            <a:extLst>
              <a:ext uri="{FF2B5EF4-FFF2-40B4-BE49-F238E27FC236}">
                <a16:creationId xmlns:a16="http://schemas.microsoft.com/office/drawing/2014/main" id="{4BEDA0E5-C904-289B-3F2D-AFBF25F3FCDB}"/>
              </a:ext>
            </a:extLst>
          </p:cNvPr>
          <p:cNvSpPr>
            <a:spLocks noGrp="1"/>
          </p:cNvSpPr>
          <p:nvPr>
            <p:ph type="title"/>
          </p:nvPr>
        </p:nvSpPr>
        <p:spPr>
          <a:xfrm>
            <a:off x="838200" y="365125"/>
            <a:ext cx="10515600" cy="443198"/>
          </a:xfrm>
        </p:spPr>
        <p:txBody>
          <a:bodyPr/>
          <a:lstStyle/>
          <a:p>
            <a:r>
              <a:rPr lang="en-US" b="1" dirty="0">
                <a:solidFill>
                  <a:schemeClr val="tx1">
                    <a:lumMod val="75000"/>
                    <a:lumOff val="25000"/>
                  </a:schemeClr>
                </a:solidFill>
              </a:rPr>
              <a:t>BRIGHT TV subscribers </a:t>
            </a:r>
            <a:r>
              <a:rPr lang="en-US" dirty="0">
                <a:solidFill>
                  <a:schemeClr val="tx1">
                    <a:lumMod val="75000"/>
                    <a:lumOff val="25000"/>
                  </a:schemeClr>
                </a:solidFill>
              </a:rPr>
              <a:t>per Age group</a:t>
            </a:r>
          </a:p>
        </p:txBody>
      </p:sp>
      <p:sp>
        <p:nvSpPr>
          <p:cNvPr id="29" name="Round Same Side Corner Rectangle 17">
            <a:extLst>
              <a:ext uri="{FF2B5EF4-FFF2-40B4-BE49-F238E27FC236}">
                <a16:creationId xmlns:a16="http://schemas.microsoft.com/office/drawing/2014/main" id="{7DD344C8-5E17-9164-0B3F-B40E6940D747}"/>
              </a:ext>
            </a:extLst>
          </p:cNvPr>
          <p:cNvSpPr/>
          <p:nvPr/>
        </p:nvSpPr>
        <p:spPr>
          <a:xfrm>
            <a:off x="966158" y="1268237"/>
            <a:ext cx="5037827" cy="480246"/>
          </a:xfrm>
          <a:prstGeom prst="round2SameRect">
            <a:avLst>
              <a:gd name="adj1" fmla="val 27778"/>
              <a:gd name="adj2"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rgbClr val="FFFFFF"/>
                </a:solidFill>
                <a:ea typeface="ＭＳ Ｐゴシック" charset="0"/>
                <a:cs typeface="ＭＳ Ｐゴシック" charset="0"/>
              </a:rPr>
              <a:t>Subscribers per age group</a:t>
            </a:r>
          </a:p>
        </p:txBody>
      </p:sp>
    </p:spTree>
    <p:extLst>
      <p:ext uri="{BB962C8B-B14F-4D97-AF65-F5344CB8AC3E}">
        <p14:creationId xmlns:p14="http://schemas.microsoft.com/office/powerpoint/2010/main" val="3129869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F4C7D05-CC59-DA1A-4C8E-16F7C0843E1A}"/>
              </a:ext>
            </a:extLst>
          </p:cNvPr>
          <p:cNvSpPr/>
          <p:nvPr/>
        </p:nvSpPr>
        <p:spPr>
          <a:xfrm>
            <a:off x="565078" y="808323"/>
            <a:ext cx="11201352" cy="554802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cxnSp>
        <p:nvCxnSpPr>
          <p:cNvPr id="2" name="Straight Connector 1">
            <a:extLst>
              <a:ext uri="{FF2B5EF4-FFF2-40B4-BE49-F238E27FC236}">
                <a16:creationId xmlns:a16="http://schemas.microsoft.com/office/drawing/2014/main" id="{C6C4EA57-CA21-BE25-B133-2C94D6E3AEAC}"/>
              </a:ext>
            </a:extLst>
          </p:cNvPr>
          <p:cNvCxnSpPr>
            <a:cxnSpLocks/>
          </p:cNvCxnSpPr>
          <p:nvPr/>
        </p:nvCxnSpPr>
        <p:spPr>
          <a:xfrm>
            <a:off x="674369" y="3388636"/>
            <a:ext cx="11092061"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15D25FED-4897-3B6F-AF37-9FE31C3D0FB3}"/>
              </a:ext>
            </a:extLst>
          </p:cNvPr>
          <p:cNvSpPr/>
          <p:nvPr/>
        </p:nvSpPr>
        <p:spPr>
          <a:xfrm>
            <a:off x="7308644" y="1726643"/>
            <a:ext cx="4208987" cy="1661993"/>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1" name="TextBox 10">
            <a:extLst>
              <a:ext uri="{FF2B5EF4-FFF2-40B4-BE49-F238E27FC236}">
                <a16:creationId xmlns:a16="http://schemas.microsoft.com/office/drawing/2014/main" id="{D41765AF-13B1-46A1-8246-DA7CE2B59BE9}"/>
              </a:ext>
            </a:extLst>
          </p:cNvPr>
          <p:cNvSpPr txBox="1"/>
          <p:nvPr/>
        </p:nvSpPr>
        <p:spPr>
          <a:xfrm>
            <a:off x="7479661" y="1726643"/>
            <a:ext cx="4037970" cy="1661993"/>
          </a:xfrm>
          <a:prstGeom prst="rect">
            <a:avLst/>
          </a:prstGeom>
          <a:noFill/>
          <a:ln w="6350">
            <a:noFill/>
            <a:prstDash val="dash"/>
          </a:ln>
        </p:spPr>
        <p:txBody>
          <a:bodyPr wrap="square" lIns="0" tIns="0" rIns="0" bIns="0" rtlCol="0">
            <a:spAutoFit/>
          </a:bodyPr>
          <a:lstStyle/>
          <a:p>
            <a:r>
              <a:rPr lang="en-US" dirty="0">
                <a:solidFill>
                  <a:schemeClr val="accent4"/>
                </a:solidFill>
              </a:rPr>
              <a:t>The graph depicts a high number of Bright TV viewers to be from a  black race with a 38% and further indicates a well-balanced number amongst other races with an average of 15,5% including the unclassified Race</a:t>
            </a:r>
          </a:p>
        </p:txBody>
      </p:sp>
      <p:sp>
        <p:nvSpPr>
          <p:cNvPr id="140" name="Title 139">
            <a:extLst>
              <a:ext uri="{FF2B5EF4-FFF2-40B4-BE49-F238E27FC236}">
                <a16:creationId xmlns:a16="http://schemas.microsoft.com/office/drawing/2014/main" id="{37078B24-D0B3-4BFE-AAA4-7E72FB6EAB2E}"/>
              </a:ext>
            </a:extLst>
          </p:cNvPr>
          <p:cNvSpPr>
            <a:spLocks noGrp="1"/>
          </p:cNvSpPr>
          <p:nvPr>
            <p:ph type="title"/>
          </p:nvPr>
        </p:nvSpPr>
        <p:spPr/>
        <p:txBody>
          <a:bodyPr/>
          <a:lstStyle/>
          <a:p>
            <a:r>
              <a:rPr lang="en-US" b="1" dirty="0">
                <a:solidFill>
                  <a:schemeClr val="tx1">
                    <a:lumMod val="75000"/>
                    <a:lumOff val="25000"/>
                  </a:schemeClr>
                </a:solidFill>
              </a:rPr>
              <a:t>Bright TV Viewers</a:t>
            </a:r>
            <a:r>
              <a:rPr lang="en-US" dirty="0">
                <a:solidFill>
                  <a:schemeClr val="tx1">
                    <a:lumMod val="75000"/>
                    <a:lumOff val="25000"/>
                  </a:schemeClr>
                </a:solidFill>
              </a:rPr>
              <a:t> Split by Race </a:t>
            </a:r>
          </a:p>
        </p:txBody>
      </p:sp>
      <p:sp>
        <p:nvSpPr>
          <p:cNvPr id="141" name="Date Placeholder 140">
            <a:extLst>
              <a:ext uri="{FF2B5EF4-FFF2-40B4-BE49-F238E27FC236}">
                <a16:creationId xmlns:a16="http://schemas.microsoft.com/office/drawing/2014/main" id="{5F80FDB6-F97C-4D0F-9303-25473A0C539D}"/>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3" name="Slide Number Placeholder 142">
            <a:extLst>
              <a:ext uri="{FF2B5EF4-FFF2-40B4-BE49-F238E27FC236}">
                <a16:creationId xmlns:a16="http://schemas.microsoft.com/office/drawing/2014/main" id="{F0C912A4-DC8D-4B44-AACF-327C575270BF}"/>
              </a:ext>
            </a:extLst>
          </p:cNvPr>
          <p:cNvSpPr>
            <a:spLocks noGrp="1"/>
          </p:cNvSpPr>
          <p:nvPr>
            <p:ph type="sldNum" sz="quarter" idx="12"/>
          </p:nvPr>
        </p:nvSpPr>
        <p:spPr/>
        <p:txBody>
          <a:bodyPr/>
          <a:lstStyle/>
          <a:p>
            <a:fld id="{9598DBAD-472B-4D31-8670-5164AECB0621}" type="slidenum">
              <a:rPr lang="en-US" smtClean="0"/>
              <a:pPr/>
              <a:t>6</a:t>
            </a:fld>
            <a:endParaRPr lang="en-US"/>
          </a:p>
        </p:txBody>
      </p:sp>
      <p:graphicFrame>
        <p:nvGraphicFramePr>
          <p:cNvPr id="4" name="Chart 3">
            <a:extLst>
              <a:ext uri="{FF2B5EF4-FFF2-40B4-BE49-F238E27FC236}">
                <a16:creationId xmlns:a16="http://schemas.microsoft.com/office/drawing/2014/main" id="{AC1F6917-504D-FE9A-E1A3-AD1118BEE4D5}"/>
              </a:ext>
            </a:extLst>
          </p:cNvPr>
          <p:cNvGraphicFramePr>
            <a:graphicFrameLocks/>
          </p:cNvGraphicFramePr>
          <p:nvPr>
            <p:extLst>
              <p:ext uri="{D42A27DB-BD31-4B8C-83A1-F6EECF244321}">
                <p14:modId xmlns:p14="http://schemas.microsoft.com/office/powerpoint/2010/main" val="184521362"/>
              </p:ext>
            </p:extLst>
          </p:nvPr>
        </p:nvGraphicFramePr>
        <p:xfrm>
          <a:off x="674369" y="1013425"/>
          <a:ext cx="6208705" cy="5059699"/>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1093252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a:extLst>
            <a:ext uri="{FF2B5EF4-FFF2-40B4-BE49-F238E27FC236}">
              <a16:creationId xmlns:a16="http://schemas.microsoft.com/office/drawing/2014/main" id="{B80BAC34-1C20-4287-76AF-B1DEEEEF833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F141E068-32A1-F8B3-9F98-207509B6C803}"/>
              </a:ext>
            </a:extLst>
          </p:cNvPr>
          <p:cNvSpPr/>
          <p:nvPr/>
        </p:nvSpPr>
        <p:spPr>
          <a:xfrm>
            <a:off x="482885" y="854016"/>
            <a:ext cx="11145523" cy="5510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0" name="Title 139">
            <a:extLst>
              <a:ext uri="{FF2B5EF4-FFF2-40B4-BE49-F238E27FC236}">
                <a16:creationId xmlns:a16="http://schemas.microsoft.com/office/drawing/2014/main" id="{5FE6C170-40D0-E1FA-7BE1-A222F26AC93F}"/>
              </a:ext>
            </a:extLst>
          </p:cNvPr>
          <p:cNvSpPr>
            <a:spLocks noGrp="1"/>
          </p:cNvSpPr>
          <p:nvPr>
            <p:ph type="title"/>
          </p:nvPr>
        </p:nvSpPr>
        <p:spPr/>
        <p:txBody>
          <a:bodyPr/>
          <a:lstStyle/>
          <a:p>
            <a:r>
              <a:rPr lang="en-US" b="1" dirty="0">
                <a:solidFill>
                  <a:schemeClr val="tx1">
                    <a:lumMod val="75000"/>
                    <a:lumOff val="25000"/>
                  </a:schemeClr>
                </a:solidFill>
              </a:rPr>
              <a:t>Bright tv subscription</a:t>
            </a:r>
            <a:r>
              <a:rPr lang="en-US" dirty="0">
                <a:solidFill>
                  <a:schemeClr val="tx1">
                    <a:lumMod val="75000"/>
                    <a:lumOff val="25000"/>
                  </a:schemeClr>
                </a:solidFill>
              </a:rPr>
              <a:t> per month trend</a:t>
            </a:r>
          </a:p>
        </p:txBody>
      </p:sp>
      <p:sp>
        <p:nvSpPr>
          <p:cNvPr id="141" name="Date Placeholder 140">
            <a:extLst>
              <a:ext uri="{FF2B5EF4-FFF2-40B4-BE49-F238E27FC236}">
                <a16:creationId xmlns:a16="http://schemas.microsoft.com/office/drawing/2014/main" id="{471F47F2-C9BB-DB1F-35FB-C9B5D116BFB8}"/>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2" name="Footer Placeholder 141">
            <a:extLst>
              <a:ext uri="{FF2B5EF4-FFF2-40B4-BE49-F238E27FC236}">
                <a16:creationId xmlns:a16="http://schemas.microsoft.com/office/drawing/2014/main" id="{6A6AA149-F835-9D41-572F-97880FB738D9}"/>
              </a:ext>
            </a:extLst>
          </p:cNvPr>
          <p:cNvSpPr>
            <a:spLocks noGrp="1"/>
          </p:cNvSpPr>
          <p:nvPr>
            <p:ph type="ftr" sz="quarter" idx="11"/>
          </p:nvPr>
        </p:nvSpPr>
        <p:spPr/>
        <p:txBody>
          <a:bodyPr/>
          <a:lstStyle/>
          <a:p>
            <a:r>
              <a:rPr lang="en-US"/>
              <a:t>Your Logo Here</a:t>
            </a:r>
            <a:endParaRPr lang="en-US" dirty="0"/>
          </a:p>
        </p:txBody>
      </p:sp>
      <p:sp>
        <p:nvSpPr>
          <p:cNvPr id="143" name="Slide Number Placeholder 142">
            <a:extLst>
              <a:ext uri="{FF2B5EF4-FFF2-40B4-BE49-F238E27FC236}">
                <a16:creationId xmlns:a16="http://schemas.microsoft.com/office/drawing/2014/main" id="{5E4CF4B7-7AF4-50DC-5784-D2B2E025CAF9}"/>
              </a:ext>
            </a:extLst>
          </p:cNvPr>
          <p:cNvSpPr>
            <a:spLocks noGrp="1"/>
          </p:cNvSpPr>
          <p:nvPr>
            <p:ph type="sldNum" sz="quarter" idx="12"/>
          </p:nvPr>
        </p:nvSpPr>
        <p:spPr/>
        <p:txBody>
          <a:bodyPr/>
          <a:lstStyle/>
          <a:p>
            <a:fld id="{9598DBAD-472B-4D31-8670-5164AECB0621}" type="slidenum">
              <a:rPr lang="en-US" smtClean="0"/>
              <a:pPr/>
              <a:t>7</a:t>
            </a:fld>
            <a:endParaRPr lang="en-US"/>
          </a:p>
        </p:txBody>
      </p:sp>
      <p:sp>
        <p:nvSpPr>
          <p:cNvPr id="103" name="Round Same Side Corner Rectangle 17">
            <a:extLst>
              <a:ext uri="{FF2B5EF4-FFF2-40B4-BE49-F238E27FC236}">
                <a16:creationId xmlns:a16="http://schemas.microsoft.com/office/drawing/2014/main" id="{0E0FAD41-416C-FBBC-7281-3601018520AF}"/>
              </a:ext>
            </a:extLst>
          </p:cNvPr>
          <p:cNvSpPr/>
          <p:nvPr/>
        </p:nvSpPr>
        <p:spPr>
          <a:xfrm>
            <a:off x="1352722" y="1602521"/>
            <a:ext cx="5818640" cy="507283"/>
          </a:xfrm>
          <a:prstGeom prst="round2SameRect">
            <a:avLst>
              <a:gd name="adj1" fmla="val 27778"/>
              <a:gd name="adj2"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rgbClr val="FFFFFF"/>
                </a:solidFill>
                <a:ea typeface="ＭＳ Ｐゴシック" charset="0"/>
                <a:cs typeface="ＭＳ Ｐゴシック" charset="0"/>
              </a:rPr>
              <a:t>Subscription Per Month trend </a:t>
            </a:r>
          </a:p>
        </p:txBody>
      </p:sp>
      <p:sp>
        <p:nvSpPr>
          <p:cNvPr id="8" name="TextBox 7">
            <a:extLst>
              <a:ext uri="{FF2B5EF4-FFF2-40B4-BE49-F238E27FC236}">
                <a16:creationId xmlns:a16="http://schemas.microsoft.com/office/drawing/2014/main" id="{5A1B0E23-43BA-52F8-BCBF-B3C20500A038}"/>
              </a:ext>
            </a:extLst>
          </p:cNvPr>
          <p:cNvSpPr txBox="1"/>
          <p:nvPr/>
        </p:nvSpPr>
        <p:spPr>
          <a:xfrm>
            <a:off x="8214022" y="3048811"/>
            <a:ext cx="2371726" cy="430887"/>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A positive trend for monthly subscription</a:t>
            </a:r>
          </a:p>
        </p:txBody>
      </p:sp>
      <p:sp>
        <p:nvSpPr>
          <p:cNvPr id="10" name="TextBox 9">
            <a:extLst>
              <a:ext uri="{FF2B5EF4-FFF2-40B4-BE49-F238E27FC236}">
                <a16:creationId xmlns:a16="http://schemas.microsoft.com/office/drawing/2014/main" id="{4CFC8837-56FE-CDC0-939B-7BDD68D6A829}"/>
              </a:ext>
            </a:extLst>
          </p:cNvPr>
          <p:cNvSpPr txBox="1"/>
          <p:nvPr/>
        </p:nvSpPr>
        <p:spPr>
          <a:xfrm>
            <a:off x="8214022" y="2758518"/>
            <a:ext cx="2371726" cy="246221"/>
          </a:xfrm>
          <a:prstGeom prst="rect">
            <a:avLst/>
          </a:prstGeom>
          <a:solidFill>
            <a:schemeClr val="accent2"/>
          </a:solidFill>
          <a:ln w="6350">
            <a:noFill/>
            <a:prstDash val="dash"/>
          </a:ln>
        </p:spPr>
        <p:txBody>
          <a:bodyPr wrap="square" lIns="0" tIns="0" rIns="0" bIns="0" rtlCol="0">
            <a:spAutoFit/>
          </a:bodyPr>
          <a:lstStyle/>
          <a:p>
            <a:pPr algn="ctr"/>
            <a:r>
              <a:rPr lang="en-US" sz="1600" b="1" dirty="0">
                <a:solidFill>
                  <a:schemeClr val="tx1">
                    <a:lumMod val="75000"/>
                    <a:lumOff val="25000"/>
                  </a:schemeClr>
                </a:solidFill>
              </a:rPr>
              <a:t>Subscription</a:t>
            </a:r>
          </a:p>
        </p:txBody>
      </p:sp>
      <p:sp>
        <p:nvSpPr>
          <p:cNvPr id="22" name="TextBox 21">
            <a:extLst>
              <a:ext uri="{FF2B5EF4-FFF2-40B4-BE49-F238E27FC236}">
                <a16:creationId xmlns:a16="http://schemas.microsoft.com/office/drawing/2014/main" id="{56655F05-DCC9-1EBB-B594-30D439ADCA9D}"/>
              </a:ext>
            </a:extLst>
          </p:cNvPr>
          <p:cNvSpPr txBox="1"/>
          <p:nvPr/>
        </p:nvSpPr>
        <p:spPr>
          <a:xfrm>
            <a:off x="9539722" y="-48967"/>
            <a:ext cx="2371726" cy="215444"/>
          </a:xfrm>
          <a:prstGeom prst="rect">
            <a:avLst/>
          </a:prstGeom>
          <a:noFill/>
          <a:ln w="6350">
            <a:noFill/>
            <a:prstDash val="dash"/>
          </a:ln>
        </p:spPr>
        <p:txBody>
          <a:bodyPr wrap="square" lIns="0" tIns="0" rIns="0" bIns="0" rtlCol="0">
            <a:spAutoFit/>
          </a:bodyPr>
          <a:lstStyle/>
          <a:p>
            <a:pPr algn="ctr"/>
            <a:r>
              <a:rPr lang="en-US" sz="1400" b="1" dirty="0">
                <a:solidFill>
                  <a:schemeClr val="tx1">
                    <a:lumMod val="75000"/>
                    <a:lumOff val="25000"/>
                  </a:schemeClr>
                </a:solidFill>
              </a:rPr>
              <a:t>Male Subscribers</a:t>
            </a:r>
          </a:p>
        </p:txBody>
      </p:sp>
      <p:graphicFrame>
        <p:nvGraphicFramePr>
          <p:cNvPr id="9" name="Chart 8">
            <a:extLst>
              <a:ext uri="{FF2B5EF4-FFF2-40B4-BE49-F238E27FC236}">
                <a16:creationId xmlns:a16="http://schemas.microsoft.com/office/drawing/2014/main" id="{C13E044A-3C9B-9F4C-91C9-E5AF3B8056A9}"/>
              </a:ext>
            </a:extLst>
          </p:cNvPr>
          <p:cNvGraphicFramePr>
            <a:graphicFrameLocks/>
          </p:cNvGraphicFramePr>
          <p:nvPr>
            <p:extLst>
              <p:ext uri="{D42A27DB-BD31-4B8C-83A1-F6EECF244321}">
                <p14:modId xmlns:p14="http://schemas.microsoft.com/office/powerpoint/2010/main" val="503929013"/>
              </p:ext>
            </p:extLst>
          </p:nvPr>
        </p:nvGraphicFramePr>
        <p:xfrm>
          <a:off x="1352722" y="2205097"/>
          <a:ext cx="5818640" cy="347458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437855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a:extLst>
            <a:ext uri="{FF2B5EF4-FFF2-40B4-BE49-F238E27FC236}">
              <a16:creationId xmlns:a16="http://schemas.microsoft.com/office/drawing/2014/main" id="{CB4C75E3-9CEA-DD9F-1531-1EB2F26B7AA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11801045-7481-155A-1BD2-112FBF036EBB}"/>
              </a:ext>
            </a:extLst>
          </p:cNvPr>
          <p:cNvSpPr/>
          <p:nvPr/>
        </p:nvSpPr>
        <p:spPr>
          <a:xfrm>
            <a:off x="482885" y="854016"/>
            <a:ext cx="11145523" cy="5510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0" name="Title 139">
            <a:extLst>
              <a:ext uri="{FF2B5EF4-FFF2-40B4-BE49-F238E27FC236}">
                <a16:creationId xmlns:a16="http://schemas.microsoft.com/office/drawing/2014/main" id="{0A8197FC-B28C-079C-91D9-47D0FD94D7D8}"/>
              </a:ext>
            </a:extLst>
          </p:cNvPr>
          <p:cNvSpPr>
            <a:spLocks noGrp="1"/>
          </p:cNvSpPr>
          <p:nvPr>
            <p:ph type="title"/>
          </p:nvPr>
        </p:nvSpPr>
        <p:spPr/>
        <p:txBody>
          <a:bodyPr/>
          <a:lstStyle/>
          <a:p>
            <a:r>
              <a:rPr lang="en-US" b="1" dirty="0">
                <a:solidFill>
                  <a:schemeClr val="tx1">
                    <a:lumMod val="75000"/>
                    <a:lumOff val="25000"/>
                  </a:schemeClr>
                </a:solidFill>
              </a:rPr>
              <a:t>Bright tv</a:t>
            </a:r>
            <a:r>
              <a:rPr lang="en-US" dirty="0">
                <a:solidFill>
                  <a:schemeClr val="tx1">
                    <a:lumMod val="75000"/>
                    <a:lumOff val="25000"/>
                  </a:schemeClr>
                </a:solidFill>
              </a:rPr>
              <a:t> monthly watch time trend</a:t>
            </a:r>
          </a:p>
        </p:txBody>
      </p:sp>
      <p:sp>
        <p:nvSpPr>
          <p:cNvPr id="141" name="Date Placeholder 140">
            <a:extLst>
              <a:ext uri="{FF2B5EF4-FFF2-40B4-BE49-F238E27FC236}">
                <a16:creationId xmlns:a16="http://schemas.microsoft.com/office/drawing/2014/main" id="{733A6A0B-5571-56E4-421B-4AB563B08523}"/>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2" name="Footer Placeholder 141">
            <a:extLst>
              <a:ext uri="{FF2B5EF4-FFF2-40B4-BE49-F238E27FC236}">
                <a16:creationId xmlns:a16="http://schemas.microsoft.com/office/drawing/2014/main" id="{13129351-D6D9-8259-FE1E-9A5F1B139AA7}"/>
              </a:ext>
            </a:extLst>
          </p:cNvPr>
          <p:cNvSpPr>
            <a:spLocks noGrp="1"/>
          </p:cNvSpPr>
          <p:nvPr>
            <p:ph type="ftr" sz="quarter" idx="11"/>
          </p:nvPr>
        </p:nvSpPr>
        <p:spPr/>
        <p:txBody>
          <a:bodyPr/>
          <a:lstStyle/>
          <a:p>
            <a:r>
              <a:rPr lang="en-US"/>
              <a:t>Your Logo Here</a:t>
            </a:r>
            <a:endParaRPr lang="en-US" dirty="0"/>
          </a:p>
        </p:txBody>
      </p:sp>
      <p:sp>
        <p:nvSpPr>
          <p:cNvPr id="143" name="Slide Number Placeholder 142">
            <a:extLst>
              <a:ext uri="{FF2B5EF4-FFF2-40B4-BE49-F238E27FC236}">
                <a16:creationId xmlns:a16="http://schemas.microsoft.com/office/drawing/2014/main" id="{E363F655-A1D0-0514-CB85-141318B66252}"/>
              </a:ext>
            </a:extLst>
          </p:cNvPr>
          <p:cNvSpPr>
            <a:spLocks noGrp="1"/>
          </p:cNvSpPr>
          <p:nvPr>
            <p:ph type="sldNum" sz="quarter" idx="12"/>
          </p:nvPr>
        </p:nvSpPr>
        <p:spPr/>
        <p:txBody>
          <a:bodyPr/>
          <a:lstStyle/>
          <a:p>
            <a:fld id="{9598DBAD-472B-4D31-8670-5164AECB0621}" type="slidenum">
              <a:rPr lang="en-US" smtClean="0"/>
              <a:pPr/>
              <a:t>8</a:t>
            </a:fld>
            <a:endParaRPr lang="en-US"/>
          </a:p>
        </p:txBody>
      </p:sp>
      <p:sp>
        <p:nvSpPr>
          <p:cNvPr id="103" name="Round Same Side Corner Rectangle 17">
            <a:extLst>
              <a:ext uri="{FF2B5EF4-FFF2-40B4-BE49-F238E27FC236}">
                <a16:creationId xmlns:a16="http://schemas.microsoft.com/office/drawing/2014/main" id="{7DF0FAFA-A31A-BFDA-22F0-F0B9D203F94C}"/>
              </a:ext>
            </a:extLst>
          </p:cNvPr>
          <p:cNvSpPr/>
          <p:nvPr/>
        </p:nvSpPr>
        <p:spPr>
          <a:xfrm>
            <a:off x="838200" y="1602521"/>
            <a:ext cx="6813430" cy="507283"/>
          </a:xfrm>
          <a:prstGeom prst="round2SameRect">
            <a:avLst>
              <a:gd name="adj1" fmla="val 27778"/>
              <a:gd name="adj2"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rgbClr val="FFFFFF"/>
                </a:solidFill>
                <a:ea typeface="ＭＳ Ｐゴシック" charset="0"/>
                <a:cs typeface="ＭＳ Ｐゴシック" charset="0"/>
              </a:rPr>
              <a:t>Monthly watch time trend </a:t>
            </a:r>
          </a:p>
        </p:txBody>
      </p:sp>
      <p:sp>
        <p:nvSpPr>
          <p:cNvPr id="14" name="TextBox 13">
            <a:extLst>
              <a:ext uri="{FF2B5EF4-FFF2-40B4-BE49-F238E27FC236}">
                <a16:creationId xmlns:a16="http://schemas.microsoft.com/office/drawing/2014/main" id="{F4A49BE1-00C0-5FA3-1F26-053F13FC5D0C}"/>
              </a:ext>
            </a:extLst>
          </p:cNvPr>
          <p:cNvSpPr txBox="1"/>
          <p:nvPr/>
        </p:nvSpPr>
        <p:spPr>
          <a:xfrm>
            <a:off x="8454156" y="2400097"/>
            <a:ext cx="2371726" cy="1723549"/>
          </a:xfrm>
          <a:prstGeom prst="rect">
            <a:avLst/>
          </a:prstGeom>
          <a:noFill/>
          <a:ln w="6350">
            <a:noFill/>
            <a:prstDash val="dash"/>
          </a:ln>
        </p:spPr>
        <p:txBody>
          <a:bodyPr wrap="square" lIns="0" tIns="0" rIns="0" bIns="0" rtlCol="0">
            <a:spAutoFit/>
          </a:bodyPr>
          <a:lstStyle/>
          <a:p>
            <a:r>
              <a:rPr lang="en-US" sz="1600" dirty="0">
                <a:solidFill>
                  <a:schemeClr val="tx1">
                    <a:lumMod val="75000"/>
                    <a:lumOff val="25000"/>
                  </a:schemeClr>
                </a:solidFill>
              </a:rPr>
              <a:t>Monthly watch time trend is increasing on monthly basis indicating positive trend. Technical team just need to make sure the network has the capacity to cater for more viewers.  </a:t>
            </a:r>
          </a:p>
        </p:txBody>
      </p:sp>
      <p:sp>
        <p:nvSpPr>
          <p:cNvPr id="16" name="TextBox 15">
            <a:extLst>
              <a:ext uri="{FF2B5EF4-FFF2-40B4-BE49-F238E27FC236}">
                <a16:creationId xmlns:a16="http://schemas.microsoft.com/office/drawing/2014/main" id="{3813D1A6-9965-F85E-87D0-06C94512EC92}"/>
              </a:ext>
            </a:extLst>
          </p:cNvPr>
          <p:cNvSpPr txBox="1"/>
          <p:nvPr/>
        </p:nvSpPr>
        <p:spPr>
          <a:xfrm>
            <a:off x="8454156" y="2109804"/>
            <a:ext cx="2371726" cy="246221"/>
          </a:xfrm>
          <a:prstGeom prst="rect">
            <a:avLst/>
          </a:prstGeom>
          <a:solidFill>
            <a:schemeClr val="accent5">
              <a:lumMod val="40000"/>
              <a:lumOff val="60000"/>
            </a:schemeClr>
          </a:solidFill>
          <a:ln w="6350">
            <a:noFill/>
            <a:prstDash val="dash"/>
          </a:ln>
        </p:spPr>
        <p:txBody>
          <a:bodyPr wrap="square" lIns="0" tIns="0" rIns="0" bIns="0" rtlCol="0">
            <a:spAutoFit/>
          </a:bodyPr>
          <a:lstStyle/>
          <a:p>
            <a:pPr algn="ctr"/>
            <a:r>
              <a:rPr lang="en-US" sz="1600" b="1" dirty="0">
                <a:solidFill>
                  <a:schemeClr val="tx1">
                    <a:lumMod val="75000"/>
                    <a:lumOff val="25000"/>
                  </a:schemeClr>
                </a:solidFill>
              </a:rPr>
              <a:t>Upward trend </a:t>
            </a:r>
          </a:p>
        </p:txBody>
      </p:sp>
      <p:graphicFrame>
        <p:nvGraphicFramePr>
          <p:cNvPr id="2" name="Chart 1">
            <a:extLst>
              <a:ext uri="{FF2B5EF4-FFF2-40B4-BE49-F238E27FC236}">
                <a16:creationId xmlns:a16="http://schemas.microsoft.com/office/drawing/2014/main" id="{72223024-506F-4536-A517-8C9BF1FAF177}"/>
              </a:ext>
            </a:extLst>
          </p:cNvPr>
          <p:cNvGraphicFramePr>
            <a:graphicFrameLocks/>
          </p:cNvGraphicFramePr>
          <p:nvPr>
            <p:extLst>
              <p:ext uri="{D42A27DB-BD31-4B8C-83A1-F6EECF244321}">
                <p14:modId xmlns:p14="http://schemas.microsoft.com/office/powerpoint/2010/main" val="862188835"/>
              </p:ext>
            </p:extLst>
          </p:nvPr>
        </p:nvGraphicFramePr>
        <p:xfrm>
          <a:off x="838200" y="2155497"/>
          <a:ext cx="6813430" cy="38443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6728615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a:extLst>
            <a:ext uri="{FF2B5EF4-FFF2-40B4-BE49-F238E27FC236}">
              <a16:creationId xmlns:a16="http://schemas.microsoft.com/office/drawing/2014/main" id="{CC37E7D3-5358-9ED8-F742-43EA3497243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6F00C380-DD99-2FE7-27A7-36D5792AFD6C}"/>
              </a:ext>
            </a:extLst>
          </p:cNvPr>
          <p:cNvSpPr/>
          <p:nvPr/>
        </p:nvSpPr>
        <p:spPr>
          <a:xfrm>
            <a:off x="523238" y="826856"/>
            <a:ext cx="11145523" cy="5510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0" name="Title 139">
            <a:extLst>
              <a:ext uri="{FF2B5EF4-FFF2-40B4-BE49-F238E27FC236}">
                <a16:creationId xmlns:a16="http://schemas.microsoft.com/office/drawing/2014/main" id="{E4BC90D5-1ED4-92CD-3011-65586C72FB80}"/>
              </a:ext>
            </a:extLst>
          </p:cNvPr>
          <p:cNvSpPr>
            <a:spLocks noGrp="1"/>
          </p:cNvSpPr>
          <p:nvPr>
            <p:ph type="title"/>
          </p:nvPr>
        </p:nvSpPr>
        <p:spPr/>
        <p:txBody>
          <a:bodyPr/>
          <a:lstStyle/>
          <a:p>
            <a:r>
              <a:rPr lang="en-US" b="1" dirty="0">
                <a:solidFill>
                  <a:schemeClr val="tx1">
                    <a:lumMod val="75000"/>
                    <a:lumOff val="25000"/>
                  </a:schemeClr>
                </a:solidFill>
              </a:rPr>
              <a:t>Cockpit</a:t>
            </a:r>
            <a:r>
              <a:rPr lang="en-US" dirty="0">
                <a:solidFill>
                  <a:schemeClr val="tx1">
                    <a:lumMod val="75000"/>
                    <a:lumOff val="25000"/>
                  </a:schemeClr>
                </a:solidFill>
              </a:rPr>
              <a:t> charts</a:t>
            </a:r>
          </a:p>
        </p:txBody>
      </p:sp>
      <p:sp>
        <p:nvSpPr>
          <p:cNvPr id="141" name="Date Placeholder 140">
            <a:extLst>
              <a:ext uri="{FF2B5EF4-FFF2-40B4-BE49-F238E27FC236}">
                <a16:creationId xmlns:a16="http://schemas.microsoft.com/office/drawing/2014/main" id="{ABDDF374-AB01-559F-5325-E3DE55B44091}"/>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2" name="Footer Placeholder 141">
            <a:extLst>
              <a:ext uri="{FF2B5EF4-FFF2-40B4-BE49-F238E27FC236}">
                <a16:creationId xmlns:a16="http://schemas.microsoft.com/office/drawing/2014/main" id="{C86C6308-4B03-4DED-1586-CECBFE227031}"/>
              </a:ext>
            </a:extLst>
          </p:cNvPr>
          <p:cNvSpPr>
            <a:spLocks noGrp="1"/>
          </p:cNvSpPr>
          <p:nvPr>
            <p:ph type="ftr" sz="quarter" idx="11"/>
          </p:nvPr>
        </p:nvSpPr>
        <p:spPr/>
        <p:txBody>
          <a:bodyPr/>
          <a:lstStyle/>
          <a:p>
            <a:r>
              <a:rPr lang="en-US"/>
              <a:t>Your Logo Here</a:t>
            </a:r>
            <a:endParaRPr lang="en-US" dirty="0"/>
          </a:p>
        </p:txBody>
      </p:sp>
      <p:sp>
        <p:nvSpPr>
          <p:cNvPr id="143" name="Slide Number Placeholder 142">
            <a:extLst>
              <a:ext uri="{FF2B5EF4-FFF2-40B4-BE49-F238E27FC236}">
                <a16:creationId xmlns:a16="http://schemas.microsoft.com/office/drawing/2014/main" id="{4C0A3FB8-BBDC-DF77-CCF5-E1F4D452FE2A}"/>
              </a:ext>
            </a:extLst>
          </p:cNvPr>
          <p:cNvSpPr>
            <a:spLocks noGrp="1"/>
          </p:cNvSpPr>
          <p:nvPr>
            <p:ph type="sldNum" sz="quarter" idx="12"/>
          </p:nvPr>
        </p:nvSpPr>
        <p:spPr/>
        <p:txBody>
          <a:bodyPr/>
          <a:lstStyle/>
          <a:p>
            <a:fld id="{9598DBAD-472B-4D31-8670-5164AECB0621}" type="slidenum">
              <a:rPr lang="en-US" smtClean="0"/>
              <a:pPr/>
              <a:t>9</a:t>
            </a:fld>
            <a:endParaRPr lang="en-US"/>
          </a:p>
        </p:txBody>
      </p:sp>
      <p:sp>
        <p:nvSpPr>
          <p:cNvPr id="103" name="Round Same Side Corner Rectangle 17">
            <a:extLst>
              <a:ext uri="{FF2B5EF4-FFF2-40B4-BE49-F238E27FC236}">
                <a16:creationId xmlns:a16="http://schemas.microsoft.com/office/drawing/2014/main" id="{F82663ED-194B-9988-4ABB-AF312A0518DB}"/>
              </a:ext>
            </a:extLst>
          </p:cNvPr>
          <p:cNvSpPr/>
          <p:nvPr/>
        </p:nvSpPr>
        <p:spPr>
          <a:xfrm>
            <a:off x="748496" y="1822128"/>
            <a:ext cx="6806592" cy="507283"/>
          </a:xfrm>
          <a:prstGeom prst="round2SameRect">
            <a:avLst>
              <a:gd name="adj1" fmla="val 27778"/>
              <a:gd name="adj2"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rgbClr val="FFFFFF"/>
                </a:solidFill>
                <a:ea typeface="ＭＳ Ｐゴシック" charset="0"/>
                <a:cs typeface="ＭＳ Ｐゴシック" charset="0"/>
              </a:rPr>
              <a:t>Monthly and time of the day session trend</a:t>
            </a:r>
          </a:p>
        </p:txBody>
      </p:sp>
      <p:sp>
        <p:nvSpPr>
          <p:cNvPr id="14" name="TextBox 13">
            <a:extLst>
              <a:ext uri="{FF2B5EF4-FFF2-40B4-BE49-F238E27FC236}">
                <a16:creationId xmlns:a16="http://schemas.microsoft.com/office/drawing/2014/main" id="{98EF4D37-B56D-204B-C1B5-F8AAEA96311C}"/>
              </a:ext>
            </a:extLst>
          </p:cNvPr>
          <p:cNvSpPr txBox="1"/>
          <p:nvPr/>
        </p:nvSpPr>
        <p:spPr>
          <a:xfrm>
            <a:off x="8405885" y="2640612"/>
            <a:ext cx="2371726" cy="1477328"/>
          </a:xfrm>
          <a:prstGeom prst="rect">
            <a:avLst/>
          </a:prstGeom>
          <a:noFill/>
          <a:ln w="6350">
            <a:noFill/>
            <a:prstDash val="dash"/>
          </a:ln>
        </p:spPr>
        <p:txBody>
          <a:bodyPr wrap="square" lIns="0" tIns="0" rIns="0" bIns="0" rtlCol="0">
            <a:spAutoFit/>
          </a:bodyPr>
          <a:lstStyle/>
          <a:p>
            <a:r>
              <a:rPr lang="en-US" sz="1600" dirty="0">
                <a:solidFill>
                  <a:schemeClr val="tx1">
                    <a:lumMod val="75000"/>
                    <a:lumOff val="25000"/>
                  </a:schemeClr>
                </a:solidFill>
              </a:rPr>
              <a:t>An upward trend is observed on the monthly and time of the day sessions. This indicates that sessions increasing we need to keep it this way </a:t>
            </a:r>
          </a:p>
        </p:txBody>
      </p:sp>
      <p:sp>
        <p:nvSpPr>
          <p:cNvPr id="16" name="TextBox 15">
            <a:extLst>
              <a:ext uri="{FF2B5EF4-FFF2-40B4-BE49-F238E27FC236}">
                <a16:creationId xmlns:a16="http://schemas.microsoft.com/office/drawing/2014/main" id="{A29739DE-4544-B536-4545-31EF7EE6CEA3}"/>
              </a:ext>
            </a:extLst>
          </p:cNvPr>
          <p:cNvSpPr txBox="1"/>
          <p:nvPr/>
        </p:nvSpPr>
        <p:spPr>
          <a:xfrm>
            <a:off x="8405885" y="2350319"/>
            <a:ext cx="2371726" cy="246221"/>
          </a:xfrm>
          <a:prstGeom prst="rect">
            <a:avLst/>
          </a:prstGeom>
          <a:solidFill>
            <a:schemeClr val="accent4">
              <a:lumMod val="20000"/>
              <a:lumOff val="80000"/>
            </a:schemeClr>
          </a:solidFill>
          <a:ln w="6350">
            <a:noFill/>
            <a:prstDash val="dash"/>
          </a:ln>
        </p:spPr>
        <p:txBody>
          <a:bodyPr wrap="square" lIns="0" tIns="0" rIns="0" bIns="0" rtlCol="0">
            <a:spAutoFit/>
          </a:bodyPr>
          <a:lstStyle/>
          <a:p>
            <a:pPr algn="ctr"/>
            <a:r>
              <a:rPr lang="en-US" sz="1600" b="1" dirty="0">
                <a:solidFill>
                  <a:schemeClr val="tx1">
                    <a:lumMod val="75000"/>
                    <a:lumOff val="25000"/>
                  </a:schemeClr>
                </a:solidFill>
              </a:rPr>
              <a:t>Positive Trend </a:t>
            </a:r>
          </a:p>
        </p:txBody>
      </p:sp>
      <p:graphicFrame>
        <p:nvGraphicFramePr>
          <p:cNvPr id="3" name="Chart 2">
            <a:extLst>
              <a:ext uri="{FF2B5EF4-FFF2-40B4-BE49-F238E27FC236}">
                <a16:creationId xmlns:a16="http://schemas.microsoft.com/office/drawing/2014/main" id="{B2B5FDE7-E845-06D7-F766-1F49CB381ECC}"/>
              </a:ext>
            </a:extLst>
          </p:cNvPr>
          <p:cNvGraphicFramePr>
            <a:graphicFrameLocks/>
          </p:cNvGraphicFramePr>
          <p:nvPr>
            <p:extLst>
              <p:ext uri="{D42A27DB-BD31-4B8C-83A1-F6EECF244321}">
                <p14:modId xmlns:p14="http://schemas.microsoft.com/office/powerpoint/2010/main" val="2183318761"/>
              </p:ext>
            </p:extLst>
          </p:nvPr>
        </p:nvGraphicFramePr>
        <p:xfrm>
          <a:off x="748496" y="2346385"/>
          <a:ext cx="6806592" cy="36662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52949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a:extLst>
            <a:ext uri="{FF2B5EF4-FFF2-40B4-BE49-F238E27FC236}">
              <a16:creationId xmlns:a16="http://schemas.microsoft.com/office/drawing/2014/main" id="{47CCFEA3-A882-78D9-8ACA-52327272DF4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D68B8DD8-0247-313F-E1B7-0255D3692658}"/>
              </a:ext>
            </a:extLst>
          </p:cNvPr>
          <p:cNvSpPr/>
          <p:nvPr/>
        </p:nvSpPr>
        <p:spPr>
          <a:xfrm>
            <a:off x="523238" y="845390"/>
            <a:ext cx="11145523" cy="5510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0" name="Title 139">
            <a:extLst>
              <a:ext uri="{FF2B5EF4-FFF2-40B4-BE49-F238E27FC236}">
                <a16:creationId xmlns:a16="http://schemas.microsoft.com/office/drawing/2014/main" id="{83CF910B-3C29-5A1B-329E-9EA45436EBD1}"/>
              </a:ext>
            </a:extLst>
          </p:cNvPr>
          <p:cNvSpPr>
            <a:spLocks noGrp="1"/>
          </p:cNvSpPr>
          <p:nvPr>
            <p:ph type="title"/>
          </p:nvPr>
        </p:nvSpPr>
        <p:spPr/>
        <p:txBody>
          <a:bodyPr/>
          <a:lstStyle/>
          <a:p>
            <a:r>
              <a:rPr lang="en-US" b="1" dirty="0">
                <a:solidFill>
                  <a:schemeClr val="tx1">
                    <a:lumMod val="75000"/>
                    <a:lumOff val="25000"/>
                  </a:schemeClr>
                </a:solidFill>
              </a:rPr>
              <a:t>Cockpit</a:t>
            </a:r>
            <a:r>
              <a:rPr lang="en-US" dirty="0">
                <a:solidFill>
                  <a:schemeClr val="tx1">
                    <a:lumMod val="75000"/>
                    <a:lumOff val="25000"/>
                  </a:schemeClr>
                </a:solidFill>
              </a:rPr>
              <a:t> charts</a:t>
            </a:r>
          </a:p>
        </p:txBody>
      </p:sp>
      <p:sp>
        <p:nvSpPr>
          <p:cNvPr id="141" name="Date Placeholder 140">
            <a:extLst>
              <a:ext uri="{FF2B5EF4-FFF2-40B4-BE49-F238E27FC236}">
                <a16:creationId xmlns:a16="http://schemas.microsoft.com/office/drawing/2014/main" id="{F2F8FF26-DE32-F855-8C32-6564BEE2E52C}"/>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2" name="Footer Placeholder 141">
            <a:extLst>
              <a:ext uri="{FF2B5EF4-FFF2-40B4-BE49-F238E27FC236}">
                <a16:creationId xmlns:a16="http://schemas.microsoft.com/office/drawing/2014/main" id="{570495E6-B4BD-424C-4E3C-8F335FDCCF04}"/>
              </a:ext>
            </a:extLst>
          </p:cNvPr>
          <p:cNvSpPr>
            <a:spLocks noGrp="1"/>
          </p:cNvSpPr>
          <p:nvPr>
            <p:ph type="ftr" sz="quarter" idx="11"/>
          </p:nvPr>
        </p:nvSpPr>
        <p:spPr/>
        <p:txBody>
          <a:bodyPr/>
          <a:lstStyle/>
          <a:p>
            <a:r>
              <a:rPr lang="en-US"/>
              <a:t>Your Logo Here</a:t>
            </a:r>
            <a:endParaRPr lang="en-US" dirty="0"/>
          </a:p>
        </p:txBody>
      </p:sp>
      <p:sp>
        <p:nvSpPr>
          <p:cNvPr id="143" name="Slide Number Placeholder 142">
            <a:extLst>
              <a:ext uri="{FF2B5EF4-FFF2-40B4-BE49-F238E27FC236}">
                <a16:creationId xmlns:a16="http://schemas.microsoft.com/office/drawing/2014/main" id="{0415E086-E27E-7328-F7ED-D3AB658D0ED4}"/>
              </a:ext>
            </a:extLst>
          </p:cNvPr>
          <p:cNvSpPr>
            <a:spLocks noGrp="1"/>
          </p:cNvSpPr>
          <p:nvPr>
            <p:ph type="sldNum" sz="quarter" idx="12"/>
          </p:nvPr>
        </p:nvSpPr>
        <p:spPr/>
        <p:txBody>
          <a:bodyPr/>
          <a:lstStyle/>
          <a:p>
            <a:fld id="{9598DBAD-472B-4D31-8670-5164AECB0621}" type="slidenum">
              <a:rPr lang="en-US" smtClean="0"/>
              <a:pPr/>
              <a:t>10</a:t>
            </a:fld>
            <a:endParaRPr lang="en-US"/>
          </a:p>
        </p:txBody>
      </p:sp>
      <p:sp>
        <p:nvSpPr>
          <p:cNvPr id="103" name="Round Same Side Corner Rectangle 17">
            <a:extLst>
              <a:ext uri="{FF2B5EF4-FFF2-40B4-BE49-F238E27FC236}">
                <a16:creationId xmlns:a16="http://schemas.microsoft.com/office/drawing/2014/main" id="{467DB939-2176-77E3-FE22-CCED7DCC68A0}"/>
              </a:ext>
            </a:extLst>
          </p:cNvPr>
          <p:cNvSpPr/>
          <p:nvPr/>
        </p:nvSpPr>
        <p:spPr>
          <a:xfrm>
            <a:off x="838200" y="1798996"/>
            <a:ext cx="6629400" cy="507283"/>
          </a:xfrm>
          <a:prstGeom prst="round2SameRect">
            <a:avLst>
              <a:gd name="adj1" fmla="val 27778"/>
              <a:gd name="adj2"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rgbClr val="FFFFFF"/>
                </a:solidFill>
                <a:ea typeface="ＭＳ Ｐゴシック" charset="0"/>
                <a:cs typeface="ＭＳ Ｐゴシック" charset="0"/>
              </a:rPr>
              <a:t>Sessions per channel by Gender</a:t>
            </a:r>
          </a:p>
        </p:txBody>
      </p:sp>
      <p:sp>
        <p:nvSpPr>
          <p:cNvPr id="107" name="Rektangel 76">
            <a:extLst>
              <a:ext uri="{FF2B5EF4-FFF2-40B4-BE49-F238E27FC236}">
                <a16:creationId xmlns:a16="http://schemas.microsoft.com/office/drawing/2014/main" id="{3FA1CE6A-2655-7C5B-4821-3E155179F50F}"/>
              </a:ext>
            </a:extLst>
          </p:cNvPr>
          <p:cNvSpPr>
            <a:spLocks noChangeArrowheads="1"/>
          </p:cNvSpPr>
          <p:nvPr/>
        </p:nvSpPr>
        <p:spPr bwMode="auto">
          <a:xfrm>
            <a:off x="6417225" y="1178321"/>
            <a:ext cx="318282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spcAft>
                <a:spcPts val="600"/>
              </a:spcAft>
            </a:pPr>
            <a:r>
              <a:rPr lang="en-US" altLang="en-US" sz="1200" b="1" noProof="1">
                <a:solidFill>
                  <a:srgbClr val="FFFFFF"/>
                </a:solidFill>
                <a:latin typeface="+mj-lt"/>
              </a:rPr>
              <a:t>Lorem Ipsum</a:t>
            </a:r>
          </a:p>
        </p:txBody>
      </p:sp>
      <p:sp>
        <p:nvSpPr>
          <p:cNvPr id="8" name="TextBox 7">
            <a:extLst>
              <a:ext uri="{FF2B5EF4-FFF2-40B4-BE49-F238E27FC236}">
                <a16:creationId xmlns:a16="http://schemas.microsoft.com/office/drawing/2014/main" id="{48427216-3EF4-E8CB-85D2-4B8F4B5DBADD}"/>
              </a:ext>
            </a:extLst>
          </p:cNvPr>
          <p:cNvSpPr txBox="1"/>
          <p:nvPr/>
        </p:nvSpPr>
        <p:spPr>
          <a:xfrm>
            <a:off x="8382317" y="2596572"/>
            <a:ext cx="2371726" cy="1969770"/>
          </a:xfrm>
          <a:prstGeom prst="rect">
            <a:avLst/>
          </a:prstGeom>
          <a:noFill/>
          <a:ln w="6350">
            <a:noFill/>
            <a:prstDash val="dash"/>
          </a:ln>
        </p:spPr>
        <p:txBody>
          <a:bodyPr wrap="square" lIns="0" tIns="0" rIns="0" bIns="0" rtlCol="0">
            <a:spAutoFit/>
          </a:bodyPr>
          <a:lstStyle/>
          <a:p>
            <a:r>
              <a:rPr lang="en-US" sz="1600" dirty="0">
                <a:solidFill>
                  <a:schemeClr val="tx1">
                    <a:lumMod val="75000"/>
                    <a:lumOff val="25000"/>
                  </a:schemeClr>
                </a:solidFill>
              </a:rPr>
              <a:t>The graph depict that Live Events channel is leading in terms of session and it is predominated by males and the channel with the least sessions MK. Note Wimbledon channel has close to no sessions. </a:t>
            </a:r>
          </a:p>
        </p:txBody>
      </p:sp>
      <p:sp>
        <p:nvSpPr>
          <p:cNvPr id="10" name="TextBox 9">
            <a:extLst>
              <a:ext uri="{FF2B5EF4-FFF2-40B4-BE49-F238E27FC236}">
                <a16:creationId xmlns:a16="http://schemas.microsoft.com/office/drawing/2014/main" id="{08921D27-56DE-A803-4879-49F3F77A82C0}"/>
              </a:ext>
            </a:extLst>
          </p:cNvPr>
          <p:cNvSpPr txBox="1"/>
          <p:nvPr/>
        </p:nvSpPr>
        <p:spPr>
          <a:xfrm>
            <a:off x="8382317" y="2306279"/>
            <a:ext cx="2371726" cy="246221"/>
          </a:xfrm>
          <a:prstGeom prst="rect">
            <a:avLst/>
          </a:prstGeom>
          <a:solidFill>
            <a:schemeClr val="accent5">
              <a:lumMod val="40000"/>
              <a:lumOff val="60000"/>
            </a:schemeClr>
          </a:solidFill>
          <a:ln w="6350">
            <a:noFill/>
            <a:prstDash val="dash"/>
          </a:ln>
        </p:spPr>
        <p:txBody>
          <a:bodyPr wrap="square" lIns="0" tIns="0" rIns="0" bIns="0" rtlCol="0">
            <a:spAutoFit/>
          </a:bodyPr>
          <a:lstStyle/>
          <a:p>
            <a:pPr algn="ctr"/>
            <a:r>
              <a:rPr lang="en-US" sz="1600" b="1" dirty="0">
                <a:solidFill>
                  <a:schemeClr val="tx1">
                    <a:lumMod val="75000"/>
                    <a:lumOff val="25000"/>
                  </a:schemeClr>
                </a:solidFill>
              </a:rPr>
              <a:t>Session per channels</a:t>
            </a:r>
          </a:p>
        </p:txBody>
      </p:sp>
      <p:graphicFrame>
        <p:nvGraphicFramePr>
          <p:cNvPr id="7" name="Chart 6">
            <a:extLst>
              <a:ext uri="{FF2B5EF4-FFF2-40B4-BE49-F238E27FC236}">
                <a16:creationId xmlns:a16="http://schemas.microsoft.com/office/drawing/2014/main" id="{05ACE3BD-8FD2-D406-E1DC-F620C0369A42}"/>
              </a:ext>
            </a:extLst>
          </p:cNvPr>
          <p:cNvGraphicFramePr>
            <a:graphicFrameLocks/>
          </p:cNvGraphicFramePr>
          <p:nvPr>
            <p:extLst>
              <p:ext uri="{D42A27DB-BD31-4B8C-83A1-F6EECF244321}">
                <p14:modId xmlns:p14="http://schemas.microsoft.com/office/powerpoint/2010/main" val="1615289594"/>
              </p:ext>
            </p:extLst>
          </p:nvPr>
        </p:nvGraphicFramePr>
        <p:xfrm>
          <a:off x="838200" y="2306279"/>
          <a:ext cx="6629400" cy="381446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049420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E9B4D20-BE57-948C-130A-FBA3D51D2138}"/>
              </a:ext>
            </a:extLst>
          </p:cNvPr>
          <p:cNvSpPr/>
          <p:nvPr/>
        </p:nvSpPr>
        <p:spPr>
          <a:xfrm>
            <a:off x="838200" y="967844"/>
            <a:ext cx="10790208" cy="5274565"/>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0" name="Title 139">
            <a:extLst>
              <a:ext uri="{FF2B5EF4-FFF2-40B4-BE49-F238E27FC236}">
                <a16:creationId xmlns:a16="http://schemas.microsoft.com/office/drawing/2014/main" id="{37078B24-D0B3-4BFE-AAA4-7E72FB6EAB2E}"/>
              </a:ext>
            </a:extLst>
          </p:cNvPr>
          <p:cNvSpPr>
            <a:spLocks noGrp="1"/>
          </p:cNvSpPr>
          <p:nvPr>
            <p:ph type="title"/>
          </p:nvPr>
        </p:nvSpPr>
        <p:spPr/>
        <p:txBody>
          <a:bodyPr/>
          <a:lstStyle/>
          <a:p>
            <a:r>
              <a:rPr lang="en-US" b="1" dirty="0">
                <a:solidFill>
                  <a:schemeClr val="tx1">
                    <a:lumMod val="75000"/>
                    <a:lumOff val="25000"/>
                  </a:schemeClr>
                </a:solidFill>
              </a:rPr>
              <a:t>Cockpit</a:t>
            </a:r>
            <a:r>
              <a:rPr lang="en-US" dirty="0">
                <a:solidFill>
                  <a:schemeClr val="tx1">
                    <a:lumMod val="75000"/>
                    <a:lumOff val="25000"/>
                  </a:schemeClr>
                </a:solidFill>
              </a:rPr>
              <a:t> charts</a:t>
            </a:r>
          </a:p>
        </p:txBody>
      </p:sp>
      <p:sp>
        <p:nvSpPr>
          <p:cNvPr id="141" name="Date Placeholder 140">
            <a:extLst>
              <a:ext uri="{FF2B5EF4-FFF2-40B4-BE49-F238E27FC236}">
                <a16:creationId xmlns:a16="http://schemas.microsoft.com/office/drawing/2014/main" id="{5F80FDB6-F97C-4D0F-9303-25473A0C539D}"/>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2" name="Footer Placeholder 141">
            <a:extLst>
              <a:ext uri="{FF2B5EF4-FFF2-40B4-BE49-F238E27FC236}">
                <a16:creationId xmlns:a16="http://schemas.microsoft.com/office/drawing/2014/main" id="{B5D661C5-36CD-4F72-9349-99F40356304C}"/>
              </a:ext>
            </a:extLst>
          </p:cNvPr>
          <p:cNvSpPr>
            <a:spLocks noGrp="1"/>
          </p:cNvSpPr>
          <p:nvPr>
            <p:ph type="ftr" sz="quarter" idx="11"/>
          </p:nvPr>
        </p:nvSpPr>
        <p:spPr/>
        <p:txBody>
          <a:bodyPr/>
          <a:lstStyle/>
          <a:p>
            <a:r>
              <a:rPr lang="en-US"/>
              <a:t>Your Logo Here</a:t>
            </a:r>
            <a:endParaRPr lang="en-US" dirty="0"/>
          </a:p>
        </p:txBody>
      </p:sp>
      <p:sp>
        <p:nvSpPr>
          <p:cNvPr id="143" name="Slide Number Placeholder 142">
            <a:extLst>
              <a:ext uri="{FF2B5EF4-FFF2-40B4-BE49-F238E27FC236}">
                <a16:creationId xmlns:a16="http://schemas.microsoft.com/office/drawing/2014/main" id="{F0C912A4-DC8D-4B44-AACF-327C575270BF}"/>
              </a:ext>
            </a:extLst>
          </p:cNvPr>
          <p:cNvSpPr>
            <a:spLocks noGrp="1"/>
          </p:cNvSpPr>
          <p:nvPr>
            <p:ph type="sldNum" sz="quarter" idx="12"/>
          </p:nvPr>
        </p:nvSpPr>
        <p:spPr/>
        <p:txBody>
          <a:bodyPr/>
          <a:lstStyle/>
          <a:p>
            <a:fld id="{9598DBAD-472B-4D31-8670-5164AECB0621}" type="slidenum">
              <a:rPr lang="en-US" smtClean="0"/>
              <a:pPr/>
              <a:t>11</a:t>
            </a:fld>
            <a:endParaRPr lang="en-US"/>
          </a:p>
        </p:txBody>
      </p:sp>
      <p:sp>
        <p:nvSpPr>
          <p:cNvPr id="103" name="Round Same Side Corner Rectangle 17">
            <a:extLst>
              <a:ext uri="{FF2B5EF4-FFF2-40B4-BE49-F238E27FC236}">
                <a16:creationId xmlns:a16="http://schemas.microsoft.com/office/drawing/2014/main" id="{AB658955-1FDE-4F87-96A0-3F7CFC1A7080}"/>
              </a:ext>
            </a:extLst>
          </p:cNvPr>
          <p:cNvSpPr/>
          <p:nvPr/>
        </p:nvSpPr>
        <p:spPr>
          <a:xfrm>
            <a:off x="1352722" y="1718474"/>
            <a:ext cx="4095924" cy="391330"/>
          </a:xfrm>
          <a:prstGeom prst="round2SameRect">
            <a:avLst>
              <a:gd name="adj1" fmla="val 27778"/>
              <a:gd name="adj2"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a typeface="ＭＳ Ｐゴシック" charset="0"/>
              <a:cs typeface="ＭＳ Ｐゴシック" charset="0"/>
            </a:endParaRPr>
          </a:p>
        </p:txBody>
      </p:sp>
      <p:graphicFrame>
        <p:nvGraphicFramePr>
          <p:cNvPr id="5" name="Chart 4">
            <a:extLst>
              <a:ext uri="{FF2B5EF4-FFF2-40B4-BE49-F238E27FC236}">
                <a16:creationId xmlns:a16="http://schemas.microsoft.com/office/drawing/2014/main" id="{4A464D60-5D43-C69D-14D9-E2DB369E051A}"/>
              </a:ext>
            </a:extLst>
          </p:cNvPr>
          <p:cNvGraphicFramePr>
            <a:graphicFrameLocks/>
          </p:cNvGraphicFramePr>
          <p:nvPr>
            <p:extLst>
              <p:ext uri="{D42A27DB-BD31-4B8C-83A1-F6EECF244321}">
                <p14:modId xmlns:p14="http://schemas.microsoft.com/office/powerpoint/2010/main" val="1088417655"/>
              </p:ext>
            </p:extLst>
          </p:nvPr>
        </p:nvGraphicFramePr>
        <p:xfrm>
          <a:off x="933739" y="1602521"/>
          <a:ext cx="6381461" cy="4570703"/>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a:extLst>
              <a:ext uri="{FF2B5EF4-FFF2-40B4-BE49-F238E27FC236}">
                <a16:creationId xmlns:a16="http://schemas.microsoft.com/office/drawing/2014/main" id="{1EBE6230-4E00-0DE7-BAF2-A73D0B2BBDCA}"/>
              </a:ext>
            </a:extLst>
          </p:cNvPr>
          <p:cNvSpPr txBox="1"/>
          <p:nvPr/>
        </p:nvSpPr>
        <p:spPr>
          <a:xfrm>
            <a:off x="7651630" y="2968086"/>
            <a:ext cx="3191774" cy="646331"/>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Observed other channels improving through out the day and other channels not improving </a:t>
            </a:r>
          </a:p>
        </p:txBody>
      </p:sp>
      <p:sp>
        <p:nvSpPr>
          <p:cNvPr id="16" name="TextBox 15">
            <a:extLst>
              <a:ext uri="{FF2B5EF4-FFF2-40B4-BE49-F238E27FC236}">
                <a16:creationId xmlns:a16="http://schemas.microsoft.com/office/drawing/2014/main" id="{FB1E6A64-8EDE-66C5-7934-5C69340ECC8C}"/>
              </a:ext>
            </a:extLst>
          </p:cNvPr>
          <p:cNvSpPr txBox="1"/>
          <p:nvPr/>
        </p:nvSpPr>
        <p:spPr>
          <a:xfrm>
            <a:off x="7651630" y="2677793"/>
            <a:ext cx="3191774" cy="246221"/>
          </a:xfrm>
          <a:prstGeom prst="rect">
            <a:avLst/>
          </a:prstGeom>
          <a:solidFill>
            <a:schemeClr val="accent1">
              <a:lumMod val="20000"/>
              <a:lumOff val="80000"/>
            </a:schemeClr>
          </a:solidFill>
          <a:ln w="6350">
            <a:noFill/>
            <a:prstDash val="dash"/>
          </a:ln>
        </p:spPr>
        <p:txBody>
          <a:bodyPr wrap="square" lIns="0" tIns="0" rIns="0" bIns="0" rtlCol="0">
            <a:spAutoFit/>
          </a:bodyPr>
          <a:lstStyle/>
          <a:p>
            <a:pPr algn="ctr"/>
            <a:r>
              <a:rPr lang="en-US" sz="1600" b="1" dirty="0">
                <a:solidFill>
                  <a:schemeClr val="tx1">
                    <a:lumMod val="75000"/>
                    <a:lumOff val="25000"/>
                  </a:schemeClr>
                </a:solidFill>
              </a:rPr>
              <a:t>Sessions per Channel by time of the day</a:t>
            </a:r>
          </a:p>
        </p:txBody>
      </p:sp>
    </p:spTree>
    <p:extLst>
      <p:ext uri="{BB962C8B-B14F-4D97-AF65-F5344CB8AC3E}">
        <p14:creationId xmlns:p14="http://schemas.microsoft.com/office/powerpoint/2010/main" val="4632113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a:extLst>
            <a:ext uri="{FF2B5EF4-FFF2-40B4-BE49-F238E27FC236}">
              <a16:creationId xmlns:a16="http://schemas.microsoft.com/office/drawing/2014/main" id="{D2894B08-1ED1-DD06-B9C8-38B73F4F28A4}"/>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36F717E-AFF7-3DE4-4967-C12BE952A92E}"/>
              </a:ext>
            </a:extLst>
          </p:cNvPr>
          <p:cNvSpPr/>
          <p:nvPr/>
        </p:nvSpPr>
        <p:spPr>
          <a:xfrm>
            <a:off x="482885" y="854016"/>
            <a:ext cx="11145523" cy="5510960"/>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ZA"/>
          </a:p>
        </p:txBody>
      </p:sp>
      <p:sp>
        <p:nvSpPr>
          <p:cNvPr id="140" name="Title 139">
            <a:extLst>
              <a:ext uri="{FF2B5EF4-FFF2-40B4-BE49-F238E27FC236}">
                <a16:creationId xmlns:a16="http://schemas.microsoft.com/office/drawing/2014/main" id="{31975953-CDB3-36B7-0715-2EF6D2E6FEDD}"/>
              </a:ext>
            </a:extLst>
          </p:cNvPr>
          <p:cNvSpPr>
            <a:spLocks noGrp="1"/>
          </p:cNvSpPr>
          <p:nvPr>
            <p:ph type="title"/>
          </p:nvPr>
        </p:nvSpPr>
        <p:spPr/>
        <p:txBody>
          <a:bodyPr/>
          <a:lstStyle/>
          <a:p>
            <a:r>
              <a:rPr lang="en-US" b="1" dirty="0">
                <a:solidFill>
                  <a:schemeClr val="tx1">
                    <a:lumMod val="75000"/>
                    <a:lumOff val="25000"/>
                  </a:schemeClr>
                </a:solidFill>
              </a:rPr>
              <a:t>Cockpit</a:t>
            </a:r>
            <a:r>
              <a:rPr lang="en-US" dirty="0">
                <a:solidFill>
                  <a:schemeClr val="tx1">
                    <a:lumMod val="75000"/>
                    <a:lumOff val="25000"/>
                  </a:schemeClr>
                </a:solidFill>
              </a:rPr>
              <a:t> charts</a:t>
            </a:r>
          </a:p>
        </p:txBody>
      </p:sp>
      <p:sp>
        <p:nvSpPr>
          <p:cNvPr id="141" name="Date Placeholder 140">
            <a:extLst>
              <a:ext uri="{FF2B5EF4-FFF2-40B4-BE49-F238E27FC236}">
                <a16:creationId xmlns:a16="http://schemas.microsoft.com/office/drawing/2014/main" id="{4EFA0EEF-584C-C177-F87B-80BC83BC8C44}"/>
              </a:ext>
            </a:extLst>
          </p:cNvPr>
          <p:cNvSpPr>
            <a:spLocks noGrp="1"/>
          </p:cNvSpPr>
          <p:nvPr>
            <p:ph type="dt" sz="half" idx="10"/>
          </p:nvPr>
        </p:nvSpPr>
        <p:spPr/>
        <p:txBody>
          <a:bodyPr/>
          <a:lstStyle/>
          <a:p>
            <a:fld id="{D68A7203-DF6C-4801-BBEE-FAFB12310191}" type="datetime1">
              <a:rPr lang="en-US" smtClean="0"/>
              <a:t>9/30/2026</a:t>
            </a:fld>
            <a:endParaRPr lang="en-US"/>
          </a:p>
        </p:txBody>
      </p:sp>
      <p:sp>
        <p:nvSpPr>
          <p:cNvPr id="142" name="Footer Placeholder 141">
            <a:extLst>
              <a:ext uri="{FF2B5EF4-FFF2-40B4-BE49-F238E27FC236}">
                <a16:creationId xmlns:a16="http://schemas.microsoft.com/office/drawing/2014/main" id="{8390AA43-B76D-DBCC-1AA7-DA11CD246247}"/>
              </a:ext>
            </a:extLst>
          </p:cNvPr>
          <p:cNvSpPr>
            <a:spLocks noGrp="1"/>
          </p:cNvSpPr>
          <p:nvPr>
            <p:ph type="ftr" sz="quarter" idx="11"/>
          </p:nvPr>
        </p:nvSpPr>
        <p:spPr/>
        <p:txBody>
          <a:bodyPr/>
          <a:lstStyle/>
          <a:p>
            <a:r>
              <a:rPr lang="en-US"/>
              <a:t>Your Logo Here</a:t>
            </a:r>
            <a:endParaRPr lang="en-US" dirty="0"/>
          </a:p>
        </p:txBody>
      </p:sp>
      <p:sp>
        <p:nvSpPr>
          <p:cNvPr id="143" name="Slide Number Placeholder 142">
            <a:extLst>
              <a:ext uri="{FF2B5EF4-FFF2-40B4-BE49-F238E27FC236}">
                <a16:creationId xmlns:a16="http://schemas.microsoft.com/office/drawing/2014/main" id="{374AA619-2F31-AC15-7A86-530F65BB5F39}"/>
              </a:ext>
            </a:extLst>
          </p:cNvPr>
          <p:cNvSpPr>
            <a:spLocks noGrp="1"/>
          </p:cNvSpPr>
          <p:nvPr>
            <p:ph type="sldNum" sz="quarter" idx="12"/>
          </p:nvPr>
        </p:nvSpPr>
        <p:spPr/>
        <p:txBody>
          <a:bodyPr/>
          <a:lstStyle/>
          <a:p>
            <a:fld id="{9598DBAD-472B-4D31-8670-5164AECB0621}" type="slidenum">
              <a:rPr lang="en-US" smtClean="0"/>
              <a:pPr/>
              <a:t>12</a:t>
            </a:fld>
            <a:endParaRPr lang="en-US"/>
          </a:p>
        </p:txBody>
      </p:sp>
      <p:sp>
        <p:nvSpPr>
          <p:cNvPr id="103" name="Round Same Side Corner Rectangle 17">
            <a:extLst>
              <a:ext uri="{FF2B5EF4-FFF2-40B4-BE49-F238E27FC236}">
                <a16:creationId xmlns:a16="http://schemas.microsoft.com/office/drawing/2014/main" id="{839F16AC-637A-2FBC-20AA-8225D68A01ED}"/>
              </a:ext>
            </a:extLst>
          </p:cNvPr>
          <p:cNvSpPr/>
          <p:nvPr/>
        </p:nvSpPr>
        <p:spPr>
          <a:xfrm>
            <a:off x="914399" y="1526337"/>
            <a:ext cx="6392173" cy="507283"/>
          </a:xfrm>
          <a:prstGeom prst="round2SameRect">
            <a:avLst>
              <a:gd name="adj1" fmla="val 27778"/>
              <a:gd name="adj2"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en-US" dirty="0">
                <a:solidFill>
                  <a:srgbClr val="FFFFFF"/>
                </a:solidFill>
                <a:ea typeface="ＭＳ Ｐゴシック" charset="0"/>
                <a:cs typeface="ＭＳ Ｐゴシック" charset="0"/>
              </a:rPr>
              <a:t>Sessions per channel by Gender</a:t>
            </a:r>
          </a:p>
        </p:txBody>
      </p:sp>
      <p:sp>
        <p:nvSpPr>
          <p:cNvPr id="8" name="TextBox 7">
            <a:extLst>
              <a:ext uri="{FF2B5EF4-FFF2-40B4-BE49-F238E27FC236}">
                <a16:creationId xmlns:a16="http://schemas.microsoft.com/office/drawing/2014/main" id="{C2C6CA89-3688-0F47-CDD4-A5CC1A5B46BA}"/>
              </a:ext>
            </a:extLst>
          </p:cNvPr>
          <p:cNvSpPr txBox="1"/>
          <p:nvPr/>
        </p:nvSpPr>
        <p:spPr>
          <a:xfrm>
            <a:off x="8281628" y="2998113"/>
            <a:ext cx="2371726" cy="430887"/>
          </a:xfrm>
          <a:prstGeom prst="rect">
            <a:avLst/>
          </a:prstGeom>
          <a:noFill/>
          <a:ln w="6350">
            <a:noFill/>
            <a:prstDash val="dash"/>
          </a:ln>
        </p:spPr>
        <p:txBody>
          <a:bodyPr wrap="square" lIns="0" tIns="0" rIns="0" bIns="0" rtlCol="0">
            <a:spAutoFit/>
          </a:bodyPr>
          <a:lstStyle/>
          <a:p>
            <a:r>
              <a:rPr lang="en-US" sz="1400" dirty="0">
                <a:solidFill>
                  <a:schemeClr val="tx1">
                    <a:lumMod val="75000"/>
                    <a:lumOff val="25000"/>
                  </a:schemeClr>
                </a:solidFill>
              </a:rPr>
              <a:t>High Low usage has been observed in terms of sessions . </a:t>
            </a:r>
          </a:p>
        </p:txBody>
      </p:sp>
      <p:sp>
        <p:nvSpPr>
          <p:cNvPr id="10" name="TextBox 9">
            <a:extLst>
              <a:ext uri="{FF2B5EF4-FFF2-40B4-BE49-F238E27FC236}">
                <a16:creationId xmlns:a16="http://schemas.microsoft.com/office/drawing/2014/main" id="{D2C4A2A6-B9AE-1123-88B2-76799FEC9AD6}"/>
              </a:ext>
            </a:extLst>
          </p:cNvPr>
          <p:cNvSpPr txBox="1"/>
          <p:nvPr/>
        </p:nvSpPr>
        <p:spPr>
          <a:xfrm>
            <a:off x="8281628" y="2707820"/>
            <a:ext cx="2371726" cy="246221"/>
          </a:xfrm>
          <a:prstGeom prst="rect">
            <a:avLst/>
          </a:prstGeom>
          <a:solidFill>
            <a:schemeClr val="accent2"/>
          </a:solidFill>
          <a:ln w="6350">
            <a:noFill/>
            <a:prstDash val="dash"/>
          </a:ln>
        </p:spPr>
        <p:txBody>
          <a:bodyPr wrap="square" lIns="0" tIns="0" rIns="0" bIns="0" rtlCol="0">
            <a:spAutoFit/>
          </a:bodyPr>
          <a:lstStyle/>
          <a:p>
            <a:pPr algn="ctr"/>
            <a:r>
              <a:rPr lang="en-US" sz="1600" b="1" dirty="0">
                <a:solidFill>
                  <a:schemeClr val="tx1">
                    <a:lumMod val="75000"/>
                    <a:lumOff val="25000"/>
                  </a:schemeClr>
                </a:solidFill>
              </a:rPr>
              <a:t>Usage</a:t>
            </a:r>
          </a:p>
        </p:txBody>
      </p:sp>
      <p:graphicFrame>
        <p:nvGraphicFramePr>
          <p:cNvPr id="2" name="Chart 1">
            <a:extLst>
              <a:ext uri="{FF2B5EF4-FFF2-40B4-BE49-F238E27FC236}">
                <a16:creationId xmlns:a16="http://schemas.microsoft.com/office/drawing/2014/main" id="{A04D5AC3-F4BB-46D6-B5BE-F525345892E0}"/>
              </a:ext>
            </a:extLst>
          </p:cNvPr>
          <p:cNvGraphicFramePr>
            <a:graphicFrameLocks/>
          </p:cNvGraphicFramePr>
          <p:nvPr>
            <p:extLst>
              <p:ext uri="{D42A27DB-BD31-4B8C-83A1-F6EECF244321}">
                <p14:modId xmlns:p14="http://schemas.microsoft.com/office/powerpoint/2010/main" val="3737316395"/>
              </p:ext>
            </p:extLst>
          </p:nvPr>
        </p:nvGraphicFramePr>
        <p:xfrm>
          <a:off x="914400" y="2033620"/>
          <a:ext cx="6392174" cy="406525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4167772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pattFill prst="pct5">
          <a:fgClr>
            <a:schemeClr val="bg2"/>
          </a:fgClr>
          <a:bgClr>
            <a:schemeClr val="bg1"/>
          </a:bgClr>
        </a:pattFill>
        <a:effectLst/>
      </p:bgPr>
    </p:bg>
    <p:spTree>
      <p:nvGrpSpPr>
        <p:cNvPr id="1" name="">
          <a:extLst>
            <a:ext uri="{FF2B5EF4-FFF2-40B4-BE49-F238E27FC236}">
              <a16:creationId xmlns:a16="http://schemas.microsoft.com/office/drawing/2014/main" id="{67C25A34-5C3E-AC84-38A5-460A3DC5A864}"/>
            </a:ext>
          </a:extLst>
        </p:cNvPr>
        <p:cNvGrpSpPr/>
        <p:nvPr/>
      </p:nvGrpSpPr>
      <p:grpSpPr>
        <a:xfrm>
          <a:off x="0" y="0"/>
          <a:ext cx="0" cy="0"/>
          <a:chOff x="0" y="0"/>
          <a:chExt cx="0" cy="0"/>
        </a:xfrm>
      </p:grpSpPr>
      <p:sp>
        <p:nvSpPr>
          <p:cNvPr id="140" name="Title 139">
            <a:extLst>
              <a:ext uri="{FF2B5EF4-FFF2-40B4-BE49-F238E27FC236}">
                <a16:creationId xmlns:a16="http://schemas.microsoft.com/office/drawing/2014/main" id="{3C2BAB80-CCB4-E0BD-B55B-1675CE870D75}"/>
              </a:ext>
            </a:extLst>
          </p:cNvPr>
          <p:cNvSpPr>
            <a:spLocks noGrp="1"/>
          </p:cNvSpPr>
          <p:nvPr>
            <p:ph type="title"/>
          </p:nvPr>
        </p:nvSpPr>
        <p:spPr/>
        <p:txBody>
          <a:bodyPr/>
          <a:lstStyle/>
          <a:p>
            <a:r>
              <a:rPr lang="en-US" b="1" dirty="0">
                <a:solidFill>
                  <a:schemeClr val="tx1">
                    <a:lumMod val="75000"/>
                    <a:lumOff val="25000"/>
                  </a:schemeClr>
                </a:solidFill>
              </a:rPr>
              <a:t>Cockpit</a:t>
            </a:r>
            <a:r>
              <a:rPr lang="en-US" dirty="0">
                <a:solidFill>
                  <a:schemeClr val="tx1">
                    <a:lumMod val="75000"/>
                    <a:lumOff val="25000"/>
                  </a:schemeClr>
                </a:solidFill>
              </a:rPr>
              <a:t> charts</a:t>
            </a:r>
          </a:p>
        </p:txBody>
      </p:sp>
      <p:sp>
        <p:nvSpPr>
          <p:cNvPr id="141" name="Date Placeholder 140">
            <a:extLst>
              <a:ext uri="{FF2B5EF4-FFF2-40B4-BE49-F238E27FC236}">
                <a16:creationId xmlns:a16="http://schemas.microsoft.com/office/drawing/2014/main" id="{7861C671-E402-9567-E748-84368D87A66E}"/>
              </a:ext>
            </a:extLst>
          </p:cNvPr>
          <p:cNvSpPr>
            <a:spLocks noGrp="1"/>
          </p:cNvSpPr>
          <p:nvPr>
            <p:ph type="dt" sz="half" idx="10"/>
          </p:nvPr>
        </p:nvSpPr>
        <p:spPr>
          <a:xfrm>
            <a:off x="846809" y="6310312"/>
            <a:ext cx="2743200" cy="365125"/>
          </a:xfrm>
        </p:spPr>
        <p:txBody>
          <a:bodyPr/>
          <a:lstStyle/>
          <a:p>
            <a:fld id="{D68A7203-DF6C-4801-BBEE-FAFB12310191}" type="datetime1">
              <a:rPr lang="en-US" smtClean="0"/>
              <a:t>9/30/2026</a:t>
            </a:fld>
            <a:endParaRPr lang="en-US"/>
          </a:p>
        </p:txBody>
      </p:sp>
      <p:sp>
        <p:nvSpPr>
          <p:cNvPr id="142" name="Footer Placeholder 141">
            <a:extLst>
              <a:ext uri="{FF2B5EF4-FFF2-40B4-BE49-F238E27FC236}">
                <a16:creationId xmlns:a16="http://schemas.microsoft.com/office/drawing/2014/main" id="{18CC4CAA-1764-9E26-3D77-4BF14C549CFC}"/>
              </a:ext>
            </a:extLst>
          </p:cNvPr>
          <p:cNvSpPr>
            <a:spLocks noGrp="1"/>
          </p:cNvSpPr>
          <p:nvPr>
            <p:ph type="ftr" sz="quarter" idx="11"/>
          </p:nvPr>
        </p:nvSpPr>
        <p:spPr/>
        <p:txBody>
          <a:bodyPr/>
          <a:lstStyle/>
          <a:p>
            <a:r>
              <a:rPr lang="en-US"/>
              <a:t>Your Logo Here</a:t>
            </a:r>
            <a:endParaRPr lang="en-US" dirty="0"/>
          </a:p>
        </p:txBody>
      </p:sp>
      <p:sp>
        <p:nvSpPr>
          <p:cNvPr id="143" name="Slide Number Placeholder 142">
            <a:extLst>
              <a:ext uri="{FF2B5EF4-FFF2-40B4-BE49-F238E27FC236}">
                <a16:creationId xmlns:a16="http://schemas.microsoft.com/office/drawing/2014/main" id="{E7858F82-FFD0-B11A-05D6-7855CDB55A74}"/>
              </a:ext>
            </a:extLst>
          </p:cNvPr>
          <p:cNvSpPr>
            <a:spLocks noGrp="1"/>
          </p:cNvSpPr>
          <p:nvPr>
            <p:ph type="sldNum" sz="quarter" idx="12"/>
          </p:nvPr>
        </p:nvSpPr>
        <p:spPr/>
        <p:txBody>
          <a:bodyPr/>
          <a:lstStyle/>
          <a:p>
            <a:fld id="{9598DBAD-472B-4D31-8670-5164AECB0621}" type="slidenum">
              <a:rPr lang="en-US" smtClean="0"/>
              <a:pPr/>
              <a:t>13</a:t>
            </a:fld>
            <a:endParaRPr lang="en-US"/>
          </a:p>
        </p:txBody>
      </p:sp>
      <p:sp>
        <p:nvSpPr>
          <p:cNvPr id="107" name="Rektangel 76">
            <a:extLst>
              <a:ext uri="{FF2B5EF4-FFF2-40B4-BE49-F238E27FC236}">
                <a16:creationId xmlns:a16="http://schemas.microsoft.com/office/drawing/2014/main" id="{DCF35D1D-3731-6D35-2E96-D27D95DA591A}"/>
              </a:ext>
            </a:extLst>
          </p:cNvPr>
          <p:cNvSpPr>
            <a:spLocks noChangeArrowheads="1"/>
          </p:cNvSpPr>
          <p:nvPr/>
        </p:nvSpPr>
        <p:spPr bwMode="auto">
          <a:xfrm>
            <a:off x="4673867" y="1146519"/>
            <a:ext cx="318282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spcAft>
                <a:spcPts val="600"/>
              </a:spcAft>
            </a:pPr>
            <a:r>
              <a:rPr lang="en-US" altLang="en-US" sz="1200" b="1" noProof="1">
                <a:solidFill>
                  <a:srgbClr val="FFFFFF"/>
                </a:solidFill>
                <a:latin typeface="+mj-lt"/>
              </a:rPr>
              <a:t>Conclusion</a:t>
            </a:r>
          </a:p>
        </p:txBody>
      </p:sp>
      <p:grpSp>
        <p:nvGrpSpPr>
          <p:cNvPr id="4" name="Group 3">
            <a:extLst>
              <a:ext uri="{FF2B5EF4-FFF2-40B4-BE49-F238E27FC236}">
                <a16:creationId xmlns:a16="http://schemas.microsoft.com/office/drawing/2014/main" id="{CCCAB8F1-13AE-E19E-91DF-D6CF5E1FAAB7}"/>
              </a:ext>
            </a:extLst>
          </p:cNvPr>
          <p:cNvGrpSpPr/>
          <p:nvPr/>
        </p:nvGrpSpPr>
        <p:grpSpPr>
          <a:xfrm>
            <a:off x="2132613" y="1037278"/>
            <a:ext cx="3752022" cy="4322443"/>
            <a:chOff x="1889653" y="1037278"/>
            <a:chExt cx="3752022" cy="4322443"/>
          </a:xfrm>
        </p:grpSpPr>
        <p:sp>
          <p:nvSpPr>
            <p:cNvPr id="6" name="Rectangle 5">
              <a:extLst>
                <a:ext uri="{FF2B5EF4-FFF2-40B4-BE49-F238E27FC236}">
                  <a16:creationId xmlns:a16="http://schemas.microsoft.com/office/drawing/2014/main" id="{24A388CB-3010-B337-426C-701B82580ED7}"/>
                </a:ext>
              </a:extLst>
            </p:cNvPr>
            <p:cNvSpPr/>
            <p:nvPr/>
          </p:nvSpPr>
          <p:spPr>
            <a:xfrm>
              <a:off x="1889653" y="1279530"/>
              <a:ext cx="3752022" cy="4080191"/>
            </a:xfrm>
            <a:prstGeom prst="rect">
              <a:avLst/>
            </a:prstGeom>
            <a:solidFill>
              <a:srgbClr val="DADFE1"/>
            </a:solidFill>
            <a:ln w="6350"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8" name="Round Same Side Corner Rectangle 24">
              <a:extLst>
                <a:ext uri="{FF2B5EF4-FFF2-40B4-BE49-F238E27FC236}">
                  <a16:creationId xmlns:a16="http://schemas.microsoft.com/office/drawing/2014/main" id="{1FBEF582-EFA5-D6B4-207A-1AF4F544514C}"/>
                </a:ext>
              </a:extLst>
            </p:cNvPr>
            <p:cNvSpPr/>
            <p:nvPr/>
          </p:nvSpPr>
          <p:spPr>
            <a:xfrm>
              <a:off x="1889653" y="1037278"/>
              <a:ext cx="3752022" cy="391330"/>
            </a:xfrm>
            <a:prstGeom prst="round2SameRect">
              <a:avLst>
                <a:gd name="adj1" fmla="val 27778"/>
                <a:gd name="adj2" fmla="val 0"/>
              </a:avLst>
            </a:prstGeom>
            <a:solidFill>
              <a:schemeClr val="accent1">
                <a:lumMod val="60000"/>
                <a:lumOff val="4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a typeface="ＭＳ Ｐゴシック" charset="0"/>
                <a:cs typeface="ＭＳ Ｐゴシック" charset="0"/>
              </a:endParaRPr>
            </a:p>
          </p:txBody>
        </p:sp>
        <p:sp>
          <p:nvSpPr>
            <p:cNvPr id="10" name="Rektangel 76">
              <a:extLst>
                <a:ext uri="{FF2B5EF4-FFF2-40B4-BE49-F238E27FC236}">
                  <a16:creationId xmlns:a16="http://schemas.microsoft.com/office/drawing/2014/main" id="{67E18DBC-4BF1-51F2-FCD9-9D13749CF63B}"/>
                </a:ext>
              </a:extLst>
            </p:cNvPr>
            <p:cNvSpPr>
              <a:spLocks noChangeArrowheads="1"/>
            </p:cNvSpPr>
            <p:nvPr/>
          </p:nvSpPr>
          <p:spPr bwMode="auto">
            <a:xfrm>
              <a:off x="2104660" y="1140610"/>
              <a:ext cx="318282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spcAft>
                  <a:spcPts val="600"/>
                </a:spcAft>
              </a:pPr>
              <a:r>
                <a:rPr lang="en-US" altLang="en-US" sz="1200" b="1" noProof="1">
                  <a:solidFill>
                    <a:srgbClr val="FFFFFF"/>
                  </a:solidFill>
                  <a:latin typeface="+mj-lt"/>
                </a:rPr>
                <a:t>Findings</a:t>
              </a:r>
            </a:p>
          </p:txBody>
        </p:sp>
        <p:sp>
          <p:nvSpPr>
            <p:cNvPr id="20" name="TextBox 19">
              <a:extLst>
                <a:ext uri="{FF2B5EF4-FFF2-40B4-BE49-F238E27FC236}">
                  <a16:creationId xmlns:a16="http://schemas.microsoft.com/office/drawing/2014/main" id="{C583BEB8-9B56-EFF8-A7AE-FBDF26959B9A}"/>
                </a:ext>
              </a:extLst>
            </p:cNvPr>
            <p:cNvSpPr txBox="1"/>
            <p:nvPr/>
          </p:nvSpPr>
          <p:spPr>
            <a:xfrm>
              <a:off x="1975449" y="1495087"/>
              <a:ext cx="3562709" cy="2462213"/>
            </a:xfrm>
            <a:prstGeom prst="rect">
              <a:avLst/>
            </a:prstGeom>
            <a:noFill/>
          </p:spPr>
          <p:txBody>
            <a:bodyPr wrap="square" rtlCol="0">
              <a:spAutoFit/>
            </a:bodyPr>
            <a:lstStyle/>
            <a:p>
              <a:r>
                <a:rPr lang="en-ZA" sz="1400" dirty="0"/>
                <a:t>1. Positive trends on monthly subscription </a:t>
              </a:r>
            </a:p>
            <a:p>
              <a:r>
                <a:rPr lang="en-ZA" sz="1400" dirty="0"/>
                <a:t>2.</a:t>
              </a:r>
              <a:r>
                <a:rPr lang="en-US" sz="1400" dirty="0">
                  <a:solidFill>
                    <a:schemeClr val="tx1">
                      <a:lumMod val="75000"/>
                      <a:lumOff val="25000"/>
                    </a:schemeClr>
                  </a:solidFill>
                </a:rPr>
                <a:t> Monthly watch time trend is increasing on          monthly basis </a:t>
              </a:r>
              <a:endParaRPr lang="en-ZA" sz="1400" dirty="0"/>
            </a:p>
            <a:p>
              <a:r>
                <a:rPr lang="en-ZA" sz="1400" dirty="0"/>
                <a:t>3.</a:t>
              </a:r>
              <a:r>
                <a:rPr lang="en-US" sz="1400" dirty="0">
                  <a:solidFill>
                    <a:schemeClr val="tx1">
                      <a:lumMod val="75000"/>
                      <a:lumOff val="25000"/>
                    </a:schemeClr>
                  </a:solidFill>
                </a:rPr>
                <a:t> An upward trend is observed on the monthly and time of the day sessions</a:t>
              </a:r>
              <a:endParaRPr lang="en-ZA" sz="1400" dirty="0"/>
            </a:p>
            <a:p>
              <a:r>
                <a:rPr lang="en-ZA" sz="1400" dirty="0"/>
                <a:t>4. Wimbledon has the lowest viewers </a:t>
              </a:r>
            </a:p>
            <a:p>
              <a:r>
                <a:rPr lang="en-ZA" sz="1400" dirty="0"/>
                <a:t>5. NC, FS and Northwest are the lowest in terms of subscriptions</a:t>
              </a:r>
            </a:p>
            <a:p>
              <a:r>
                <a:rPr lang="en-ZA" sz="1400" dirty="0"/>
                <a:t>6. Gauteng is the leading in terms of viewers (retention strategy) </a:t>
              </a:r>
            </a:p>
            <a:p>
              <a:r>
                <a:rPr lang="en-ZA" sz="1400" dirty="0"/>
                <a:t>7. Low usage observed </a:t>
              </a:r>
            </a:p>
          </p:txBody>
        </p:sp>
      </p:grpSp>
      <p:grpSp>
        <p:nvGrpSpPr>
          <p:cNvPr id="2" name="Group 1">
            <a:extLst>
              <a:ext uri="{FF2B5EF4-FFF2-40B4-BE49-F238E27FC236}">
                <a16:creationId xmlns:a16="http://schemas.microsoft.com/office/drawing/2014/main" id="{A8C68701-74AA-ED9A-47E7-5A3F81EFD8AD}"/>
              </a:ext>
            </a:extLst>
          </p:cNvPr>
          <p:cNvGrpSpPr/>
          <p:nvPr/>
        </p:nvGrpSpPr>
        <p:grpSpPr>
          <a:xfrm>
            <a:off x="6096000" y="1037278"/>
            <a:ext cx="3766595" cy="4322443"/>
            <a:chOff x="8107020" y="1043187"/>
            <a:chExt cx="3766595" cy="4322443"/>
          </a:xfrm>
        </p:grpSpPr>
        <p:sp>
          <p:nvSpPr>
            <p:cNvPr id="12" name="Rectangle 11">
              <a:extLst>
                <a:ext uri="{FF2B5EF4-FFF2-40B4-BE49-F238E27FC236}">
                  <a16:creationId xmlns:a16="http://schemas.microsoft.com/office/drawing/2014/main" id="{FD2CF903-59AF-E651-E2E3-DE75B1860E86}"/>
                </a:ext>
              </a:extLst>
            </p:cNvPr>
            <p:cNvSpPr/>
            <p:nvPr/>
          </p:nvSpPr>
          <p:spPr>
            <a:xfrm>
              <a:off x="8114307" y="1285439"/>
              <a:ext cx="3752023" cy="4080191"/>
            </a:xfrm>
            <a:prstGeom prst="rect">
              <a:avLst/>
            </a:prstGeom>
            <a:solidFill>
              <a:srgbClr val="DADFE1"/>
            </a:solidFill>
            <a:ln w="6350" cap="flat" cmpd="sng" algn="ctr">
              <a:noFill/>
              <a:prstDash val="solid"/>
              <a:round/>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dirty="0"/>
            </a:p>
          </p:txBody>
        </p:sp>
        <p:sp>
          <p:nvSpPr>
            <p:cNvPr id="14" name="Round Same Side Corner Rectangle 24">
              <a:extLst>
                <a:ext uri="{FF2B5EF4-FFF2-40B4-BE49-F238E27FC236}">
                  <a16:creationId xmlns:a16="http://schemas.microsoft.com/office/drawing/2014/main" id="{82F27140-1A55-6308-14AB-911E45B4D3E9}"/>
                </a:ext>
              </a:extLst>
            </p:cNvPr>
            <p:cNvSpPr/>
            <p:nvPr/>
          </p:nvSpPr>
          <p:spPr>
            <a:xfrm>
              <a:off x="8114305" y="1043187"/>
              <a:ext cx="3759310" cy="391330"/>
            </a:xfrm>
            <a:prstGeom prst="round2SameRect">
              <a:avLst>
                <a:gd name="adj1" fmla="val 27778"/>
                <a:gd name="adj2" fmla="val 0"/>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endParaRPr lang="en-US">
                <a:solidFill>
                  <a:srgbClr val="FFFFFF"/>
                </a:solidFill>
                <a:ea typeface="ＭＳ Ｐゴシック" charset="0"/>
                <a:cs typeface="ＭＳ Ｐゴシック" charset="0"/>
              </a:endParaRPr>
            </a:p>
          </p:txBody>
        </p:sp>
        <p:sp>
          <p:nvSpPr>
            <p:cNvPr id="16" name="Rektangel 76">
              <a:extLst>
                <a:ext uri="{FF2B5EF4-FFF2-40B4-BE49-F238E27FC236}">
                  <a16:creationId xmlns:a16="http://schemas.microsoft.com/office/drawing/2014/main" id="{12709EE2-32EB-9D6B-4342-C4E7B9C59DAE}"/>
                </a:ext>
              </a:extLst>
            </p:cNvPr>
            <p:cNvSpPr>
              <a:spLocks noChangeArrowheads="1"/>
            </p:cNvSpPr>
            <p:nvPr/>
          </p:nvSpPr>
          <p:spPr bwMode="auto">
            <a:xfrm>
              <a:off x="8537036" y="1146519"/>
              <a:ext cx="3182820" cy="18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fontAlgn="base">
                <a:spcBef>
                  <a:spcPct val="0"/>
                </a:spcBef>
                <a:spcAft>
                  <a:spcPct val="0"/>
                </a:spcAft>
                <a:defRPr>
                  <a:solidFill>
                    <a:schemeClr val="tx1"/>
                  </a:solidFill>
                  <a:latin typeface="Calibri" panose="020F0502020204030204" pitchFamily="34" charset="0"/>
                </a:defRPr>
              </a:lvl6pPr>
              <a:lvl7pPr marL="2971800" indent="-228600" defTabSz="457200" fontAlgn="base">
                <a:spcBef>
                  <a:spcPct val="0"/>
                </a:spcBef>
                <a:spcAft>
                  <a:spcPct val="0"/>
                </a:spcAft>
                <a:defRPr>
                  <a:solidFill>
                    <a:schemeClr val="tx1"/>
                  </a:solidFill>
                  <a:latin typeface="Calibri" panose="020F0502020204030204" pitchFamily="34" charset="0"/>
                </a:defRPr>
              </a:lvl7pPr>
              <a:lvl8pPr marL="3429000" indent="-228600" defTabSz="457200" fontAlgn="base">
                <a:spcBef>
                  <a:spcPct val="0"/>
                </a:spcBef>
                <a:spcAft>
                  <a:spcPct val="0"/>
                </a:spcAft>
                <a:defRPr>
                  <a:solidFill>
                    <a:schemeClr val="tx1"/>
                  </a:solidFill>
                  <a:latin typeface="Calibri" panose="020F0502020204030204" pitchFamily="34" charset="0"/>
                </a:defRPr>
              </a:lvl8pPr>
              <a:lvl9pPr marL="3886200" indent="-228600" defTabSz="457200" fontAlgn="base">
                <a:spcBef>
                  <a:spcPct val="0"/>
                </a:spcBef>
                <a:spcAft>
                  <a:spcPct val="0"/>
                </a:spcAft>
                <a:defRPr>
                  <a:solidFill>
                    <a:schemeClr val="tx1"/>
                  </a:solidFill>
                  <a:latin typeface="Calibri" panose="020F0502020204030204" pitchFamily="34" charset="0"/>
                </a:defRPr>
              </a:lvl9pPr>
            </a:lstStyle>
            <a:p>
              <a:pPr>
                <a:spcAft>
                  <a:spcPts val="600"/>
                </a:spcAft>
              </a:pPr>
              <a:r>
                <a:rPr lang="en-US" altLang="en-US" sz="1200" b="1" noProof="1">
                  <a:solidFill>
                    <a:srgbClr val="FFFFFF"/>
                  </a:solidFill>
                  <a:latin typeface="+mj-lt"/>
                </a:rPr>
                <a:t>Reccomendations</a:t>
              </a:r>
            </a:p>
          </p:txBody>
        </p:sp>
        <p:sp>
          <p:nvSpPr>
            <p:cNvPr id="24" name="TextBox 23">
              <a:extLst>
                <a:ext uri="{FF2B5EF4-FFF2-40B4-BE49-F238E27FC236}">
                  <a16:creationId xmlns:a16="http://schemas.microsoft.com/office/drawing/2014/main" id="{26A592D0-B85A-864D-E53A-964B1788B553}"/>
                </a:ext>
              </a:extLst>
            </p:cNvPr>
            <p:cNvSpPr txBox="1"/>
            <p:nvPr/>
          </p:nvSpPr>
          <p:spPr>
            <a:xfrm>
              <a:off x="8107020" y="1492370"/>
              <a:ext cx="3562709" cy="3108543"/>
            </a:xfrm>
            <a:prstGeom prst="rect">
              <a:avLst/>
            </a:prstGeom>
            <a:noFill/>
          </p:spPr>
          <p:txBody>
            <a:bodyPr wrap="square" rtlCol="0">
              <a:spAutoFit/>
            </a:bodyPr>
            <a:lstStyle/>
            <a:p>
              <a:r>
                <a:rPr lang="en-ZA" sz="1400" dirty="0"/>
                <a:t>1.Increse network capacity and coverage for increasingly subscriptions, monthly watch time and sessions </a:t>
              </a:r>
            </a:p>
            <a:p>
              <a:r>
                <a:rPr lang="en-ZA" sz="1400" dirty="0"/>
                <a:t>2. Campaign to get more female viewers</a:t>
              </a:r>
            </a:p>
            <a:p>
              <a:r>
                <a:rPr lang="en-ZA" sz="1400" dirty="0"/>
                <a:t>3. Survey to be send through to all viewers specifically addressing all opportunities</a:t>
              </a:r>
            </a:p>
            <a:p>
              <a:r>
                <a:rPr lang="en-ZA" sz="1400" dirty="0"/>
                <a:t>4.Weldblom channel to be completely removed and substituted with other channels to increase sessions span.</a:t>
              </a:r>
            </a:p>
            <a:p>
              <a:r>
                <a:rPr lang="en-ZA" sz="1400" dirty="0"/>
                <a:t>5. Investigate the coverage in the 3 lowest provinces in terms of subscription </a:t>
              </a:r>
            </a:p>
            <a:p>
              <a:r>
                <a:rPr lang="en-ZA" sz="1400" dirty="0"/>
                <a:t>6. While implementing new strategies, a retention strategy remains critical</a:t>
              </a:r>
            </a:p>
            <a:p>
              <a:r>
                <a:rPr lang="en-ZA" sz="1400" dirty="0"/>
                <a:t>7. Broadcast other channels for a longer period </a:t>
              </a:r>
            </a:p>
          </p:txBody>
        </p:sp>
      </p:grpSp>
    </p:spTree>
    <p:extLst>
      <p:ext uri="{BB962C8B-B14F-4D97-AF65-F5344CB8AC3E}">
        <p14:creationId xmlns:p14="http://schemas.microsoft.com/office/powerpoint/2010/main" val="38124723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58E9955-5DD6-4B18-8EE7-CBAC62170885}"/>
              </a:ext>
            </a:extLst>
          </p:cNvPr>
          <p:cNvPicPr>
            <a:picLocks noChangeAspect="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7873" b="7873"/>
          <a:stretch/>
        </p:blipFill>
        <p:spPr>
          <a:xfrm>
            <a:off x="0" y="-1"/>
            <a:ext cx="12192000" cy="6858001"/>
          </a:xfrm>
          <a:prstGeom prst="rect">
            <a:avLst/>
          </a:prstGeom>
        </p:spPr>
      </p:pic>
      <p:sp>
        <p:nvSpPr>
          <p:cNvPr id="12" name="Oval 11">
            <a:extLst>
              <a:ext uri="{FF2B5EF4-FFF2-40B4-BE49-F238E27FC236}">
                <a16:creationId xmlns:a16="http://schemas.microsoft.com/office/drawing/2014/main" id="{D4E2F3B0-9524-4641-A682-FFB0FA857EB4}"/>
              </a:ext>
            </a:extLst>
          </p:cNvPr>
          <p:cNvSpPr/>
          <p:nvPr/>
        </p:nvSpPr>
        <p:spPr>
          <a:xfrm>
            <a:off x="2958091" y="304800"/>
            <a:ext cx="6275818" cy="6248400"/>
          </a:xfrm>
          <a:prstGeom prst="ellipse">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4">
            <a:extLst>
              <a:ext uri="{FF2B5EF4-FFF2-40B4-BE49-F238E27FC236}">
                <a16:creationId xmlns:a16="http://schemas.microsoft.com/office/drawing/2014/main" id="{41B9853D-E289-4B7C-A749-1CC38583BA5F}"/>
              </a:ext>
            </a:extLst>
          </p:cNvPr>
          <p:cNvSpPr>
            <a:spLocks noGrp="1"/>
          </p:cNvSpPr>
          <p:nvPr>
            <p:ph type="ctrTitle"/>
          </p:nvPr>
        </p:nvSpPr>
        <p:spPr>
          <a:xfrm>
            <a:off x="3111160" y="3059526"/>
            <a:ext cx="5969680" cy="747897"/>
          </a:xfrm>
        </p:spPr>
        <p:txBody>
          <a:bodyPr wrap="square" lIns="0" tIns="0" rIns="0" bIns="0" anchor="ctr">
            <a:spAutoFit/>
          </a:bodyPr>
          <a:lstStyle/>
          <a:p>
            <a:r>
              <a:rPr lang="en-US" sz="5400" b="1" dirty="0">
                <a:solidFill>
                  <a:schemeClr val="bg1"/>
                </a:solidFill>
              </a:rPr>
              <a:t>- Thank You -</a:t>
            </a:r>
            <a:endParaRPr lang="en-US" sz="5400" dirty="0">
              <a:solidFill>
                <a:schemeClr val="bg1"/>
              </a:solidFill>
            </a:endParaRPr>
          </a:p>
        </p:txBody>
      </p:sp>
      <p:sp>
        <p:nvSpPr>
          <p:cNvPr id="14" name="Oval 13">
            <a:extLst>
              <a:ext uri="{FF2B5EF4-FFF2-40B4-BE49-F238E27FC236}">
                <a16:creationId xmlns:a16="http://schemas.microsoft.com/office/drawing/2014/main" id="{177BDC92-2286-4E4E-9D99-FA5F0A2C7F4B}"/>
              </a:ext>
            </a:extLst>
          </p:cNvPr>
          <p:cNvSpPr/>
          <p:nvPr/>
        </p:nvSpPr>
        <p:spPr>
          <a:xfrm>
            <a:off x="3111160" y="457200"/>
            <a:ext cx="5969680" cy="594360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66121761"/>
      </p:ext>
    </p:extLst>
  </p:cSld>
  <p:clrMapOvr>
    <a:masterClrMapping/>
  </p:clrMapOvr>
</p:sld>
</file>

<file path=ppt/theme/theme1.xml><?xml version="1.0" encoding="utf-8"?>
<a:theme xmlns:a="http://schemas.openxmlformats.org/drawingml/2006/main" name="Office Theme">
  <a:themeElements>
    <a:clrScheme name="Custom 131">
      <a:dk1>
        <a:sysClr val="windowText" lastClr="000000"/>
      </a:dk1>
      <a:lt1>
        <a:sysClr val="window" lastClr="FFFFFF"/>
      </a:lt1>
      <a:dk2>
        <a:srgbClr val="44546A"/>
      </a:dk2>
      <a:lt2>
        <a:srgbClr val="E7E6E6"/>
      </a:lt2>
      <a:accent1>
        <a:srgbClr val="1C375F"/>
      </a:accent1>
      <a:accent2>
        <a:srgbClr val="D1B058"/>
      </a:accent2>
      <a:accent3>
        <a:srgbClr val="4A81C8"/>
      </a:accent3>
      <a:accent4>
        <a:srgbClr val="1C375F"/>
      </a:accent4>
      <a:accent5>
        <a:srgbClr val="D1B058"/>
      </a:accent5>
      <a:accent6>
        <a:srgbClr val="4A81C8"/>
      </a:accent6>
      <a:hlink>
        <a:srgbClr val="0563C1"/>
      </a:hlink>
      <a:folHlink>
        <a:srgbClr val="954F72"/>
      </a:folHlink>
    </a:clrScheme>
    <a:fontScheme name="Modern 03">
      <a:majorFont>
        <a:latin typeface="Segoe U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9453</TotalTime>
  <Words>783</Words>
  <Application>Microsoft Office PowerPoint</Application>
  <PresentationFormat>Widescreen</PresentationFormat>
  <Paragraphs>133</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ＭＳ Ｐゴシック</vt:lpstr>
      <vt:lpstr>Arial</vt:lpstr>
      <vt:lpstr>Calibri</vt:lpstr>
      <vt:lpstr>Calibri Light</vt:lpstr>
      <vt:lpstr>Segoe UI</vt:lpstr>
      <vt:lpstr>Times New Roman</vt:lpstr>
      <vt:lpstr>Office Theme</vt:lpstr>
      <vt:lpstr>BRIGHT TV Channel performance and  viewership Growth</vt:lpstr>
      <vt:lpstr>BRIGHT TV DATA Overview</vt:lpstr>
      <vt:lpstr>PowerPoint Presentation</vt:lpstr>
      <vt:lpstr>BRIGHT TV subscribers per province</vt:lpstr>
      <vt:lpstr>BRIGHT TV subscribers per Age group</vt:lpstr>
      <vt:lpstr>Bright TV Viewers Split by Race </vt:lpstr>
      <vt:lpstr>Bright tv subscription per month trend</vt:lpstr>
      <vt:lpstr>Bright tv monthly watch time trend</vt:lpstr>
      <vt:lpstr>Cockpit charts</vt:lpstr>
      <vt:lpstr>Cockpit charts</vt:lpstr>
      <vt:lpstr>Cockpit charts</vt:lpstr>
      <vt:lpstr>Cockpit charts</vt:lpstr>
      <vt:lpstr>Cockpit charts</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Nugroho Ade</dc:creator>
  <cp:lastModifiedBy>sivem33@gmail.com</cp:lastModifiedBy>
  <cp:revision>103</cp:revision>
  <dcterms:created xsi:type="dcterms:W3CDTF">2018-02-20T03:38:19Z</dcterms:created>
  <dcterms:modified xsi:type="dcterms:W3CDTF">2026-09-30T18:04:38Z</dcterms:modified>
</cp:coreProperties>
</file>